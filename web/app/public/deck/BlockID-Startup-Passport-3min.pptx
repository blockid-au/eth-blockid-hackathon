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Every startup has two questions it can't answer cheaply: what are we worth, and who exactly owns us? BlockID answers both. Agents propose, humans approve, chains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[0:20–0:45] Today cap tables live in spreadsheets, valuations are slow and unsourced, and shareholders can't verify anything. With BlockID the founder pastes a website, gets a cited valuation in minutes, and after one approval has KYC-gated shares on-chain that anyone can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[0:45–1:15] The whole system on one slide. The founder gives a website and a shareholder list. AI agents read six pages, run three searches, and a fixed formula computes the value — the agents hold no keys. A human admin signs one approval. Only then does the isolated issuer, the only component with a key, create the register on our zero-gas chain and mirror it to Ethereum and HashKey. The proof: tokens in MetaMask, a verify page, a public explorer.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[1:15–1:40] The AI only suggests scores. A fixed, public formula turns seven weighted dimensions into a grade and a valuation range, and any claim without a fetched source is dropped. For Airwallex it found eight real competitors and graded it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[1:40–2:05] One approval. The issuer creates the share register on our zero-gas chain — registry, KYC, shares — then mirrors it with a Merkle root to Ethereum Hoodi and HashKey. The founder watches every step live, and shareholders add the token to MetaMask.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[2:05–2:25] You don't have to trust us. The verify page recomputes the report hash in your browser and compares it with the hash on all three chains. Change one score and it turns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[2:25–3:00] This is live today: seven real companies, twenty-one token contracts on three chains, A$444M of valuation on-chain, every hash verified. Our customers are founders, accelerators and licensed intermediaries who issue and administer startup equity. Scan the code and try it at eth.blockid.au — we're looking for pilot startups and licensed partners.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31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320040" y="320040"/>
            <a:ext cx="1143000" cy="1143000"/>
          </a:xfrm>
          <a:prstGeom prst="rect">
            <a:avLst/>
          </a:prstGeom>
        </p:spPr>
      </p:pic>
      <p:sp>
        <p:nvSpPr>
          <p:cNvPr id="3" name="Text 0"/>
          <p:cNvSpPr txBox="1"/>
          <p:nvPr/>
        </p:nvSpPr>
        <p:spPr>
          <a:xfrm>
            <a:off x="1554480" y="658368"/>
            <a:ext cx="5486400" cy="457200"/>
          </a:xfrm>
          <a:prstGeom prst="rect">
            <a:avLst/>
          </a:prstGeom>
          <a:noFill/>
          <a:ln/>
        </p:spPr>
        <p:txBody>
          <a:bodyPr wrap="square" lIns="0" tIns="0" rIns="0" bIns="0" rtlCol="0" anchor="ctr"/>
          <a:lstStyle/>
          <a:p>
            <a:pPr indent="0" marL="0">
              <a:buNone/>
            </a:pPr>
            <a:r>
              <a:rPr lang="en-US" sz="2000" b="1" dirty="0">
                <a:solidFill>
                  <a:srgbClr val="F2F7F5"/>
                </a:solidFill>
                <a:latin typeface="Arial" pitchFamily="34" charset="0"/>
                <a:ea typeface="Arial" pitchFamily="34" charset="-122"/>
                <a:cs typeface="Arial" pitchFamily="34" charset="-120"/>
              </a:rPr>
              <a:t>BlockID Startup Passport</a:t>
            </a:r>
            <a:endParaRPr lang="en-US" sz="2000" dirty="0"/>
          </a:p>
        </p:txBody>
      </p:sp>
      <p:sp>
        <p:nvSpPr>
          <p:cNvPr id="4" name="Text 1"/>
          <p:cNvSpPr txBox="1"/>
          <p:nvPr/>
        </p:nvSpPr>
        <p:spPr>
          <a:xfrm>
            <a:off x="502920" y="1783080"/>
            <a:ext cx="5120640" cy="2103120"/>
          </a:xfrm>
          <a:prstGeom prst="rect">
            <a:avLst/>
          </a:prstGeom>
          <a:noFill/>
          <a:ln/>
        </p:spPr>
        <p:txBody>
          <a:bodyPr wrap="square" lIns="0" tIns="0" rIns="0" bIns="0" rtlCol="0" anchor="ctr"/>
          <a:lstStyle/>
          <a:p>
            <a:pPr indent="0" marL="0">
              <a:buNone/>
            </a:pPr>
            <a:r>
              <a:rPr lang="en-US" sz="4000" b="1" dirty="0">
                <a:solidFill>
                  <a:srgbClr val="F2F7F5"/>
                </a:solidFill>
                <a:latin typeface="Arial" pitchFamily="34" charset="0"/>
                <a:ea typeface="Arial" pitchFamily="34" charset="-122"/>
                <a:cs typeface="Arial" pitchFamily="34" charset="-120"/>
              </a:rPr>
              <a:t>Know what your startup is worth, and who owns it.</a:t>
            </a:r>
            <a:endParaRPr lang="en-US" sz="4000" dirty="0"/>
          </a:p>
        </p:txBody>
      </p:sp>
      <p:sp>
        <p:nvSpPr>
          <p:cNvPr id="5" name="Text 2"/>
          <p:cNvSpPr txBox="1"/>
          <p:nvPr/>
        </p:nvSpPr>
        <p:spPr>
          <a:xfrm>
            <a:off x="502920" y="3977640"/>
            <a:ext cx="5120640" cy="457200"/>
          </a:xfrm>
          <a:prstGeom prst="rect">
            <a:avLst/>
          </a:prstGeom>
          <a:noFill/>
          <a:ln/>
        </p:spPr>
        <p:txBody>
          <a:bodyPr wrap="square" lIns="0" tIns="0" rIns="0" bIns="0" rtlCol="0" anchor="ctr"/>
          <a:lstStyle/>
          <a:p>
            <a:pPr indent="0" marL="0">
              <a:buNone/>
            </a:pPr>
            <a:r>
              <a:rPr lang="en-US" sz="2000" i="1" dirty="0">
                <a:solidFill>
                  <a:srgbClr val="22A07F"/>
                </a:solidFill>
                <a:latin typeface="Calibri" pitchFamily="34" charset="0"/>
                <a:ea typeface="Calibri" pitchFamily="34" charset="-122"/>
                <a:cs typeface="Calibri" pitchFamily="34" charset="-120"/>
              </a:rPr>
              <a:t>Agents propose. Humans approve. Chains prove.</a:t>
            </a:r>
            <a:endParaRPr lang="en-US" sz="2000" dirty="0"/>
          </a:p>
        </p:txBody>
      </p:sp>
      <p:sp>
        <p:nvSpPr>
          <p:cNvPr id="6" name="Text 3"/>
          <p:cNvSpPr txBox="1"/>
          <p:nvPr/>
        </p:nvSpPr>
        <p:spPr>
          <a:xfrm>
            <a:off x="502920" y="4526280"/>
            <a:ext cx="4937760" cy="731520"/>
          </a:xfrm>
          <a:prstGeom prst="rect">
            <a:avLst/>
          </a:prstGeom>
          <a:noFill/>
          <a:ln/>
        </p:spPr>
        <p:txBody>
          <a:bodyPr wrap="square" lIns="0" tIns="0" rIns="0" bIns="0" rtlCol="0" anchor="ctr"/>
          <a:lstStyle/>
          <a:p>
            <a:pPr indent="0" marL="0">
              <a:buNone/>
            </a:pPr>
            <a:r>
              <a:rPr lang="en-US" sz="1600" dirty="0">
                <a:solidFill>
                  <a:srgbClr val="A9BDB7"/>
                </a:solidFill>
                <a:latin typeface="Calibri" pitchFamily="34" charset="0"/>
                <a:ea typeface="Calibri" pitchFamily="34" charset="-122"/>
                <a:cs typeface="Calibri" pitchFamily="34" charset="-120"/>
              </a:rPr>
              <a:t>AI valuation you can audit + tokenised shares you can prove — for every startup.</a:t>
            </a:r>
            <a:endParaRPr lang="en-US" sz="1600" dirty="0"/>
          </a:p>
        </p:txBody>
      </p:sp>
      <p:sp>
        <p:nvSpPr>
          <p:cNvPr id="7" name="Text 4"/>
          <p:cNvSpPr txBox="1"/>
          <p:nvPr/>
        </p:nvSpPr>
        <p:spPr>
          <a:xfrm>
            <a:off x="502920" y="5806440"/>
            <a:ext cx="5303520" cy="320040"/>
          </a:xfrm>
          <a:prstGeom prst="rect">
            <a:avLst/>
          </a:prstGeom>
          <a:noFill/>
          <a:ln/>
        </p:spPr>
        <p:txBody>
          <a:bodyPr wrap="square" lIns="0" tIns="0" rIns="0" bIns="0" rtlCol="0" anchor="ctr"/>
          <a:lstStyle/>
          <a:p>
            <a:pPr indent="0" marL="0">
              <a:buNone/>
            </a:pPr>
            <a:r>
              <a:rPr lang="en-US" sz="1200" b="1" dirty="0">
                <a:solidFill>
                  <a:srgbClr val="E3A83A"/>
                </a:solidFill>
                <a:latin typeface="Calibri" pitchFamily="34" charset="0"/>
                <a:ea typeface="Calibri" pitchFamily="34" charset="-122"/>
                <a:cs typeface="Calibri" pitchFamily="34" charset="-120"/>
              </a:rPr>
              <a:t>Sydney Hackathon · Real-World Ethereum Apps · HashKey Chain (RWA)</a:t>
            </a:r>
            <a:endParaRPr lang="en-US" sz="1200" dirty="0"/>
          </a:p>
        </p:txBody>
      </p:sp>
      <p:sp>
        <p:nvSpPr>
          <p:cNvPr id="8" name="Shape 5"/>
          <p:cNvSpPr/>
          <p:nvPr/>
        </p:nvSpPr>
        <p:spPr>
          <a:xfrm>
            <a:off x="5943600" y="1051560"/>
            <a:ext cx="5806440" cy="3663315"/>
          </a:xfrm>
          <a:prstGeom prst="roundRect">
            <a:avLst>
              <a:gd name="adj" fmla="val 1997"/>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9" name="Image 1" descr="preencoded.png">    </p:cNvPr>
          <p:cNvPicPr>
            <a:picLocks noChangeAspect="1"/>
          </p:cNvPicPr>
          <p:nvPr/>
        </p:nvPicPr>
        <p:blipFill>
          <a:blip r:embed="rId2"/>
          <a:stretch>
            <a:fillRect/>
          </a:stretch>
        </p:blipFill>
        <p:spPr>
          <a:xfrm>
            <a:off x="5989320" y="1097280"/>
            <a:ext cx="5715000" cy="3571875"/>
          </a:xfrm>
          <a:prstGeom prst="rect">
            <a:avLst/>
          </a:prstGeom>
        </p:spPr>
      </p:pic>
      <p:sp>
        <p:nvSpPr>
          <p:cNvPr id="10" name="Text 6"/>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2 / 7   ·   PROBLEM → SOLUTION</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Website in. Cited valuation and verified cap table out.</a:t>
            </a:r>
            <a:endParaRPr lang="en-US" sz="3000" dirty="0"/>
          </a:p>
        </p:txBody>
      </p:sp>
      <p:sp>
        <p:nvSpPr>
          <p:cNvPr id="4" name="Shape 2"/>
          <p:cNvSpPr/>
          <p:nvPr/>
        </p:nvSpPr>
        <p:spPr>
          <a:xfrm>
            <a:off x="502920" y="1600200"/>
            <a:ext cx="4663440" cy="2148840"/>
          </a:xfrm>
          <a:prstGeom prst="roundRect">
            <a:avLst>
              <a:gd name="adj" fmla="val 5106"/>
            </a:avLst>
          </a:prstGeom>
          <a:solidFill>
            <a:srgbClr val="12201D"/>
          </a:solidFill>
          <a:ln w="12700">
            <a:solidFill>
              <a:srgbClr val="25403A"/>
            </a:solidFill>
            <a:prstDash val="solid"/>
          </a:ln>
        </p:spPr>
      </p:sp>
      <p:sp>
        <p:nvSpPr>
          <p:cNvPr id="5" name="Text 3"/>
          <p:cNvSpPr txBox="1"/>
          <p:nvPr/>
        </p:nvSpPr>
        <p:spPr>
          <a:xfrm>
            <a:off x="777240" y="1783080"/>
            <a:ext cx="2743200" cy="274320"/>
          </a:xfrm>
          <a:prstGeom prst="rect">
            <a:avLst/>
          </a:prstGeom>
          <a:noFill/>
          <a:ln/>
        </p:spPr>
        <p:txBody>
          <a:bodyPr wrap="square" lIns="0" tIns="0" rIns="0" bIns="0" rtlCol="0" anchor="ctr"/>
          <a:lstStyle/>
          <a:p>
            <a:pPr indent="0" marL="0">
              <a:buNone/>
            </a:pPr>
            <a:r>
              <a:rPr lang="en-US" sz="1150" b="1" spc="300" kern="0" dirty="0">
                <a:solidFill>
                  <a:srgbClr val="E4675A"/>
                </a:solidFill>
                <a:latin typeface="Calibri" pitchFamily="34" charset="0"/>
                <a:ea typeface="Calibri" pitchFamily="34" charset="-122"/>
                <a:cs typeface="Calibri" pitchFamily="34" charset="-120"/>
              </a:rPr>
              <a:t>TODAY</a:t>
            </a:r>
            <a:endParaRPr lang="en-US" sz="1150" dirty="0"/>
          </a:p>
        </p:txBody>
      </p:sp>
      <p:sp>
        <p:nvSpPr>
          <p:cNvPr id="6" name="Shape 4"/>
          <p:cNvSpPr/>
          <p:nvPr/>
        </p:nvSpPr>
        <p:spPr>
          <a:xfrm>
            <a:off x="777240" y="2231136"/>
            <a:ext cx="146304" cy="146304"/>
          </a:xfrm>
          <a:prstGeom prst="ellipse">
            <a:avLst/>
          </a:prstGeom>
          <a:solidFill>
            <a:srgbClr val="E4675A"/>
          </a:solidFill>
          <a:ln w="12700">
            <a:solidFill>
              <a:srgbClr val="E4675A"/>
            </a:solidFill>
            <a:prstDash val="solid"/>
          </a:ln>
        </p:spPr>
      </p:sp>
      <p:sp>
        <p:nvSpPr>
          <p:cNvPr id="7" name="Text 5"/>
          <p:cNvSpPr txBox="1"/>
          <p:nvPr/>
        </p:nvSpPr>
        <p:spPr>
          <a:xfrm>
            <a:off x="1051560" y="214884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Cap tables in Excel — nobody can prove ownership</a:t>
            </a:r>
            <a:endParaRPr lang="en-US" sz="1500" dirty="0"/>
          </a:p>
        </p:txBody>
      </p:sp>
      <p:sp>
        <p:nvSpPr>
          <p:cNvPr id="8" name="Shape 6"/>
          <p:cNvSpPr/>
          <p:nvPr/>
        </p:nvSpPr>
        <p:spPr>
          <a:xfrm>
            <a:off x="777240" y="2734056"/>
            <a:ext cx="146304" cy="146304"/>
          </a:xfrm>
          <a:prstGeom prst="ellipse">
            <a:avLst/>
          </a:prstGeom>
          <a:solidFill>
            <a:srgbClr val="E4675A"/>
          </a:solidFill>
          <a:ln w="12700">
            <a:solidFill>
              <a:srgbClr val="E4675A"/>
            </a:solidFill>
            <a:prstDash val="solid"/>
          </a:ln>
        </p:spPr>
      </p:sp>
      <p:sp>
        <p:nvSpPr>
          <p:cNvPr id="9" name="Text 7"/>
          <p:cNvSpPr txBox="1"/>
          <p:nvPr/>
        </p:nvSpPr>
        <p:spPr>
          <a:xfrm>
            <a:off x="1051560" y="265176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Valuations slow, costly and unsourced</a:t>
            </a:r>
            <a:endParaRPr lang="en-US" sz="1500" dirty="0"/>
          </a:p>
        </p:txBody>
      </p:sp>
      <p:sp>
        <p:nvSpPr>
          <p:cNvPr id="10" name="Shape 8"/>
          <p:cNvSpPr/>
          <p:nvPr/>
        </p:nvSpPr>
        <p:spPr>
          <a:xfrm>
            <a:off x="777240" y="3236976"/>
            <a:ext cx="146304" cy="146304"/>
          </a:xfrm>
          <a:prstGeom prst="ellipse">
            <a:avLst/>
          </a:prstGeom>
          <a:solidFill>
            <a:srgbClr val="E4675A"/>
          </a:solidFill>
          <a:ln w="12700">
            <a:solidFill>
              <a:srgbClr val="E4675A"/>
            </a:solidFill>
            <a:prstDash val="solid"/>
          </a:ln>
        </p:spPr>
      </p:sp>
      <p:sp>
        <p:nvSpPr>
          <p:cNvPr id="11" name="Text 9"/>
          <p:cNvSpPr txBox="1"/>
          <p:nvPr/>
        </p:nvSpPr>
        <p:spPr>
          <a:xfrm>
            <a:off x="1051560" y="315468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Shareholders can't verify anything</a:t>
            </a:r>
            <a:endParaRPr lang="en-US" sz="1500" dirty="0"/>
          </a:p>
        </p:txBody>
      </p:sp>
      <p:sp>
        <p:nvSpPr>
          <p:cNvPr id="12" name="Shape 10"/>
          <p:cNvSpPr/>
          <p:nvPr/>
        </p:nvSpPr>
        <p:spPr>
          <a:xfrm>
            <a:off x="502920" y="3931920"/>
            <a:ext cx="4663440" cy="2286000"/>
          </a:xfrm>
          <a:prstGeom prst="roundRect">
            <a:avLst>
              <a:gd name="adj" fmla="val 4800"/>
            </a:avLst>
          </a:prstGeom>
          <a:solidFill>
            <a:srgbClr val="172A26"/>
          </a:solidFill>
          <a:ln w="12700">
            <a:solidFill>
              <a:srgbClr val="22A07F"/>
            </a:solidFill>
            <a:prstDash val="solid"/>
          </a:ln>
        </p:spPr>
      </p:sp>
      <p:sp>
        <p:nvSpPr>
          <p:cNvPr id="13" name="Text 11"/>
          <p:cNvSpPr txBox="1"/>
          <p:nvPr/>
        </p:nvSpPr>
        <p:spPr>
          <a:xfrm>
            <a:off x="777240" y="4114800"/>
            <a:ext cx="27432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WITH BLOCKID</a:t>
            </a:r>
            <a:endParaRPr lang="en-US" sz="1150" dirty="0"/>
          </a:p>
        </p:txBody>
      </p:sp>
      <p:sp>
        <p:nvSpPr>
          <p:cNvPr id="14" name="Shape 12"/>
          <p:cNvSpPr/>
          <p:nvPr/>
        </p:nvSpPr>
        <p:spPr>
          <a:xfrm>
            <a:off x="777240" y="4562856"/>
            <a:ext cx="146304" cy="146304"/>
          </a:xfrm>
          <a:prstGeom prst="ellipse">
            <a:avLst/>
          </a:prstGeom>
          <a:solidFill>
            <a:srgbClr val="22A07F"/>
          </a:solidFill>
          <a:ln w="12700">
            <a:solidFill>
              <a:srgbClr val="22A07F"/>
            </a:solidFill>
            <a:prstDash val="solid"/>
          </a:ln>
        </p:spPr>
      </p:sp>
      <p:sp>
        <p:nvSpPr>
          <p:cNvPr id="15" name="Text 13"/>
          <p:cNvSpPr txBox="1"/>
          <p:nvPr/>
        </p:nvSpPr>
        <p:spPr>
          <a:xfrm>
            <a:off x="1051560" y="448056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Minutes: AI valuation with every figure cited</a:t>
            </a:r>
            <a:endParaRPr lang="en-US" sz="1500" dirty="0"/>
          </a:p>
        </p:txBody>
      </p:sp>
      <p:sp>
        <p:nvSpPr>
          <p:cNvPr id="16" name="Shape 14"/>
          <p:cNvSpPr/>
          <p:nvPr/>
        </p:nvSpPr>
        <p:spPr>
          <a:xfrm>
            <a:off x="777240" y="5065776"/>
            <a:ext cx="146304" cy="146304"/>
          </a:xfrm>
          <a:prstGeom prst="ellipse">
            <a:avLst/>
          </a:prstGeom>
          <a:solidFill>
            <a:srgbClr val="22A07F"/>
          </a:solidFill>
          <a:ln w="12700">
            <a:solidFill>
              <a:srgbClr val="22A07F"/>
            </a:solidFill>
            <a:prstDash val="solid"/>
          </a:ln>
        </p:spPr>
      </p:sp>
      <p:sp>
        <p:nvSpPr>
          <p:cNvPr id="17" name="Text 15"/>
          <p:cNvSpPr txBox="1"/>
          <p:nvPr/>
        </p:nvSpPr>
        <p:spPr>
          <a:xfrm>
            <a:off x="1051560" y="498348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One approval: KYC-gated shares on-chain</a:t>
            </a:r>
            <a:endParaRPr lang="en-US" sz="1500" dirty="0"/>
          </a:p>
        </p:txBody>
      </p:sp>
      <p:sp>
        <p:nvSpPr>
          <p:cNvPr id="18" name="Shape 16"/>
          <p:cNvSpPr/>
          <p:nvPr/>
        </p:nvSpPr>
        <p:spPr>
          <a:xfrm>
            <a:off x="777240" y="5568696"/>
            <a:ext cx="146304" cy="146304"/>
          </a:xfrm>
          <a:prstGeom prst="ellipse">
            <a:avLst/>
          </a:prstGeom>
          <a:solidFill>
            <a:srgbClr val="22A07F"/>
          </a:solidFill>
          <a:ln w="12700">
            <a:solidFill>
              <a:srgbClr val="22A07F"/>
            </a:solidFill>
            <a:prstDash val="solid"/>
          </a:ln>
        </p:spPr>
      </p:sp>
      <p:sp>
        <p:nvSpPr>
          <p:cNvPr id="19" name="Text 17"/>
          <p:cNvSpPr txBox="1"/>
          <p:nvPr/>
        </p:nvSpPr>
        <p:spPr>
          <a:xfrm>
            <a:off x="1051560" y="5486400"/>
            <a:ext cx="39319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Anyone can verify, on three chains</a:t>
            </a:r>
            <a:endParaRPr lang="en-US" sz="1500" dirty="0"/>
          </a:p>
        </p:txBody>
      </p:sp>
      <p:sp>
        <p:nvSpPr>
          <p:cNvPr id="20" name="Shape 18"/>
          <p:cNvSpPr/>
          <p:nvPr/>
        </p:nvSpPr>
        <p:spPr>
          <a:xfrm>
            <a:off x="5532120" y="1600200"/>
            <a:ext cx="6217920" cy="3282315"/>
          </a:xfrm>
          <a:prstGeom prst="roundRect">
            <a:avLst>
              <a:gd name="adj" fmla="val 2229"/>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21" name="Image 0" descr="preencoded.png">    </p:cNvPr>
          <p:cNvPicPr>
            <a:picLocks noChangeAspect="1"/>
          </p:cNvPicPr>
          <p:nvPr/>
        </p:nvPicPr>
        <p:blipFill>
          <a:blip r:embed="rId1"/>
          <a:stretch>
            <a:fillRect/>
          </a:stretch>
        </p:blipFill>
        <p:spPr>
          <a:xfrm>
            <a:off x="5577840" y="1645920"/>
            <a:ext cx="6126480" cy="3190875"/>
          </a:xfrm>
          <a:prstGeom prst="rect">
            <a:avLst/>
          </a:prstGeom>
        </p:spPr>
      </p:pic>
      <p:sp>
        <p:nvSpPr>
          <p:cNvPr id="22" name="Text 1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3 / 7   ·   HOW IT WORKS</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Agents propose. Humans approve. Chains prove.</a:t>
            </a:r>
            <a:endParaRPr lang="en-US" sz="3000" dirty="0"/>
          </a:p>
        </p:txBody>
      </p:sp>
      <p:sp>
        <p:nvSpPr>
          <p:cNvPr id="4" name="Shape 2"/>
          <p:cNvSpPr/>
          <p:nvPr/>
        </p:nvSpPr>
        <p:spPr>
          <a:xfrm>
            <a:off x="457200" y="1600200"/>
            <a:ext cx="1600200" cy="3703320"/>
          </a:xfrm>
          <a:prstGeom prst="roundRect">
            <a:avLst>
              <a:gd name="adj" fmla="val 6857"/>
            </a:avLst>
          </a:prstGeom>
          <a:solidFill>
            <a:srgbClr val="12201D"/>
          </a:solidFill>
          <a:ln w="12700">
            <a:solidFill>
              <a:srgbClr val="5D8AD6"/>
            </a:solidFill>
            <a:prstDash val="solid"/>
          </a:ln>
        </p:spPr>
      </p:sp>
      <p:sp>
        <p:nvSpPr>
          <p:cNvPr id="5" name="Shape 3"/>
          <p:cNvSpPr/>
          <p:nvPr/>
        </p:nvSpPr>
        <p:spPr>
          <a:xfrm>
            <a:off x="955548" y="1783080"/>
            <a:ext cx="603504" cy="603504"/>
          </a:xfrm>
          <a:prstGeom prst="ellipse">
            <a:avLst/>
          </a:prstGeom>
          <a:solidFill>
            <a:srgbClr val="5D8AD6"/>
          </a:solidFill>
          <a:ln w="12700">
            <a:solidFill>
              <a:srgbClr val="5D8AD6"/>
            </a:solidFill>
            <a:prstDash val="solid"/>
          </a:ln>
        </p:spPr>
      </p:sp>
      <p:pic>
        <p:nvPicPr>
          <p:cNvPr id="6" name="Image 0" descr="preencoded.png">    </p:cNvPr>
          <p:cNvPicPr>
            <a:picLocks noChangeAspect="1"/>
          </p:cNvPicPr>
          <p:nvPr/>
        </p:nvPicPr>
        <p:blipFill>
          <a:blip r:embed="rId1"/>
          <a:stretch>
            <a:fillRect/>
          </a:stretch>
        </p:blipFill>
        <p:spPr>
          <a:xfrm>
            <a:off x="1106424" y="1933956"/>
            <a:ext cx="301752" cy="301752"/>
          </a:xfrm>
          <a:prstGeom prst="rect">
            <a:avLst/>
          </a:prstGeom>
        </p:spPr>
      </p:pic>
      <p:sp>
        <p:nvSpPr>
          <p:cNvPr id="7" name="Text 4"/>
          <p:cNvSpPr txBox="1"/>
          <p:nvPr/>
        </p:nvSpPr>
        <p:spPr>
          <a:xfrm>
            <a:off x="457200" y="2468880"/>
            <a:ext cx="1600200" cy="320040"/>
          </a:xfrm>
          <a:prstGeom prst="rect">
            <a:avLst/>
          </a:prstGeom>
          <a:noFill/>
          <a:ln/>
        </p:spPr>
        <p:txBody>
          <a:bodyPr wrap="square" lIns="0" tIns="0" rIns="0" bIns="0" rtlCol="0" anchor="ctr"/>
          <a:lstStyle/>
          <a:p>
            <a:pPr algn="ctr" indent="0" marL="0">
              <a:buNone/>
            </a:pPr>
            <a:r>
              <a:rPr lang="en-US" sz="1250" b="1" dirty="0">
                <a:solidFill>
                  <a:srgbClr val="5D8AD6"/>
                </a:solidFill>
                <a:latin typeface="Arial" pitchFamily="34" charset="0"/>
                <a:ea typeface="Arial" pitchFamily="34" charset="-122"/>
                <a:cs typeface="Arial" pitchFamily="34" charset="-120"/>
              </a:rPr>
              <a:t>FOUNDER</a:t>
            </a:r>
            <a:endParaRPr lang="en-US" sz="1250" dirty="0"/>
          </a:p>
        </p:txBody>
      </p:sp>
      <p:sp>
        <p:nvSpPr>
          <p:cNvPr id="8" name="Shape 5"/>
          <p:cNvSpPr/>
          <p:nvPr/>
        </p:nvSpPr>
        <p:spPr>
          <a:xfrm>
            <a:off x="566928" y="2898648"/>
            <a:ext cx="1380744" cy="457200"/>
          </a:xfrm>
          <a:prstGeom prst="roundRect">
            <a:avLst>
              <a:gd name="adj" fmla="val 16000"/>
            </a:avLst>
          </a:prstGeom>
          <a:solidFill>
            <a:srgbClr val="172A26"/>
          </a:solidFill>
          <a:ln w="12700">
            <a:solidFill>
              <a:srgbClr val="25403A"/>
            </a:solidFill>
            <a:prstDash val="solid"/>
          </a:ln>
        </p:spPr>
      </p:sp>
      <p:sp>
        <p:nvSpPr>
          <p:cNvPr id="9" name="Text 6"/>
          <p:cNvSpPr txBox="1"/>
          <p:nvPr/>
        </p:nvSpPr>
        <p:spPr>
          <a:xfrm>
            <a:off x="603504"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Pastes website</a:t>
            </a:r>
            <a:endParaRPr lang="en-US" sz="1050" dirty="0"/>
          </a:p>
        </p:txBody>
      </p:sp>
      <p:sp>
        <p:nvSpPr>
          <p:cNvPr id="10" name="Shape 7"/>
          <p:cNvSpPr/>
          <p:nvPr/>
        </p:nvSpPr>
        <p:spPr>
          <a:xfrm>
            <a:off x="566928" y="3465576"/>
            <a:ext cx="1380744" cy="457200"/>
          </a:xfrm>
          <a:prstGeom prst="roundRect">
            <a:avLst>
              <a:gd name="adj" fmla="val 16000"/>
            </a:avLst>
          </a:prstGeom>
          <a:solidFill>
            <a:srgbClr val="172A26"/>
          </a:solidFill>
          <a:ln w="12700">
            <a:solidFill>
              <a:srgbClr val="25403A"/>
            </a:solidFill>
            <a:prstDash val="solid"/>
          </a:ln>
        </p:spPr>
      </p:sp>
      <p:sp>
        <p:nvSpPr>
          <p:cNvPr id="11" name="Text 8"/>
          <p:cNvSpPr txBox="1"/>
          <p:nvPr/>
        </p:nvSpPr>
        <p:spPr>
          <a:xfrm>
            <a:off x="603504"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Adds shareholders + wallets</a:t>
            </a:r>
            <a:endParaRPr lang="en-US" sz="1050" dirty="0"/>
          </a:p>
        </p:txBody>
      </p:sp>
      <p:sp>
        <p:nvSpPr>
          <p:cNvPr id="12" name="Shape 9"/>
          <p:cNvSpPr/>
          <p:nvPr/>
        </p:nvSpPr>
        <p:spPr>
          <a:xfrm>
            <a:off x="566928" y="4032504"/>
            <a:ext cx="1380744" cy="457200"/>
          </a:xfrm>
          <a:prstGeom prst="roundRect">
            <a:avLst>
              <a:gd name="adj" fmla="val 16000"/>
            </a:avLst>
          </a:prstGeom>
          <a:solidFill>
            <a:srgbClr val="172A26"/>
          </a:solidFill>
          <a:ln w="12700">
            <a:solidFill>
              <a:srgbClr val="25403A"/>
            </a:solidFill>
            <a:prstDash val="solid"/>
          </a:ln>
        </p:spPr>
      </p:sp>
      <p:sp>
        <p:nvSpPr>
          <p:cNvPr id="13" name="Text 10"/>
          <p:cNvSpPr txBox="1"/>
          <p:nvPr/>
        </p:nvSpPr>
        <p:spPr>
          <a:xfrm>
            <a:off x="603504"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Optional revenue figures</a:t>
            </a:r>
            <a:endParaRPr lang="en-US" sz="1050" dirty="0"/>
          </a:p>
        </p:txBody>
      </p:sp>
      <p:sp>
        <p:nvSpPr>
          <p:cNvPr id="14" name="Shape 11"/>
          <p:cNvSpPr/>
          <p:nvPr/>
        </p:nvSpPr>
        <p:spPr>
          <a:xfrm>
            <a:off x="2084832" y="2084832"/>
            <a:ext cx="283464" cy="914"/>
          </a:xfrm>
          <a:prstGeom prst="line">
            <a:avLst/>
          </a:prstGeom>
          <a:noFill/>
          <a:ln w="25400">
            <a:solidFill>
              <a:srgbClr val="A9BDB7"/>
            </a:solidFill>
            <a:prstDash val="solid"/>
            <a:tailEnd type="triangle"/>
          </a:ln>
        </p:spPr>
      </p:sp>
      <p:sp>
        <p:nvSpPr>
          <p:cNvPr id="15" name="Shape 12"/>
          <p:cNvSpPr/>
          <p:nvPr/>
        </p:nvSpPr>
        <p:spPr>
          <a:xfrm>
            <a:off x="2395728" y="1600200"/>
            <a:ext cx="1600200" cy="3703320"/>
          </a:xfrm>
          <a:prstGeom prst="roundRect">
            <a:avLst>
              <a:gd name="adj" fmla="val 6857"/>
            </a:avLst>
          </a:prstGeom>
          <a:solidFill>
            <a:srgbClr val="12201D"/>
          </a:solidFill>
          <a:ln w="12700">
            <a:solidFill>
              <a:srgbClr val="22A07F"/>
            </a:solidFill>
            <a:prstDash val="solid"/>
          </a:ln>
        </p:spPr>
      </p:sp>
      <p:sp>
        <p:nvSpPr>
          <p:cNvPr id="16" name="Shape 13"/>
          <p:cNvSpPr/>
          <p:nvPr/>
        </p:nvSpPr>
        <p:spPr>
          <a:xfrm>
            <a:off x="2894076" y="1783080"/>
            <a:ext cx="603504" cy="603504"/>
          </a:xfrm>
          <a:prstGeom prst="ellipse">
            <a:avLst/>
          </a:prstGeom>
          <a:solidFill>
            <a:srgbClr val="22A07F"/>
          </a:solidFill>
          <a:ln w="12700">
            <a:solidFill>
              <a:srgbClr val="22A07F"/>
            </a:solidFill>
            <a:prstDash val="solid"/>
          </a:ln>
        </p:spPr>
      </p:sp>
      <p:pic>
        <p:nvPicPr>
          <p:cNvPr id="17" name="Image 1" descr="preencoded.png">    </p:cNvPr>
          <p:cNvPicPr>
            <a:picLocks noChangeAspect="1"/>
          </p:cNvPicPr>
          <p:nvPr/>
        </p:nvPicPr>
        <p:blipFill>
          <a:blip r:embed="rId2"/>
          <a:stretch>
            <a:fillRect/>
          </a:stretch>
        </p:blipFill>
        <p:spPr>
          <a:xfrm>
            <a:off x="3044952" y="1933956"/>
            <a:ext cx="301752" cy="301752"/>
          </a:xfrm>
          <a:prstGeom prst="rect">
            <a:avLst/>
          </a:prstGeom>
        </p:spPr>
      </p:pic>
      <p:sp>
        <p:nvSpPr>
          <p:cNvPr id="18" name="Text 14"/>
          <p:cNvSpPr txBox="1"/>
          <p:nvPr/>
        </p:nvSpPr>
        <p:spPr>
          <a:xfrm>
            <a:off x="2395728" y="2468880"/>
            <a:ext cx="1600200" cy="320040"/>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AI AGENTS</a:t>
            </a:r>
            <a:endParaRPr lang="en-US" sz="1250" dirty="0"/>
          </a:p>
        </p:txBody>
      </p:sp>
      <p:sp>
        <p:nvSpPr>
          <p:cNvPr id="19" name="Shape 15"/>
          <p:cNvSpPr/>
          <p:nvPr/>
        </p:nvSpPr>
        <p:spPr>
          <a:xfrm>
            <a:off x="2505456" y="2898648"/>
            <a:ext cx="1380744" cy="457200"/>
          </a:xfrm>
          <a:prstGeom prst="roundRect">
            <a:avLst>
              <a:gd name="adj" fmla="val 16000"/>
            </a:avLst>
          </a:prstGeom>
          <a:solidFill>
            <a:srgbClr val="172A26"/>
          </a:solidFill>
          <a:ln w="12700">
            <a:solidFill>
              <a:srgbClr val="25403A"/>
            </a:solidFill>
            <a:prstDash val="solid"/>
          </a:ln>
        </p:spPr>
      </p:sp>
      <p:sp>
        <p:nvSpPr>
          <p:cNvPr id="20" name="Text 16"/>
          <p:cNvSpPr txBox="1"/>
          <p:nvPr/>
        </p:nvSpPr>
        <p:spPr>
          <a:xfrm>
            <a:off x="2542032"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Read site · ≤6 pages</a:t>
            </a:r>
            <a:endParaRPr lang="en-US" sz="1050" dirty="0"/>
          </a:p>
        </p:txBody>
      </p:sp>
      <p:sp>
        <p:nvSpPr>
          <p:cNvPr id="21" name="Shape 17"/>
          <p:cNvSpPr/>
          <p:nvPr/>
        </p:nvSpPr>
        <p:spPr>
          <a:xfrm>
            <a:off x="2505456" y="3465576"/>
            <a:ext cx="1380744" cy="457200"/>
          </a:xfrm>
          <a:prstGeom prst="roundRect">
            <a:avLst>
              <a:gd name="adj" fmla="val 16000"/>
            </a:avLst>
          </a:prstGeom>
          <a:solidFill>
            <a:srgbClr val="172A26"/>
          </a:solidFill>
          <a:ln w="12700">
            <a:solidFill>
              <a:srgbClr val="25403A"/>
            </a:solidFill>
            <a:prstDash val="solid"/>
          </a:ln>
        </p:spPr>
      </p:sp>
      <p:sp>
        <p:nvSpPr>
          <p:cNvPr id="22" name="Text 18"/>
          <p:cNvSpPr txBox="1"/>
          <p:nvPr/>
        </p:nvSpPr>
        <p:spPr>
          <a:xfrm>
            <a:off x="2542032"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Competitors · ≤3 searches</a:t>
            </a:r>
            <a:endParaRPr lang="en-US" sz="1050" dirty="0"/>
          </a:p>
        </p:txBody>
      </p:sp>
      <p:sp>
        <p:nvSpPr>
          <p:cNvPr id="23" name="Shape 19"/>
          <p:cNvSpPr/>
          <p:nvPr/>
        </p:nvSpPr>
        <p:spPr>
          <a:xfrm>
            <a:off x="2505456" y="4032504"/>
            <a:ext cx="1380744" cy="457200"/>
          </a:xfrm>
          <a:prstGeom prst="roundRect">
            <a:avLst>
              <a:gd name="adj" fmla="val 16000"/>
            </a:avLst>
          </a:prstGeom>
          <a:solidFill>
            <a:srgbClr val="172A26"/>
          </a:solidFill>
          <a:ln w="12700">
            <a:solidFill>
              <a:srgbClr val="25403A"/>
            </a:solidFill>
            <a:prstDash val="solid"/>
          </a:ln>
        </p:spPr>
      </p:sp>
      <p:sp>
        <p:nvSpPr>
          <p:cNvPr id="24" name="Text 20"/>
          <p:cNvSpPr txBox="1"/>
          <p:nvPr/>
        </p:nvSpPr>
        <p:spPr>
          <a:xfrm>
            <a:off x="2542032"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Market · cited only</a:t>
            </a:r>
            <a:endParaRPr lang="en-US" sz="1050" dirty="0"/>
          </a:p>
        </p:txBody>
      </p:sp>
      <p:sp>
        <p:nvSpPr>
          <p:cNvPr id="25" name="Shape 21"/>
          <p:cNvSpPr/>
          <p:nvPr/>
        </p:nvSpPr>
        <p:spPr>
          <a:xfrm>
            <a:off x="2505456" y="4599432"/>
            <a:ext cx="1380744" cy="457200"/>
          </a:xfrm>
          <a:prstGeom prst="roundRect">
            <a:avLst>
              <a:gd name="adj" fmla="val 16000"/>
            </a:avLst>
          </a:prstGeom>
          <a:solidFill>
            <a:srgbClr val="172A26"/>
          </a:solidFill>
          <a:ln w="12700">
            <a:solidFill>
              <a:srgbClr val="25403A"/>
            </a:solidFill>
            <a:prstDash val="solid"/>
          </a:ln>
        </p:spPr>
      </p:sp>
      <p:sp>
        <p:nvSpPr>
          <p:cNvPr id="26" name="Text 22"/>
          <p:cNvSpPr txBox="1"/>
          <p:nvPr/>
        </p:nvSpPr>
        <p:spPr>
          <a:xfrm>
            <a:off x="2542032" y="4599432"/>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SVI formula → value</a:t>
            </a:r>
            <a:endParaRPr lang="en-US" sz="1050" dirty="0"/>
          </a:p>
        </p:txBody>
      </p:sp>
      <p:sp>
        <p:nvSpPr>
          <p:cNvPr id="27" name="Shape 23"/>
          <p:cNvSpPr/>
          <p:nvPr/>
        </p:nvSpPr>
        <p:spPr>
          <a:xfrm>
            <a:off x="4023360" y="2084832"/>
            <a:ext cx="283464" cy="914"/>
          </a:xfrm>
          <a:prstGeom prst="line">
            <a:avLst/>
          </a:prstGeom>
          <a:noFill/>
          <a:ln w="25400">
            <a:solidFill>
              <a:srgbClr val="A9BDB7"/>
            </a:solidFill>
            <a:prstDash val="solid"/>
            <a:tailEnd type="triangle"/>
          </a:ln>
        </p:spPr>
      </p:sp>
      <p:sp>
        <p:nvSpPr>
          <p:cNvPr id="28" name="Shape 24"/>
          <p:cNvSpPr/>
          <p:nvPr/>
        </p:nvSpPr>
        <p:spPr>
          <a:xfrm>
            <a:off x="4334256" y="1600200"/>
            <a:ext cx="1600200" cy="3703320"/>
          </a:xfrm>
          <a:prstGeom prst="roundRect">
            <a:avLst>
              <a:gd name="adj" fmla="val 6857"/>
            </a:avLst>
          </a:prstGeom>
          <a:solidFill>
            <a:srgbClr val="12201D"/>
          </a:solidFill>
          <a:ln w="12700">
            <a:solidFill>
              <a:srgbClr val="E3A83A"/>
            </a:solidFill>
            <a:prstDash val="solid"/>
          </a:ln>
        </p:spPr>
      </p:sp>
      <p:sp>
        <p:nvSpPr>
          <p:cNvPr id="29" name="Shape 25"/>
          <p:cNvSpPr/>
          <p:nvPr/>
        </p:nvSpPr>
        <p:spPr>
          <a:xfrm>
            <a:off x="4832604" y="1783080"/>
            <a:ext cx="603504" cy="603504"/>
          </a:xfrm>
          <a:prstGeom prst="ellipse">
            <a:avLst/>
          </a:prstGeom>
          <a:solidFill>
            <a:srgbClr val="E3A83A"/>
          </a:solidFill>
          <a:ln w="12700">
            <a:solidFill>
              <a:srgbClr val="E3A83A"/>
            </a:solidFill>
            <a:prstDash val="solid"/>
          </a:ln>
        </p:spPr>
      </p:sp>
      <p:pic>
        <p:nvPicPr>
          <p:cNvPr id="30" name="Image 2" descr="preencoded.png">    </p:cNvPr>
          <p:cNvPicPr>
            <a:picLocks noChangeAspect="1"/>
          </p:cNvPicPr>
          <p:nvPr/>
        </p:nvPicPr>
        <p:blipFill>
          <a:blip r:embed="rId3"/>
          <a:stretch>
            <a:fillRect/>
          </a:stretch>
        </p:blipFill>
        <p:spPr>
          <a:xfrm>
            <a:off x="4983480" y="1933956"/>
            <a:ext cx="301752" cy="301752"/>
          </a:xfrm>
          <a:prstGeom prst="rect">
            <a:avLst/>
          </a:prstGeom>
        </p:spPr>
      </p:pic>
      <p:sp>
        <p:nvSpPr>
          <p:cNvPr id="31" name="Text 26"/>
          <p:cNvSpPr txBox="1"/>
          <p:nvPr/>
        </p:nvSpPr>
        <p:spPr>
          <a:xfrm>
            <a:off x="4334256" y="2468880"/>
            <a:ext cx="1600200" cy="320040"/>
          </a:xfrm>
          <a:prstGeom prst="rect">
            <a:avLst/>
          </a:prstGeom>
          <a:noFill/>
          <a:ln/>
        </p:spPr>
        <p:txBody>
          <a:bodyPr wrap="square" lIns="0" tIns="0" rIns="0" bIns="0" rtlCol="0" anchor="ctr"/>
          <a:lstStyle/>
          <a:p>
            <a:pPr algn="ctr" indent="0" marL="0">
              <a:buNone/>
            </a:pPr>
            <a:r>
              <a:rPr lang="en-US" sz="1250" b="1" dirty="0">
                <a:solidFill>
                  <a:srgbClr val="E3A83A"/>
                </a:solidFill>
                <a:latin typeface="Arial" pitchFamily="34" charset="0"/>
                <a:ea typeface="Arial" pitchFamily="34" charset="-122"/>
                <a:cs typeface="Arial" pitchFamily="34" charset="-120"/>
              </a:rPr>
              <a:t>HUMAN GATE</a:t>
            </a:r>
            <a:endParaRPr lang="en-US" sz="1250" dirty="0"/>
          </a:p>
        </p:txBody>
      </p:sp>
      <p:sp>
        <p:nvSpPr>
          <p:cNvPr id="32" name="Shape 27"/>
          <p:cNvSpPr/>
          <p:nvPr/>
        </p:nvSpPr>
        <p:spPr>
          <a:xfrm>
            <a:off x="4443984" y="2898648"/>
            <a:ext cx="1380744" cy="457200"/>
          </a:xfrm>
          <a:prstGeom prst="roundRect">
            <a:avLst>
              <a:gd name="adj" fmla="val 16000"/>
            </a:avLst>
          </a:prstGeom>
          <a:solidFill>
            <a:srgbClr val="172A26"/>
          </a:solidFill>
          <a:ln w="12700">
            <a:solidFill>
              <a:srgbClr val="25403A"/>
            </a:solidFill>
            <a:prstDash val="solid"/>
          </a:ln>
        </p:spPr>
      </p:sp>
      <p:sp>
        <p:nvSpPr>
          <p:cNvPr id="33" name="Text 28"/>
          <p:cNvSpPr txBox="1"/>
          <p:nvPr/>
        </p:nvSpPr>
        <p:spPr>
          <a:xfrm>
            <a:off x="4480560"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Admin reviews</a:t>
            </a:r>
            <a:endParaRPr lang="en-US" sz="1050" dirty="0"/>
          </a:p>
        </p:txBody>
      </p:sp>
      <p:sp>
        <p:nvSpPr>
          <p:cNvPr id="34" name="Shape 29"/>
          <p:cNvSpPr/>
          <p:nvPr/>
        </p:nvSpPr>
        <p:spPr>
          <a:xfrm>
            <a:off x="4443984" y="3465576"/>
            <a:ext cx="1380744" cy="457200"/>
          </a:xfrm>
          <a:prstGeom prst="roundRect">
            <a:avLst>
              <a:gd name="adj" fmla="val 16000"/>
            </a:avLst>
          </a:prstGeom>
          <a:solidFill>
            <a:srgbClr val="172A26"/>
          </a:solidFill>
          <a:ln w="12700">
            <a:solidFill>
              <a:srgbClr val="25403A"/>
            </a:solidFill>
            <a:prstDash val="solid"/>
          </a:ln>
        </p:spPr>
      </p:sp>
      <p:sp>
        <p:nvSpPr>
          <p:cNvPr id="35" name="Text 30"/>
          <p:cNvSpPr txBox="1"/>
          <p:nvPr/>
        </p:nvSpPr>
        <p:spPr>
          <a:xfrm>
            <a:off x="4480560"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Signs with own wallet</a:t>
            </a:r>
            <a:endParaRPr lang="en-US" sz="1050" dirty="0"/>
          </a:p>
        </p:txBody>
      </p:sp>
      <p:sp>
        <p:nvSpPr>
          <p:cNvPr id="36" name="Shape 31"/>
          <p:cNvSpPr/>
          <p:nvPr/>
        </p:nvSpPr>
        <p:spPr>
          <a:xfrm>
            <a:off x="4443984" y="4032504"/>
            <a:ext cx="1380744" cy="457200"/>
          </a:xfrm>
          <a:prstGeom prst="roundRect">
            <a:avLst>
              <a:gd name="adj" fmla="val 16000"/>
            </a:avLst>
          </a:prstGeom>
          <a:solidFill>
            <a:srgbClr val="172A26"/>
          </a:solidFill>
          <a:ln w="12700">
            <a:solidFill>
              <a:srgbClr val="25403A"/>
            </a:solidFill>
            <a:prstDash val="solid"/>
          </a:ln>
        </p:spPr>
      </p:sp>
      <p:sp>
        <p:nvSpPr>
          <p:cNvPr id="37" name="Text 32"/>
          <p:cNvSpPr txBox="1"/>
          <p:nvPr/>
        </p:nvSpPr>
        <p:spPr>
          <a:xfrm>
            <a:off x="4480560"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One approval</a:t>
            </a:r>
            <a:endParaRPr lang="en-US" sz="1050" dirty="0"/>
          </a:p>
        </p:txBody>
      </p:sp>
      <p:sp>
        <p:nvSpPr>
          <p:cNvPr id="38" name="Shape 33"/>
          <p:cNvSpPr/>
          <p:nvPr/>
        </p:nvSpPr>
        <p:spPr>
          <a:xfrm>
            <a:off x="5961888" y="2084832"/>
            <a:ext cx="283464" cy="914"/>
          </a:xfrm>
          <a:prstGeom prst="line">
            <a:avLst/>
          </a:prstGeom>
          <a:noFill/>
          <a:ln w="25400">
            <a:solidFill>
              <a:srgbClr val="A9BDB7"/>
            </a:solidFill>
            <a:prstDash val="solid"/>
            <a:tailEnd type="triangle"/>
          </a:ln>
        </p:spPr>
      </p:sp>
      <p:sp>
        <p:nvSpPr>
          <p:cNvPr id="39" name="Shape 34"/>
          <p:cNvSpPr/>
          <p:nvPr/>
        </p:nvSpPr>
        <p:spPr>
          <a:xfrm>
            <a:off x="6272784" y="1600200"/>
            <a:ext cx="1600200" cy="3703320"/>
          </a:xfrm>
          <a:prstGeom prst="roundRect">
            <a:avLst>
              <a:gd name="adj" fmla="val 6857"/>
            </a:avLst>
          </a:prstGeom>
          <a:solidFill>
            <a:srgbClr val="12201D"/>
          </a:solidFill>
          <a:ln w="12700">
            <a:solidFill>
              <a:srgbClr val="E4675A"/>
            </a:solidFill>
            <a:prstDash val="solid"/>
          </a:ln>
        </p:spPr>
      </p:sp>
      <p:sp>
        <p:nvSpPr>
          <p:cNvPr id="40" name="Shape 35"/>
          <p:cNvSpPr/>
          <p:nvPr/>
        </p:nvSpPr>
        <p:spPr>
          <a:xfrm>
            <a:off x="6771132" y="1783080"/>
            <a:ext cx="603504" cy="603504"/>
          </a:xfrm>
          <a:prstGeom prst="ellipse">
            <a:avLst/>
          </a:prstGeom>
          <a:solidFill>
            <a:srgbClr val="E4675A"/>
          </a:solidFill>
          <a:ln w="12700">
            <a:solidFill>
              <a:srgbClr val="E4675A"/>
            </a:solidFill>
            <a:prstDash val="solid"/>
          </a:ln>
        </p:spPr>
      </p:sp>
      <p:pic>
        <p:nvPicPr>
          <p:cNvPr id="41" name="Image 3" descr="preencoded.png">    </p:cNvPr>
          <p:cNvPicPr>
            <a:picLocks noChangeAspect="1"/>
          </p:cNvPicPr>
          <p:nvPr/>
        </p:nvPicPr>
        <p:blipFill>
          <a:blip r:embed="rId4"/>
          <a:stretch>
            <a:fillRect/>
          </a:stretch>
        </p:blipFill>
        <p:spPr>
          <a:xfrm>
            <a:off x="6922008" y="1933956"/>
            <a:ext cx="301752" cy="301752"/>
          </a:xfrm>
          <a:prstGeom prst="rect">
            <a:avLst/>
          </a:prstGeom>
        </p:spPr>
      </p:pic>
      <p:sp>
        <p:nvSpPr>
          <p:cNvPr id="42" name="Text 36"/>
          <p:cNvSpPr txBox="1"/>
          <p:nvPr/>
        </p:nvSpPr>
        <p:spPr>
          <a:xfrm>
            <a:off x="6272784" y="2468880"/>
            <a:ext cx="1600200" cy="320040"/>
          </a:xfrm>
          <a:prstGeom prst="rect">
            <a:avLst/>
          </a:prstGeom>
          <a:noFill/>
          <a:ln/>
        </p:spPr>
        <p:txBody>
          <a:bodyPr wrap="square" lIns="0" tIns="0" rIns="0" bIns="0" rtlCol="0" anchor="ctr"/>
          <a:lstStyle/>
          <a:p>
            <a:pPr algn="ctr" indent="0" marL="0">
              <a:buNone/>
            </a:pPr>
            <a:r>
              <a:rPr lang="en-US" sz="1250" b="1" dirty="0">
                <a:solidFill>
                  <a:srgbClr val="E4675A"/>
                </a:solidFill>
                <a:latin typeface="Arial" pitchFamily="34" charset="0"/>
                <a:ea typeface="Arial" pitchFamily="34" charset="-122"/>
                <a:cs typeface="Arial" pitchFamily="34" charset="-120"/>
              </a:rPr>
              <a:t>ISSUER</a:t>
            </a:r>
            <a:endParaRPr lang="en-US" sz="1250" dirty="0"/>
          </a:p>
        </p:txBody>
      </p:sp>
      <p:sp>
        <p:nvSpPr>
          <p:cNvPr id="43" name="Shape 37"/>
          <p:cNvSpPr/>
          <p:nvPr/>
        </p:nvSpPr>
        <p:spPr>
          <a:xfrm>
            <a:off x="6382512" y="2898648"/>
            <a:ext cx="1380744" cy="457200"/>
          </a:xfrm>
          <a:prstGeom prst="roundRect">
            <a:avLst>
              <a:gd name="adj" fmla="val 16000"/>
            </a:avLst>
          </a:prstGeom>
          <a:solidFill>
            <a:srgbClr val="172A26"/>
          </a:solidFill>
          <a:ln w="12700">
            <a:solidFill>
              <a:srgbClr val="25403A"/>
            </a:solidFill>
            <a:prstDash val="solid"/>
          </a:ln>
        </p:spPr>
      </p:sp>
      <p:sp>
        <p:nvSpPr>
          <p:cNvPr id="44" name="Text 38"/>
          <p:cNvSpPr txBox="1"/>
          <p:nvPr/>
        </p:nvSpPr>
        <p:spPr>
          <a:xfrm>
            <a:off x="6419088"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Only key holder</a:t>
            </a:r>
            <a:endParaRPr lang="en-US" sz="1050" dirty="0"/>
          </a:p>
        </p:txBody>
      </p:sp>
      <p:sp>
        <p:nvSpPr>
          <p:cNvPr id="45" name="Shape 39"/>
          <p:cNvSpPr/>
          <p:nvPr/>
        </p:nvSpPr>
        <p:spPr>
          <a:xfrm>
            <a:off x="6382512" y="3465576"/>
            <a:ext cx="1380744" cy="457200"/>
          </a:xfrm>
          <a:prstGeom prst="roundRect">
            <a:avLst>
              <a:gd name="adj" fmla="val 16000"/>
            </a:avLst>
          </a:prstGeom>
          <a:solidFill>
            <a:srgbClr val="172A26"/>
          </a:solidFill>
          <a:ln w="12700">
            <a:solidFill>
              <a:srgbClr val="25403A"/>
            </a:solidFill>
            <a:prstDash val="solid"/>
          </a:ln>
        </p:spPr>
      </p:sp>
      <p:sp>
        <p:nvSpPr>
          <p:cNvPr id="46" name="Text 40"/>
          <p:cNvSpPr txBox="1"/>
          <p:nvPr/>
        </p:nvSpPr>
        <p:spPr>
          <a:xfrm>
            <a:off x="6419088"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Isolated network</a:t>
            </a:r>
            <a:endParaRPr lang="en-US" sz="1050" dirty="0"/>
          </a:p>
        </p:txBody>
      </p:sp>
      <p:sp>
        <p:nvSpPr>
          <p:cNvPr id="47" name="Shape 41"/>
          <p:cNvSpPr/>
          <p:nvPr/>
        </p:nvSpPr>
        <p:spPr>
          <a:xfrm>
            <a:off x="6382512" y="4032504"/>
            <a:ext cx="1380744" cy="457200"/>
          </a:xfrm>
          <a:prstGeom prst="roundRect">
            <a:avLst>
              <a:gd name="adj" fmla="val 16000"/>
            </a:avLst>
          </a:prstGeom>
          <a:solidFill>
            <a:srgbClr val="172A26"/>
          </a:solidFill>
          <a:ln w="12700">
            <a:solidFill>
              <a:srgbClr val="25403A"/>
            </a:solidFill>
            <a:prstDash val="solid"/>
          </a:ln>
        </p:spPr>
      </p:sp>
      <p:sp>
        <p:nvSpPr>
          <p:cNvPr id="48" name="Text 42"/>
          <p:cNvSpPr txBox="1"/>
          <p:nvPr/>
        </p:nvSpPr>
        <p:spPr>
          <a:xfrm>
            <a:off x="6419088"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Acts on approved rows</a:t>
            </a:r>
            <a:endParaRPr lang="en-US" sz="1050" dirty="0"/>
          </a:p>
        </p:txBody>
      </p:sp>
      <p:sp>
        <p:nvSpPr>
          <p:cNvPr id="49" name="Shape 43"/>
          <p:cNvSpPr/>
          <p:nvPr/>
        </p:nvSpPr>
        <p:spPr>
          <a:xfrm>
            <a:off x="7900416" y="2084832"/>
            <a:ext cx="283464" cy="914"/>
          </a:xfrm>
          <a:prstGeom prst="line">
            <a:avLst/>
          </a:prstGeom>
          <a:noFill/>
          <a:ln w="25400">
            <a:solidFill>
              <a:srgbClr val="A9BDB7"/>
            </a:solidFill>
            <a:prstDash val="solid"/>
            <a:tailEnd type="triangle"/>
          </a:ln>
        </p:spPr>
      </p:sp>
      <p:sp>
        <p:nvSpPr>
          <p:cNvPr id="50" name="Shape 44"/>
          <p:cNvSpPr/>
          <p:nvPr/>
        </p:nvSpPr>
        <p:spPr>
          <a:xfrm>
            <a:off x="8211312" y="1600200"/>
            <a:ext cx="1600200" cy="3703320"/>
          </a:xfrm>
          <a:prstGeom prst="roundRect">
            <a:avLst>
              <a:gd name="adj" fmla="val 6857"/>
            </a:avLst>
          </a:prstGeom>
          <a:solidFill>
            <a:srgbClr val="12201D"/>
          </a:solidFill>
          <a:ln w="12700">
            <a:solidFill>
              <a:srgbClr val="9B7BD4"/>
            </a:solidFill>
            <a:prstDash val="solid"/>
          </a:ln>
        </p:spPr>
      </p:sp>
      <p:sp>
        <p:nvSpPr>
          <p:cNvPr id="51" name="Shape 45"/>
          <p:cNvSpPr/>
          <p:nvPr/>
        </p:nvSpPr>
        <p:spPr>
          <a:xfrm>
            <a:off x="8709660" y="1783080"/>
            <a:ext cx="603504" cy="603504"/>
          </a:xfrm>
          <a:prstGeom prst="ellipse">
            <a:avLst/>
          </a:prstGeom>
          <a:solidFill>
            <a:srgbClr val="9B7BD4"/>
          </a:solidFill>
          <a:ln w="12700">
            <a:solidFill>
              <a:srgbClr val="9B7BD4"/>
            </a:solidFill>
            <a:prstDash val="solid"/>
          </a:ln>
        </p:spPr>
      </p:sp>
      <p:pic>
        <p:nvPicPr>
          <p:cNvPr id="52" name="Image 4" descr="preencoded.png">    </p:cNvPr>
          <p:cNvPicPr>
            <a:picLocks noChangeAspect="1"/>
          </p:cNvPicPr>
          <p:nvPr/>
        </p:nvPicPr>
        <p:blipFill>
          <a:blip r:embed="rId5"/>
          <a:stretch>
            <a:fillRect/>
          </a:stretch>
        </p:blipFill>
        <p:spPr>
          <a:xfrm>
            <a:off x="8860536" y="1933956"/>
            <a:ext cx="301752" cy="301752"/>
          </a:xfrm>
          <a:prstGeom prst="rect">
            <a:avLst/>
          </a:prstGeom>
        </p:spPr>
      </p:pic>
      <p:sp>
        <p:nvSpPr>
          <p:cNvPr id="53" name="Text 46"/>
          <p:cNvSpPr txBox="1"/>
          <p:nvPr/>
        </p:nvSpPr>
        <p:spPr>
          <a:xfrm>
            <a:off x="8211312" y="2468880"/>
            <a:ext cx="1600200" cy="320040"/>
          </a:xfrm>
          <a:prstGeom prst="rect">
            <a:avLst/>
          </a:prstGeom>
          <a:noFill/>
          <a:ln/>
        </p:spPr>
        <p:txBody>
          <a:bodyPr wrap="square" lIns="0" tIns="0" rIns="0" bIns="0" rtlCol="0" anchor="ctr"/>
          <a:lstStyle/>
          <a:p>
            <a:pPr algn="ctr" indent="0" marL="0">
              <a:buNone/>
            </a:pPr>
            <a:r>
              <a:rPr lang="en-US" sz="1250" b="1" dirty="0">
                <a:solidFill>
                  <a:srgbClr val="9B7BD4"/>
                </a:solidFill>
                <a:latin typeface="Arial" pitchFamily="34" charset="0"/>
                <a:ea typeface="Arial" pitchFamily="34" charset="-122"/>
                <a:cs typeface="Arial" pitchFamily="34" charset="-120"/>
              </a:rPr>
              <a:t>3 CHAINS</a:t>
            </a:r>
            <a:endParaRPr lang="en-US" sz="1250" dirty="0"/>
          </a:p>
        </p:txBody>
      </p:sp>
      <p:sp>
        <p:nvSpPr>
          <p:cNvPr id="54" name="Shape 47"/>
          <p:cNvSpPr/>
          <p:nvPr/>
        </p:nvSpPr>
        <p:spPr>
          <a:xfrm>
            <a:off x="8321040" y="2898648"/>
            <a:ext cx="1380744" cy="457200"/>
          </a:xfrm>
          <a:prstGeom prst="roundRect">
            <a:avLst>
              <a:gd name="adj" fmla="val 16000"/>
            </a:avLst>
          </a:prstGeom>
          <a:solidFill>
            <a:srgbClr val="172A26"/>
          </a:solidFill>
          <a:ln w="12700">
            <a:solidFill>
              <a:srgbClr val="25403A"/>
            </a:solidFill>
            <a:prstDash val="solid"/>
          </a:ln>
        </p:spPr>
      </p:sp>
      <p:sp>
        <p:nvSpPr>
          <p:cNvPr id="55" name="Text 48"/>
          <p:cNvSpPr txBox="1"/>
          <p:nvPr/>
        </p:nvSpPr>
        <p:spPr>
          <a:xfrm>
            <a:off x="8357616"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BlockID EVM · gas 0</a:t>
            </a:r>
            <a:endParaRPr lang="en-US" sz="1050" dirty="0"/>
          </a:p>
        </p:txBody>
      </p:sp>
      <p:sp>
        <p:nvSpPr>
          <p:cNvPr id="56" name="Shape 49"/>
          <p:cNvSpPr/>
          <p:nvPr/>
        </p:nvSpPr>
        <p:spPr>
          <a:xfrm>
            <a:off x="8321040" y="3465576"/>
            <a:ext cx="1380744" cy="457200"/>
          </a:xfrm>
          <a:prstGeom prst="roundRect">
            <a:avLst>
              <a:gd name="adj" fmla="val 16000"/>
            </a:avLst>
          </a:prstGeom>
          <a:solidFill>
            <a:srgbClr val="172A26"/>
          </a:solidFill>
          <a:ln w="12700">
            <a:solidFill>
              <a:srgbClr val="25403A"/>
            </a:solidFill>
            <a:prstDash val="solid"/>
          </a:ln>
        </p:spPr>
      </p:sp>
      <p:sp>
        <p:nvSpPr>
          <p:cNvPr id="57" name="Text 50"/>
          <p:cNvSpPr txBox="1"/>
          <p:nvPr/>
        </p:nvSpPr>
        <p:spPr>
          <a:xfrm>
            <a:off x="8357616"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Ethereum Hoodi</a:t>
            </a:r>
            <a:endParaRPr lang="en-US" sz="1050" dirty="0"/>
          </a:p>
        </p:txBody>
      </p:sp>
      <p:sp>
        <p:nvSpPr>
          <p:cNvPr id="58" name="Shape 51"/>
          <p:cNvSpPr/>
          <p:nvPr/>
        </p:nvSpPr>
        <p:spPr>
          <a:xfrm>
            <a:off x="8321040" y="4032504"/>
            <a:ext cx="1380744" cy="457200"/>
          </a:xfrm>
          <a:prstGeom prst="roundRect">
            <a:avLst>
              <a:gd name="adj" fmla="val 16000"/>
            </a:avLst>
          </a:prstGeom>
          <a:solidFill>
            <a:srgbClr val="172A26"/>
          </a:solidFill>
          <a:ln w="12700">
            <a:solidFill>
              <a:srgbClr val="25403A"/>
            </a:solidFill>
            <a:prstDash val="solid"/>
          </a:ln>
        </p:spPr>
      </p:sp>
      <p:sp>
        <p:nvSpPr>
          <p:cNvPr id="59" name="Text 52"/>
          <p:cNvSpPr txBox="1"/>
          <p:nvPr/>
        </p:nvSpPr>
        <p:spPr>
          <a:xfrm>
            <a:off x="8357616"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HashKey testnet</a:t>
            </a:r>
            <a:endParaRPr lang="en-US" sz="1050" dirty="0"/>
          </a:p>
        </p:txBody>
      </p:sp>
      <p:sp>
        <p:nvSpPr>
          <p:cNvPr id="60" name="Shape 53"/>
          <p:cNvSpPr/>
          <p:nvPr/>
        </p:nvSpPr>
        <p:spPr>
          <a:xfrm>
            <a:off x="9838944" y="2084832"/>
            <a:ext cx="283464" cy="914"/>
          </a:xfrm>
          <a:prstGeom prst="line">
            <a:avLst/>
          </a:prstGeom>
          <a:noFill/>
          <a:ln w="25400">
            <a:solidFill>
              <a:srgbClr val="A9BDB7"/>
            </a:solidFill>
            <a:prstDash val="solid"/>
            <a:tailEnd type="triangle"/>
          </a:ln>
        </p:spPr>
      </p:sp>
      <p:sp>
        <p:nvSpPr>
          <p:cNvPr id="61" name="Shape 54"/>
          <p:cNvSpPr/>
          <p:nvPr/>
        </p:nvSpPr>
        <p:spPr>
          <a:xfrm>
            <a:off x="10149840" y="1600200"/>
            <a:ext cx="1600200" cy="3703320"/>
          </a:xfrm>
          <a:prstGeom prst="roundRect">
            <a:avLst>
              <a:gd name="adj" fmla="val 6857"/>
            </a:avLst>
          </a:prstGeom>
          <a:solidFill>
            <a:srgbClr val="12201D"/>
          </a:solidFill>
          <a:ln w="12700">
            <a:solidFill>
              <a:srgbClr val="22A07F"/>
            </a:solidFill>
            <a:prstDash val="solid"/>
          </a:ln>
        </p:spPr>
      </p:sp>
      <p:sp>
        <p:nvSpPr>
          <p:cNvPr id="62" name="Shape 55"/>
          <p:cNvSpPr/>
          <p:nvPr/>
        </p:nvSpPr>
        <p:spPr>
          <a:xfrm>
            <a:off x="10648188" y="1783080"/>
            <a:ext cx="603504" cy="603504"/>
          </a:xfrm>
          <a:prstGeom prst="ellipse">
            <a:avLst/>
          </a:prstGeom>
          <a:solidFill>
            <a:srgbClr val="22A07F"/>
          </a:solidFill>
          <a:ln w="12700">
            <a:solidFill>
              <a:srgbClr val="22A07F"/>
            </a:solidFill>
            <a:prstDash val="solid"/>
          </a:ln>
        </p:spPr>
      </p:sp>
      <p:pic>
        <p:nvPicPr>
          <p:cNvPr id="63" name="Image 5" descr="preencoded.png">    </p:cNvPr>
          <p:cNvPicPr>
            <a:picLocks noChangeAspect="1"/>
          </p:cNvPicPr>
          <p:nvPr/>
        </p:nvPicPr>
        <p:blipFill>
          <a:blip r:embed="rId6"/>
          <a:stretch>
            <a:fillRect/>
          </a:stretch>
        </p:blipFill>
        <p:spPr>
          <a:xfrm>
            <a:off x="10799064" y="1933956"/>
            <a:ext cx="301752" cy="301752"/>
          </a:xfrm>
          <a:prstGeom prst="rect">
            <a:avLst/>
          </a:prstGeom>
        </p:spPr>
      </p:pic>
      <p:sp>
        <p:nvSpPr>
          <p:cNvPr id="64" name="Text 56"/>
          <p:cNvSpPr txBox="1"/>
          <p:nvPr/>
        </p:nvSpPr>
        <p:spPr>
          <a:xfrm>
            <a:off x="10149840" y="2468880"/>
            <a:ext cx="1600200" cy="320040"/>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PROOF</a:t>
            </a:r>
            <a:endParaRPr lang="en-US" sz="1250" dirty="0"/>
          </a:p>
        </p:txBody>
      </p:sp>
      <p:sp>
        <p:nvSpPr>
          <p:cNvPr id="65" name="Shape 57"/>
          <p:cNvSpPr/>
          <p:nvPr/>
        </p:nvSpPr>
        <p:spPr>
          <a:xfrm>
            <a:off x="10259568" y="2898648"/>
            <a:ext cx="1380744" cy="457200"/>
          </a:xfrm>
          <a:prstGeom prst="roundRect">
            <a:avLst>
              <a:gd name="adj" fmla="val 16000"/>
            </a:avLst>
          </a:prstGeom>
          <a:solidFill>
            <a:srgbClr val="172A26"/>
          </a:solidFill>
          <a:ln w="12700">
            <a:solidFill>
              <a:srgbClr val="25403A"/>
            </a:solidFill>
            <a:prstDash val="solid"/>
          </a:ln>
        </p:spPr>
      </p:sp>
      <p:sp>
        <p:nvSpPr>
          <p:cNvPr id="66" name="Text 58"/>
          <p:cNvSpPr txBox="1"/>
          <p:nvPr/>
        </p:nvSpPr>
        <p:spPr>
          <a:xfrm>
            <a:off x="10296144" y="2898648"/>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Token in MetaMask</a:t>
            </a:r>
            <a:endParaRPr lang="en-US" sz="1050" dirty="0"/>
          </a:p>
        </p:txBody>
      </p:sp>
      <p:sp>
        <p:nvSpPr>
          <p:cNvPr id="67" name="Shape 59"/>
          <p:cNvSpPr/>
          <p:nvPr/>
        </p:nvSpPr>
        <p:spPr>
          <a:xfrm>
            <a:off x="10259568" y="3465576"/>
            <a:ext cx="1380744" cy="457200"/>
          </a:xfrm>
          <a:prstGeom prst="roundRect">
            <a:avLst>
              <a:gd name="adj" fmla="val 16000"/>
            </a:avLst>
          </a:prstGeom>
          <a:solidFill>
            <a:srgbClr val="172A26"/>
          </a:solidFill>
          <a:ln w="12700">
            <a:solidFill>
              <a:srgbClr val="25403A"/>
            </a:solidFill>
            <a:prstDash val="solid"/>
          </a:ln>
        </p:spPr>
      </p:sp>
      <p:sp>
        <p:nvSpPr>
          <p:cNvPr id="68" name="Text 60"/>
          <p:cNvSpPr txBox="1"/>
          <p:nvPr/>
        </p:nvSpPr>
        <p:spPr>
          <a:xfrm>
            <a:off x="10296144" y="3465576"/>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/verify on 3 chains</a:t>
            </a:r>
            <a:endParaRPr lang="en-US" sz="1050" dirty="0"/>
          </a:p>
        </p:txBody>
      </p:sp>
      <p:sp>
        <p:nvSpPr>
          <p:cNvPr id="69" name="Shape 61"/>
          <p:cNvSpPr/>
          <p:nvPr/>
        </p:nvSpPr>
        <p:spPr>
          <a:xfrm>
            <a:off x="10259568" y="4032504"/>
            <a:ext cx="1380744" cy="457200"/>
          </a:xfrm>
          <a:prstGeom prst="roundRect">
            <a:avLst>
              <a:gd name="adj" fmla="val 16000"/>
            </a:avLst>
          </a:prstGeom>
          <a:solidFill>
            <a:srgbClr val="172A26"/>
          </a:solidFill>
          <a:ln w="12700">
            <a:solidFill>
              <a:srgbClr val="25403A"/>
            </a:solidFill>
            <a:prstDash val="solid"/>
          </a:ln>
        </p:spPr>
      </p:sp>
      <p:sp>
        <p:nvSpPr>
          <p:cNvPr id="70" name="Text 62"/>
          <p:cNvSpPr txBox="1"/>
          <p:nvPr/>
        </p:nvSpPr>
        <p:spPr>
          <a:xfrm>
            <a:off x="10296144" y="4032504"/>
            <a:ext cx="1307592" cy="457200"/>
          </a:xfrm>
          <a:prstGeom prst="rect">
            <a:avLst/>
          </a:prstGeom>
          <a:noFill/>
          <a:ln/>
        </p:spPr>
        <p:txBody>
          <a:bodyPr wrap="square" lIns="0" tIns="0" rIns="0" bIns="0" rtlCol="0" anchor="ctr"/>
          <a:lstStyle/>
          <a:p>
            <a:pPr algn="ctr" indent="0" marL="0">
              <a:buNone/>
            </a:pPr>
            <a:r>
              <a:rPr lang="en-US" sz="1050" dirty="0">
                <a:solidFill>
                  <a:srgbClr val="F2F7F5"/>
                </a:solidFill>
                <a:latin typeface="Calibri" pitchFamily="34" charset="0"/>
                <a:ea typeface="Calibri" pitchFamily="34" charset="-122"/>
                <a:cs typeface="Calibri" pitchFamily="34" charset="-120"/>
              </a:rPr>
              <a:t>Dashboard · explorer</a:t>
            </a:r>
            <a:endParaRPr lang="en-US" sz="1050" dirty="0"/>
          </a:p>
        </p:txBody>
      </p:sp>
      <p:sp>
        <p:nvSpPr>
          <p:cNvPr id="71" name="Text 63"/>
          <p:cNvSpPr txBox="1"/>
          <p:nvPr/>
        </p:nvSpPr>
        <p:spPr>
          <a:xfrm>
            <a:off x="2395728" y="5376672"/>
            <a:ext cx="1600200" cy="274320"/>
          </a:xfrm>
          <a:prstGeom prst="rect">
            <a:avLst/>
          </a:prstGeom>
          <a:noFill/>
          <a:ln/>
        </p:spPr>
        <p:txBody>
          <a:bodyPr wrap="square" lIns="0" tIns="0" rIns="0" bIns="0" rtlCol="0" anchor="ctr"/>
          <a:lstStyle/>
          <a:p>
            <a:pPr algn="ctr" indent="0" marL="0">
              <a:buNone/>
            </a:pPr>
            <a:r>
              <a:rPr lang="en-US" sz="1050" i="1" dirty="0">
                <a:solidFill>
                  <a:srgbClr val="22A07F"/>
                </a:solidFill>
                <a:latin typeface="Calibri" pitchFamily="34" charset="0"/>
                <a:ea typeface="Calibri" pitchFamily="34" charset="-122"/>
                <a:cs typeface="Calibri" pitchFamily="34" charset="-120"/>
              </a:rPr>
              <a:t>no keys</a:t>
            </a:r>
            <a:endParaRPr lang="en-US" sz="1050" dirty="0"/>
          </a:p>
        </p:txBody>
      </p:sp>
      <p:sp>
        <p:nvSpPr>
          <p:cNvPr id="72" name="Text 64"/>
          <p:cNvSpPr txBox="1"/>
          <p:nvPr/>
        </p:nvSpPr>
        <p:spPr>
          <a:xfrm>
            <a:off x="4334256" y="5376672"/>
            <a:ext cx="1600200" cy="274320"/>
          </a:xfrm>
          <a:prstGeom prst="rect">
            <a:avLst/>
          </a:prstGeom>
          <a:noFill/>
          <a:ln/>
        </p:spPr>
        <p:txBody>
          <a:bodyPr wrap="square" lIns="0" tIns="0" rIns="0" bIns="0" rtlCol="0" anchor="ctr"/>
          <a:lstStyle/>
          <a:p>
            <a:pPr algn="ctr" indent="0" marL="0">
              <a:buNone/>
            </a:pPr>
            <a:r>
              <a:rPr lang="en-US" sz="1050" i="1" dirty="0">
                <a:solidFill>
                  <a:srgbClr val="E3A83A"/>
                </a:solidFill>
                <a:latin typeface="Calibri" pitchFamily="34" charset="0"/>
                <a:ea typeface="Calibri" pitchFamily="34" charset="-122"/>
                <a:cs typeface="Calibri" pitchFamily="34" charset="-120"/>
              </a:rPr>
              <a:t>4-eyes</a:t>
            </a:r>
            <a:endParaRPr lang="en-US" sz="1050" dirty="0"/>
          </a:p>
        </p:txBody>
      </p:sp>
      <p:sp>
        <p:nvSpPr>
          <p:cNvPr id="73" name="Text 65"/>
          <p:cNvSpPr txBox="1"/>
          <p:nvPr/>
        </p:nvSpPr>
        <p:spPr>
          <a:xfrm>
            <a:off x="6272784" y="5376672"/>
            <a:ext cx="1600200" cy="274320"/>
          </a:xfrm>
          <a:prstGeom prst="rect">
            <a:avLst/>
          </a:prstGeom>
          <a:noFill/>
          <a:ln/>
        </p:spPr>
        <p:txBody>
          <a:bodyPr wrap="square" lIns="0" tIns="0" rIns="0" bIns="0" rtlCol="0" anchor="ctr"/>
          <a:lstStyle/>
          <a:p>
            <a:pPr algn="ctr" indent="0" marL="0">
              <a:buNone/>
            </a:pPr>
            <a:r>
              <a:rPr lang="en-US" sz="1050" i="1" dirty="0">
                <a:solidFill>
                  <a:srgbClr val="E4675A"/>
                </a:solidFill>
                <a:latin typeface="Calibri" pitchFamily="34" charset="0"/>
                <a:ea typeface="Calibri" pitchFamily="34" charset="-122"/>
                <a:cs typeface="Calibri" pitchFamily="34" charset="-120"/>
              </a:rPr>
              <a:t>AI can't reach it</a:t>
            </a:r>
            <a:endParaRPr lang="en-US" sz="1050" dirty="0"/>
          </a:p>
        </p:txBody>
      </p:sp>
      <p:sp>
        <p:nvSpPr>
          <p:cNvPr id="74" name="Text 66"/>
          <p:cNvSpPr txBox="1"/>
          <p:nvPr/>
        </p:nvSpPr>
        <p:spPr>
          <a:xfrm>
            <a:off x="8211312" y="5376672"/>
            <a:ext cx="1600200" cy="274320"/>
          </a:xfrm>
          <a:prstGeom prst="rect">
            <a:avLst/>
          </a:prstGeom>
          <a:noFill/>
          <a:ln/>
        </p:spPr>
        <p:txBody>
          <a:bodyPr wrap="square" lIns="0" tIns="0" rIns="0" bIns="0" rtlCol="0" anchor="ctr"/>
          <a:lstStyle/>
          <a:p>
            <a:pPr algn="ctr" indent="0" marL="0">
              <a:buNone/>
            </a:pPr>
            <a:r>
              <a:rPr lang="en-US" sz="1050" i="1" dirty="0">
                <a:solidFill>
                  <a:srgbClr val="9B7BD4"/>
                </a:solidFill>
                <a:latin typeface="Calibri" pitchFamily="34" charset="0"/>
                <a:ea typeface="Calibri" pitchFamily="34" charset="-122"/>
                <a:cs typeface="Calibri" pitchFamily="34" charset="-120"/>
              </a:rPr>
              <a:t>register → mirror → root</a:t>
            </a:r>
            <a:endParaRPr lang="en-US" sz="1050" dirty="0"/>
          </a:p>
        </p:txBody>
      </p:sp>
      <p:sp>
        <p:nvSpPr>
          <p:cNvPr id="75" name="Shape 67"/>
          <p:cNvSpPr/>
          <p:nvPr/>
        </p:nvSpPr>
        <p:spPr>
          <a:xfrm>
            <a:off x="457200" y="5760720"/>
            <a:ext cx="11292840" cy="566928"/>
          </a:xfrm>
          <a:prstGeom prst="roundRect">
            <a:avLst>
              <a:gd name="adj" fmla="val 19355"/>
            </a:avLst>
          </a:prstGeom>
          <a:solidFill>
            <a:srgbClr val="172A26"/>
          </a:solidFill>
          <a:ln w="12700">
            <a:solidFill>
              <a:srgbClr val="25403A"/>
            </a:solidFill>
            <a:prstDash val="solid"/>
          </a:ln>
        </p:spPr>
      </p:sp>
      <p:sp>
        <p:nvSpPr>
          <p:cNvPr id="76" name="Text 68"/>
          <p:cNvSpPr txBox="1"/>
          <p:nvPr/>
        </p:nvSpPr>
        <p:spPr>
          <a:xfrm>
            <a:off x="685800" y="5760720"/>
            <a:ext cx="10881360" cy="566928"/>
          </a:xfrm>
          <a:prstGeom prst="rect">
            <a:avLst/>
          </a:prstGeom>
          <a:noFill/>
          <a:ln/>
        </p:spPr>
        <p:txBody>
          <a:bodyPr wrap="square" lIns="0" tIns="0" rIns="0" bIns="0" rtlCol="0" anchor="ctr"/>
          <a:lstStyle/>
          <a:p>
            <a:pPr indent="0" marL="0">
              <a:buNone/>
            </a:pPr>
            <a:r>
              <a:rPr lang="en-US" sz="1150" b="1" dirty="0">
                <a:solidFill>
                  <a:srgbClr val="E3A83A"/>
                </a:solidFill>
                <a:latin typeface="Calibri" pitchFamily="34" charset="0"/>
                <a:ea typeface="Calibri" pitchFamily="34" charset="-122"/>
                <a:cs typeface="Calibri" pitchFamily="34" charset="-120"/>
              </a:rPr>
              <a:t>Under the hood  </a:t>
            </a:r>
            <a:pPr indent="0" marL="0">
              <a:buNone/>
            </a:pPr>
            <a:r>
              <a:rPr lang="en-US" sz="1150" dirty="0">
                <a:solidFill>
                  <a:srgbClr val="A9BDB7"/>
                </a:solidFill>
                <a:latin typeface="Calibri" pitchFamily="34" charset="0"/>
                <a:ea typeface="Calibri" pitchFamily="34" charset="-122"/>
                <a:cs typeface="Calibri" pitchFamily="34" charset="-120"/>
              </a:rPr>
              <a:t>LLM: SambaNova → Claude → DeepInfra   ·   Search: Brave → Claude web search   ·   Postgres job queue   ·   Merkle cap-table roots in CapTableAnchor   ·   nginx + Cloudflare, CSP, SSRF-safe crawler</a:t>
            </a:r>
            <a:endParaRPr lang="en-US" sz="1150" dirty="0"/>
          </a:p>
        </p:txBody>
      </p:sp>
      <p:sp>
        <p:nvSpPr>
          <p:cNvPr id="77" name="Text 6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4 / 7   ·   AUDITABLE AI VALUATION</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AI scores. A fixed formula decides. Every figure is cited.</a:t>
            </a:r>
            <a:endParaRPr lang="en-US" sz="3000" dirty="0"/>
          </a:p>
        </p:txBody>
      </p:sp>
      <p:sp>
        <p:nvSpPr>
          <p:cNvPr id="4" name="Shape 2"/>
          <p:cNvSpPr/>
          <p:nvPr/>
        </p:nvSpPr>
        <p:spPr>
          <a:xfrm>
            <a:off x="457200" y="1600200"/>
            <a:ext cx="7726680" cy="3919664"/>
          </a:xfrm>
          <a:prstGeom prst="roundRect">
            <a:avLst>
              <a:gd name="adj" fmla="val 1866"/>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45920"/>
            <a:ext cx="7635240" cy="3828224"/>
          </a:xfrm>
          <a:prstGeom prst="rect">
            <a:avLst/>
          </a:prstGeom>
        </p:spPr>
      </p:pic>
      <p:sp>
        <p:nvSpPr>
          <p:cNvPr id="6" name="Shape 3"/>
          <p:cNvSpPr/>
          <p:nvPr/>
        </p:nvSpPr>
        <p:spPr>
          <a:xfrm>
            <a:off x="8458200" y="1645920"/>
            <a:ext cx="3246120" cy="4526280"/>
          </a:xfrm>
          <a:prstGeom prst="roundRect">
            <a:avLst>
              <a:gd name="adj" fmla="val 3380"/>
            </a:avLst>
          </a:prstGeom>
          <a:solidFill>
            <a:srgbClr val="12201D"/>
          </a:solidFill>
          <a:ln w="12700">
            <a:solidFill>
              <a:srgbClr val="25403A"/>
            </a:solidFill>
            <a:prstDash val="solid"/>
          </a:ln>
        </p:spPr>
      </p:sp>
      <p:sp>
        <p:nvSpPr>
          <p:cNvPr id="7" name="Shape 4"/>
          <p:cNvSpPr/>
          <p:nvPr/>
        </p:nvSpPr>
        <p:spPr>
          <a:xfrm>
            <a:off x="8686800" y="1956816"/>
            <a:ext cx="146304" cy="146304"/>
          </a:xfrm>
          <a:prstGeom prst="ellipse">
            <a:avLst/>
          </a:prstGeom>
          <a:solidFill>
            <a:srgbClr val="22A07F"/>
          </a:solidFill>
          <a:ln w="12700">
            <a:solidFill>
              <a:srgbClr val="22A07F"/>
            </a:solidFill>
            <a:prstDash val="solid"/>
          </a:ln>
        </p:spPr>
      </p:sp>
      <p:sp>
        <p:nvSpPr>
          <p:cNvPr id="8" name="Text 5"/>
          <p:cNvSpPr txBox="1"/>
          <p:nvPr/>
        </p:nvSpPr>
        <p:spPr>
          <a:xfrm>
            <a:off x="8961120" y="1874520"/>
            <a:ext cx="265176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7 SVI dimensions, fixed public weights</a:t>
            </a:r>
            <a:endParaRPr lang="en-US" sz="1500" dirty="0"/>
          </a:p>
        </p:txBody>
      </p:sp>
      <p:sp>
        <p:nvSpPr>
          <p:cNvPr id="9" name="Shape 6"/>
          <p:cNvSpPr/>
          <p:nvPr/>
        </p:nvSpPr>
        <p:spPr>
          <a:xfrm>
            <a:off x="8686800" y="2688336"/>
            <a:ext cx="146304" cy="146304"/>
          </a:xfrm>
          <a:prstGeom prst="ellipse">
            <a:avLst/>
          </a:prstGeom>
          <a:solidFill>
            <a:srgbClr val="22A07F"/>
          </a:solidFill>
          <a:ln w="12700">
            <a:solidFill>
              <a:srgbClr val="22A07F"/>
            </a:solidFill>
            <a:prstDash val="solid"/>
          </a:ln>
        </p:spPr>
      </p:sp>
      <p:sp>
        <p:nvSpPr>
          <p:cNvPr id="10" name="Text 7"/>
          <p:cNvSpPr txBox="1"/>
          <p:nvPr/>
        </p:nvSpPr>
        <p:spPr>
          <a:xfrm>
            <a:off x="8961120" y="2606040"/>
            <a:ext cx="265176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Grade A–E → A$ low · mid · high</a:t>
            </a:r>
            <a:endParaRPr lang="en-US" sz="1500" dirty="0"/>
          </a:p>
        </p:txBody>
      </p:sp>
      <p:sp>
        <p:nvSpPr>
          <p:cNvPr id="11" name="Shape 8"/>
          <p:cNvSpPr/>
          <p:nvPr/>
        </p:nvSpPr>
        <p:spPr>
          <a:xfrm>
            <a:off x="8686800" y="3419856"/>
            <a:ext cx="146304" cy="146304"/>
          </a:xfrm>
          <a:prstGeom prst="ellipse">
            <a:avLst/>
          </a:prstGeom>
          <a:solidFill>
            <a:srgbClr val="22A07F"/>
          </a:solidFill>
          <a:ln w="12700">
            <a:solidFill>
              <a:srgbClr val="22A07F"/>
            </a:solidFill>
            <a:prstDash val="solid"/>
          </a:ln>
        </p:spPr>
      </p:sp>
      <p:sp>
        <p:nvSpPr>
          <p:cNvPr id="12" name="Text 9"/>
          <p:cNvSpPr txBox="1"/>
          <p:nvPr/>
        </p:nvSpPr>
        <p:spPr>
          <a:xfrm>
            <a:off x="8961120" y="3337560"/>
            <a:ext cx="265176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Uncited claims are dropped</a:t>
            </a:r>
            <a:endParaRPr lang="en-US" sz="1500" dirty="0"/>
          </a:p>
        </p:txBody>
      </p:sp>
      <p:sp>
        <p:nvSpPr>
          <p:cNvPr id="13" name="Shape 10"/>
          <p:cNvSpPr/>
          <p:nvPr/>
        </p:nvSpPr>
        <p:spPr>
          <a:xfrm>
            <a:off x="8686800" y="4151376"/>
            <a:ext cx="146304" cy="146304"/>
          </a:xfrm>
          <a:prstGeom prst="ellipse">
            <a:avLst/>
          </a:prstGeom>
          <a:solidFill>
            <a:srgbClr val="22A07F"/>
          </a:solidFill>
          <a:ln w="12700">
            <a:solidFill>
              <a:srgbClr val="22A07F"/>
            </a:solidFill>
            <a:prstDash val="solid"/>
          </a:ln>
        </p:spPr>
      </p:sp>
      <p:sp>
        <p:nvSpPr>
          <p:cNvPr id="14" name="Text 11"/>
          <p:cNvSpPr txBox="1"/>
          <p:nvPr/>
        </p:nvSpPr>
        <p:spPr>
          <a:xfrm>
            <a:off x="8961120" y="4069080"/>
            <a:ext cx="265176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Admin can override any AI score</a:t>
            </a:r>
            <a:endParaRPr lang="en-US" sz="1500" dirty="0"/>
          </a:p>
        </p:txBody>
      </p:sp>
      <p:sp>
        <p:nvSpPr>
          <p:cNvPr id="15" name="Text 12"/>
          <p:cNvSpPr txBox="1"/>
          <p:nvPr/>
        </p:nvSpPr>
        <p:spPr>
          <a:xfrm>
            <a:off x="8686800" y="4892040"/>
            <a:ext cx="2834640" cy="1097280"/>
          </a:xfrm>
          <a:prstGeom prst="rect">
            <a:avLst/>
          </a:prstGeom>
          <a:noFill/>
          <a:ln/>
        </p:spPr>
        <p:txBody>
          <a:bodyPr wrap="square" lIns="0" tIns="0" rIns="0" bIns="0" rtlCol="0" anchor="ctr"/>
          <a:lstStyle/>
          <a:p>
            <a:pPr indent="0" marL="0">
              <a:buNone/>
            </a:pPr>
            <a:r>
              <a:rPr lang="en-US" sz="1300" b="1" dirty="0">
                <a:solidFill>
                  <a:srgbClr val="E3A83A"/>
                </a:solidFill>
                <a:latin typeface="Calibri" pitchFamily="34" charset="0"/>
                <a:ea typeface="Calibri" pitchFamily="34" charset="-122"/>
                <a:cs typeface="Calibri" pitchFamily="34" charset="-120"/>
              </a:rPr>
              <a:t>Airwallex → 8 competitors found (Wise, Revolut, OFX…) → SVI 54.5 · grade C</a:t>
            </a:r>
            <a:endParaRPr lang="en-US" sz="1300" dirty="0"/>
          </a:p>
        </p:txBody>
      </p:sp>
      <p:sp>
        <p:nvSpPr>
          <p:cNvPr id="16" name="Text 13"/>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5 / 7   ·   ONE APPROVAL</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One approval creates the register on three chains.</a:t>
            </a:r>
            <a:endParaRPr lang="en-US" sz="3000" dirty="0"/>
          </a:p>
        </p:txBody>
      </p:sp>
      <p:sp>
        <p:nvSpPr>
          <p:cNvPr id="4" name="Shape 2"/>
          <p:cNvSpPr/>
          <p:nvPr/>
        </p:nvSpPr>
        <p:spPr>
          <a:xfrm>
            <a:off x="457200" y="1600200"/>
            <a:ext cx="5623560" cy="3414554"/>
          </a:xfrm>
          <a:prstGeom prst="roundRect">
            <a:avLst>
              <a:gd name="adj" fmla="val 2142"/>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45920"/>
            <a:ext cx="5532120" cy="3323114"/>
          </a:xfrm>
          <a:prstGeom prst="rect">
            <a:avLst/>
          </a:prstGeom>
        </p:spPr>
      </p:pic>
      <p:sp>
        <p:nvSpPr>
          <p:cNvPr id="6" name="Shape 3"/>
          <p:cNvSpPr/>
          <p:nvPr/>
        </p:nvSpPr>
        <p:spPr>
          <a:xfrm>
            <a:off x="6309360" y="1600200"/>
            <a:ext cx="5440680" cy="2127123"/>
          </a:xfrm>
          <a:prstGeom prst="roundRect">
            <a:avLst>
              <a:gd name="adj" fmla="val 3439"/>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7" name="Image 1" descr="preencoded.png">    </p:cNvPr>
          <p:cNvPicPr>
            <a:picLocks noChangeAspect="1"/>
          </p:cNvPicPr>
          <p:nvPr/>
        </p:nvPicPr>
        <p:blipFill>
          <a:blip r:embed="rId2"/>
          <a:stretch>
            <a:fillRect/>
          </a:stretch>
        </p:blipFill>
        <p:spPr>
          <a:xfrm>
            <a:off x="6355080" y="1645920"/>
            <a:ext cx="5349240" cy="2035683"/>
          </a:xfrm>
          <a:prstGeom prst="rect">
            <a:avLst/>
          </a:prstGeom>
        </p:spPr>
      </p:pic>
      <p:sp>
        <p:nvSpPr>
          <p:cNvPr id="8" name="Shape 4"/>
          <p:cNvSpPr/>
          <p:nvPr/>
        </p:nvSpPr>
        <p:spPr>
          <a:xfrm>
            <a:off x="6355080" y="4001643"/>
            <a:ext cx="1709928" cy="960120"/>
          </a:xfrm>
          <a:prstGeom prst="roundRect">
            <a:avLst>
              <a:gd name="adj" fmla="val 11429"/>
            </a:avLst>
          </a:prstGeom>
          <a:solidFill>
            <a:srgbClr val="12201D"/>
          </a:solidFill>
          <a:ln w="12700">
            <a:solidFill>
              <a:srgbClr val="22A07F"/>
            </a:solidFill>
            <a:prstDash val="solid"/>
          </a:ln>
        </p:spPr>
      </p:sp>
      <p:sp>
        <p:nvSpPr>
          <p:cNvPr id="9" name="Text 5"/>
          <p:cNvSpPr txBox="1"/>
          <p:nvPr/>
        </p:nvSpPr>
        <p:spPr>
          <a:xfrm>
            <a:off x="6446520" y="4111371"/>
            <a:ext cx="1527048" cy="320040"/>
          </a:xfrm>
          <a:prstGeom prst="rect">
            <a:avLst/>
          </a:prstGeom>
          <a:noFill/>
          <a:ln/>
        </p:spPr>
        <p:txBody>
          <a:bodyPr wrap="square" lIns="0" tIns="0" rIns="0" bIns="0" rtlCol="0" anchor="ctr"/>
          <a:lstStyle/>
          <a:p>
            <a:pPr algn="ctr" indent="0" marL="0">
              <a:buNone/>
            </a:pPr>
            <a:r>
              <a:rPr lang="en-US" sz="1250" b="1" dirty="0">
                <a:solidFill>
                  <a:srgbClr val="22A07F"/>
                </a:solidFill>
                <a:latin typeface="Arial" pitchFamily="34" charset="0"/>
                <a:ea typeface="Arial" pitchFamily="34" charset="-122"/>
                <a:cs typeface="Arial" pitchFamily="34" charset="-120"/>
              </a:rPr>
              <a:t>BlockID EVM</a:t>
            </a:r>
            <a:endParaRPr lang="en-US" sz="1250" dirty="0"/>
          </a:p>
        </p:txBody>
      </p:sp>
      <p:sp>
        <p:nvSpPr>
          <p:cNvPr id="10" name="Text 6"/>
          <p:cNvSpPr txBox="1"/>
          <p:nvPr/>
        </p:nvSpPr>
        <p:spPr>
          <a:xfrm>
            <a:off x="6446520" y="4458843"/>
            <a:ext cx="1527048" cy="411480"/>
          </a:xfrm>
          <a:prstGeom prst="rect">
            <a:avLst/>
          </a:prstGeom>
          <a:noFill/>
          <a:ln/>
        </p:spPr>
        <p:txBody>
          <a:bodyPr wrap="square" lIns="0" tIns="0" rIns="0" bIns="0" rtlCol="0" anchor="ctr"/>
          <a:lstStyle/>
          <a:p>
            <a:pPr algn="ctr" indent="0" marL="0">
              <a:buNone/>
            </a:pPr>
            <a:r>
              <a:rPr lang="en-US" sz="1050" dirty="0">
                <a:solidFill>
                  <a:srgbClr val="A9BDB7"/>
                </a:solidFill>
                <a:latin typeface="Calibri" pitchFamily="34" charset="0"/>
                <a:ea typeface="Calibri" pitchFamily="34" charset="-122"/>
                <a:cs typeface="Calibri" pitchFamily="34" charset="-120"/>
              </a:rPr>
              <a:t>register of record · gas 0</a:t>
            </a:r>
            <a:endParaRPr lang="en-US" sz="1050" dirty="0"/>
          </a:p>
        </p:txBody>
      </p:sp>
      <p:sp>
        <p:nvSpPr>
          <p:cNvPr id="11" name="Shape 7"/>
          <p:cNvSpPr/>
          <p:nvPr/>
        </p:nvSpPr>
        <p:spPr>
          <a:xfrm>
            <a:off x="8074152" y="4477131"/>
            <a:ext cx="82296" cy="914"/>
          </a:xfrm>
          <a:prstGeom prst="line">
            <a:avLst/>
          </a:prstGeom>
          <a:noFill/>
          <a:ln w="25400">
            <a:solidFill>
              <a:srgbClr val="A9BDB7"/>
            </a:solidFill>
            <a:prstDash val="solid"/>
            <a:tailEnd type="triangle"/>
          </a:ln>
        </p:spPr>
      </p:sp>
      <p:sp>
        <p:nvSpPr>
          <p:cNvPr id="12" name="Shape 8"/>
          <p:cNvSpPr/>
          <p:nvPr/>
        </p:nvSpPr>
        <p:spPr>
          <a:xfrm>
            <a:off x="8165592" y="4001643"/>
            <a:ext cx="1709928" cy="960120"/>
          </a:xfrm>
          <a:prstGeom prst="roundRect">
            <a:avLst>
              <a:gd name="adj" fmla="val 11429"/>
            </a:avLst>
          </a:prstGeom>
          <a:solidFill>
            <a:srgbClr val="12201D"/>
          </a:solidFill>
          <a:ln w="12700">
            <a:solidFill>
              <a:srgbClr val="5D8AD6"/>
            </a:solidFill>
            <a:prstDash val="solid"/>
          </a:ln>
        </p:spPr>
      </p:sp>
      <p:sp>
        <p:nvSpPr>
          <p:cNvPr id="13" name="Text 9"/>
          <p:cNvSpPr txBox="1"/>
          <p:nvPr/>
        </p:nvSpPr>
        <p:spPr>
          <a:xfrm>
            <a:off x="8257032" y="4111371"/>
            <a:ext cx="1527048" cy="320040"/>
          </a:xfrm>
          <a:prstGeom prst="rect">
            <a:avLst/>
          </a:prstGeom>
          <a:noFill/>
          <a:ln/>
        </p:spPr>
        <p:txBody>
          <a:bodyPr wrap="square" lIns="0" tIns="0" rIns="0" bIns="0" rtlCol="0" anchor="ctr"/>
          <a:lstStyle/>
          <a:p>
            <a:pPr algn="ctr" indent="0" marL="0">
              <a:buNone/>
            </a:pPr>
            <a:r>
              <a:rPr lang="en-US" sz="1250" b="1" dirty="0">
                <a:solidFill>
                  <a:srgbClr val="5D8AD6"/>
                </a:solidFill>
                <a:latin typeface="Arial" pitchFamily="34" charset="0"/>
                <a:ea typeface="Arial" pitchFamily="34" charset="-122"/>
                <a:cs typeface="Arial" pitchFamily="34" charset="-120"/>
              </a:rPr>
              <a:t>Ethereum Hoodi</a:t>
            </a:r>
            <a:endParaRPr lang="en-US" sz="1250" dirty="0"/>
          </a:p>
        </p:txBody>
      </p:sp>
      <p:sp>
        <p:nvSpPr>
          <p:cNvPr id="14" name="Text 10"/>
          <p:cNvSpPr txBox="1"/>
          <p:nvPr/>
        </p:nvSpPr>
        <p:spPr>
          <a:xfrm>
            <a:off x="8257032" y="4458843"/>
            <a:ext cx="1527048" cy="411480"/>
          </a:xfrm>
          <a:prstGeom prst="rect">
            <a:avLst/>
          </a:prstGeom>
          <a:noFill/>
          <a:ln/>
        </p:spPr>
        <p:txBody>
          <a:bodyPr wrap="square" lIns="0" tIns="0" rIns="0" bIns="0" rtlCol="0" anchor="ctr"/>
          <a:lstStyle/>
          <a:p>
            <a:pPr algn="ctr" indent="0" marL="0">
              <a:buNone/>
            </a:pPr>
            <a:r>
              <a:rPr lang="en-US" sz="1050" dirty="0">
                <a:solidFill>
                  <a:srgbClr val="A9BDB7"/>
                </a:solidFill>
                <a:latin typeface="Calibri" pitchFamily="34" charset="0"/>
                <a:ea typeface="Calibri" pitchFamily="34" charset="-122"/>
                <a:cs typeface="Calibri" pitchFamily="34" charset="-120"/>
              </a:rPr>
              <a:t>paused mirror + Merkle root</a:t>
            </a:r>
            <a:endParaRPr lang="en-US" sz="1050" dirty="0"/>
          </a:p>
        </p:txBody>
      </p:sp>
      <p:sp>
        <p:nvSpPr>
          <p:cNvPr id="15" name="Shape 11"/>
          <p:cNvSpPr/>
          <p:nvPr/>
        </p:nvSpPr>
        <p:spPr>
          <a:xfrm>
            <a:off x="9884664" y="4477131"/>
            <a:ext cx="82296" cy="914"/>
          </a:xfrm>
          <a:prstGeom prst="line">
            <a:avLst/>
          </a:prstGeom>
          <a:noFill/>
          <a:ln w="25400">
            <a:solidFill>
              <a:srgbClr val="A9BDB7"/>
            </a:solidFill>
            <a:prstDash val="solid"/>
            <a:tailEnd type="triangle"/>
          </a:ln>
        </p:spPr>
      </p:sp>
      <p:sp>
        <p:nvSpPr>
          <p:cNvPr id="16" name="Shape 12"/>
          <p:cNvSpPr/>
          <p:nvPr/>
        </p:nvSpPr>
        <p:spPr>
          <a:xfrm>
            <a:off x="9976104" y="4001643"/>
            <a:ext cx="1709928" cy="960120"/>
          </a:xfrm>
          <a:prstGeom prst="roundRect">
            <a:avLst>
              <a:gd name="adj" fmla="val 11429"/>
            </a:avLst>
          </a:prstGeom>
          <a:solidFill>
            <a:srgbClr val="12201D"/>
          </a:solidFill>
          <a:ln w="12700">
            <a:solidFill>
              <a:srgbClr val="E3A83A"/>
            </a:solidFill>
            <a:prstDash val="solid"/>
          </a:ln>
        </p:spPr>
      </p:sp>
      <p:sp>
        <p:nvSpPr>
          <p:cNvPr id="17" name="Text 13"/>
          <p:cNvSpPr txBox="1"/>
          <p:nvPr/>
        </p:nvSpPr>
        <p:spPr>
          <a:xfrm>
            <a:off x="10067544" y="4111371"/>
            <a:ext cx="1527048" cy="320040"/>
          </a:xfrm>
          <a:prstGeom prst="rect">
            <a:avLst/>
          </a:prstGeom>
          <a:noFill/>
          <a:ln/>
        </p:spPr>
        <p:txBody>
          <a:bodyPr wrap="square" lIns="0" tIns="0" rIns="0" bIns="0" rtlCol="0" anchor="ctr"/>
          <a:lstStyle/>
          <a:p>
            <a:pPr algn="ctr" indent="0" marL="0">
              <a:buNone/>
            </a:pPr>
            <a:r>
              <a:rPr lang="en-US" sz="1250" b="1" dirty="0">
                <a:solidFill>
                  <a:srgbClr val="E3A83A"/>
                </a:solidFill>
                <a:latin typeface="Arial" pitchFamily="34" charset="0"/>
                <a:ea typeface="Arial" pitchFamily="34" charset="-122"/>
                <a:cs typeface="Arial" pitchFamily="34" charset="-120"/>
              </a:rPr>
              <a:t>HashKey testnet</a:t>
            </a:r>
            <a:endParaRPr lang="en-US" sz="1250" dirty="0"/>
          </a:p>
        </p:txBody>
      </p:sp>
      <p:sp>
        <p:nvSpPr>
          <p:cNvPr id="18" name="Text 14"/>
          <p:cNvSpPr txBox="1"/>
          <p:nvPr/>
        </p:nvSpPr>
        <p:spPr>
          <a:xfrm>
            <a:off x="10067544" y="4458843"/>
            <a:ext cx="1527048" cy="411480"/>
          </a:xfrm>
          <a:prstGeom prst="rect">
            <a:avLst/>
          </a:prstGeom>
          <a:noFill/>
          <a:ln/>
        </p:spPr>
        <p:txBody>
          <a:bodyPr wrap="square" lIns="0" tIns="0" rIns="0" bIns="0" rtlCol="0" anchor="ctr"/>
          <a:lstStyle/>
          <a:p>
            <a:pPr algn="ctr" indent="0" marL="0">
              <a:buNone/>
            </a:pPr>
            <a:r>
              <a:rPr lang="en-US" sz="1050" dirty="0">
                <a:solidFill>
                  <a:srgbClr val="A9BDB7"/>
                </a:solidFill>
                <a:latin typeface="Calibri" pitchFamily="34" charset="0"/>
                <a:ea typeface="Calibri" pitchFamily="34" charset="-122"/>
                <a:cs typeface="Calibri" pitchFamily="34" charset="-120"/>
              </a:rPr>
              <a:t>paused mirror + Merkle root</a:t>
            </a:r>
            <a:endParaRPr lang="en-US" sz="1050" dirty="0"/>
          </a:p>
        </p:txBody>
      </p:sp>
      <p:sp>
        <p:nvSpPr>
          <p:cNvPr id="19" name="Text 15"/>
          <p:cNvSpPr txBox="1"/>
          <p:nvPr/>
        </p:nvSpPr>
        <p:spPr>
          <a:xfrm>
            <a:off x="6355080" y="5144643"/>
            <a:ext cx="5349240" cy="548640"/>
          </a:xfrm>
          <a:prstGeom prst="rect">
            <a:avLst/>
          </a:prstGeom>
          <a:noFill/>
          <a:ln/>
        </p:spPr>
        <p:txBody>
          <a:bodyPr wrap="square" lIns="0" tIns="0" rIns="0" bIns="0" rtlCol="0" anchor="ctr"/>
          <a:lstStyle/>
          <a:p>
            <a:pPr indent="0" marL="0">
              <a:buNone/>
            </a:pPr>
            <a:r>
              <a:rPr lang="en-US" sz="1350" dirty="0">
                <a:solidFill>
                  <a:srgbClr val="F2F7F5"/>
                </a:solidFill>
                <a:latin typeface="Calibri" pitchFamily="34" charset="0"/>
                <a:ea typeface="Calibri" pitchFamily="34" charset="-122"/>
                <a:cs typeface="Calibri" pitchFamily="34" charset="-120"/>
              </a:rPr>
              <a:t>Founder watches every step live; shareholders add the token to MetaMask on any chain.</a:t>
            </a:r>
            <a:endParaRPr lang="en-US" sz="1350" dirty="0"/>
          </a:p>
        </p:txBody>
      </p:sp>
      <p:sp>
        <p:nvSpPr>
          <p:cNvPr id="20" name="Text 16"/>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6 / 7   ·   PROOF</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Anyone can prove the report was never changed.</a:t>
            </a:r>
            <a:endParaRPr lang="en-US" sz="3000" dirty="0"/>
          </a:p>
        </p:txBody>
      </p:sp>
      <p:sp>
        <p:nvSpPr>
          <p:cNvPr id="4" name="Shape 2"/>
          <p:cNvSpPr/>
          <p:nvPr/>
        </p:nvSpPr>
        <p:spPr>
          <a:xfrm>
            <a:off x="457200" y="1600200"/>
            <a:ext cx="5532120" cy="2452846"/>
          </a:xfrm>
          <a:prstGeom prst="roundRect">
            <a:avLst>
              <a:gd name="adj" fmla="val 2982"/>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5" name="Image 0" descr="preencoded.png">    </p:cNvPr>
          <p:cNvPicPr>
            <a:picLocks noChangeAspect="1"/>
          </p:cNvPicPr>
          <p:nvPr/>
        </p:nvPicPr>
        <p:blipFill>
          <a:blip r:embed="rId1"/>
          <a:stretch>
            <a:fillRect/>
          </a:stretch>
        </p:blipFill>
        <p:spPr>
          <a:xfrm>
            <a:off x="502920" y="1645920"/>
            <a:ext cx="5440680" cy="2361406"/>
          </a:xfrm>
          <a:prstGeom prst="rect">
            <a:avLst/>
          </a:prstGeom>
        </p:spPr>
      </p:pic>
      <p:sp>
        <p:nvSpPr>
          <p:cNvPr id="6" name="Shape 3"/>
          <p:cNvSpPr/>
          <p:nvPr/>
        </p:nvSpPr>
        <p:spPr>
          <a:xfrm>
            <a:off x="6217920" y="1600200"/>
            <a:ext cx="5532120" cy="2452846"/>
          </a:xfrm>
          <a:prstGeom prst="roundRect">
            <a:avLst>
              <a:gd name="adj" fmla="val 2982"/>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7" name="Image 1" descr="preencoded.png">    </p:cNvPr>
          <p:cNvPicPr>
            <a:picLocks noChangeAspect="1"/>
          </p:cNvPicPr>
          <p:nvPr/>
        </p:nvPicPr>
        <p:blipFill>
          <a:blip r:embed="rId2"/>
          <a:stretch>
            <a:fillRect/>
          </a:stretch>
        </p:blipFill>
        <p:spPr>
          <a:xfrm>
            <a:off x="6263640" y="1645920"/>
            <a:ext cx="5440680" cy="2361406"/>
          </a:xfrm>
          <a:prstGeom prst="rect">
            <a:avLst/>
          </a:prstGeom>
        </p:spPr>
      </p:pic>
      <p:sp>
        <p:nvSpPr>
          <p:cNvPr id="8" name="Shape 4"/>
          <p:cNvSpPr/>
          <p:nvPr/>
        </p:nvSpPr>
        <p:spPr>
          <a:xfrm>
            <a:off x="502920" y="4281646"/>
            <a:ext cx="5440680" cy="502920"/>
          </a:xfrm>
          <a:prstGeom prst="roundRect">
            <a:avLst>
              <a:gd name="adj" fmla="val 21818"/>
            </a:avLst>
          </a:prstGeom>
          <a:solidFill>
            <a:srgbClr val="172A26"/>
          </a:solidFill>
          <a:ln w="12700">
            <a:solidFill>
              <a:srgbClr val="22A07F"/>
            </a:solidFill>
            <a:prstDash val="solid"/>
          </a:ln>
        </p:spPr>
      </p:sp>
      <p:sp>
        <p:nvSpPr>
          <p:cNvPr id="9" name="Text 5"/>
          <p:cNvSpPr txBox="1"/>
          <p:nvPr/>
        </p:nvSpPr>
        <p:spPr>
          <a:xfrm>
            <a:off x="640080" y="4281646"/>
            <a:ext cx="5212080" cy="502920"/>
          </a:xfrm>
          <a:prstGeom prst="rect">
            <a:avLst/>
          </a:prstGeom>
          <a:noFill/>
          <a:ln/>
        </p:spPr>
        <p:txBody>
          <a:bodyPr wrap="square" lIns="0" tIns="0" rIns="0" bIns="0" rtlCol="0" anchor="ctr"/>
          <a:lstStyle/>
          <a:p>
            <a:pPr indent="0" marL="0">
              <a:buNone/>
            </a:pPr>
            <a:r>
              <a:rPr lang="en-US" sz="1350" b="1" dirty="0">
                <a:solidFill>
                  <a:srgbClr val="22A07F"/>
                </a:solidFill>
                <a:latin typeface="Calibri" pitchFamily="34" charset="0"/>
                <a:ea typeface="Calibri" pitchFamily="34" charset="-122"/>
                <a:cs typeface="Calibri" pitchFamily="34" charset="-120"/>
              </a:rPr>
              <a:t>✓  Browser = server = on-chain on BlockID · Hoodi · HashKey</a:t>
            </a:r>
            <a:endParaRPr lang="en-US" sz="1350" dirty="0"/>
          </a:p>
        </p:txBody>
      </p:sp>
      <p:sp>
        <p:nvSpPr>
          <p:cNvPr id="10" name="Shape 6"/>
          <p:cNvSpPr/>
          <p:nvPr/>
        </p:nvSpPr>
        <p:spPr>
          <a:xfrm>
            <a:off x="6263640" y="4281646"/>
            <a:ext cx="5440680" cy="502920"/>
          </a:xfrm>
          <a:prstGeom prst="roundRect">
            <a:avLst>
              <a:gd name="adj" fmla="val 21818"/>
            </a:avLst>
          </a:prstGeom>
          <a:solidFill>
            <a:srgbClr val="172A26"/>
          </a:solidFill>
          <a:ln w="12700">
            <a:solidFill>
              <a:srgbClr val="E4675A"/>
            </a:solidFill>
            <a:prstDash val="solid"/>
          </a:ln>
        </p:spPr>
      </p:sp>
      <p:sp>
        <p:nvSpPr>
          <p:cNvPr id="11" name="Text 7"/>
          <p:cNvSpPr txBox="1"/>
          <p:nvPr/>
        </p:nvSpPr>
        <p:spPr>
          <a:xfrm>
            <a:off x="6400800" y="4281646"/>
            <a:ext cx="5212080" cy="502920"/>
          </a:xfrm>
          <a:prstGeom prst="rect">
            <a:avLst/>
          </a:prstGeom>
          <a:noFill/>
          <a:ln/>
        </p:spPr>
        <p:txBody>
          <a:bodyPr wrap="square" lIns="0" tIns="0" rIns="0" bIns="0" rtlCol="0" anchor="ctr"/>
          <a:lstStyle/>
          <a:p>
            <a:pPr indent="0" marL="0">
              <a:buNone/>
            </a:pPr>
            <a:r>
              <a:rPr lang="en-US" sz="1350" b="1" dirty="0">
                <a:solidFill>
                  <a:srgbClr val="E4675A"/>
                </a:solidFill>
                <a:latin typeface="Calibri" pitchFamily="34" charset="0"/>
                <a:ea typeface="Calibri" pitchFamily="34" charset="-122"/>
                <a:cs typeface="Calibri" pitchFamily="34" charset="-120"/>
              </a:rPr>
              <a:t>✗  Change one score → hash no longer matches</a:t>
            </a:r>
            <a:endParaRPr lang="en-US" sz="1350" dirty="0"/>
          </a:p>
        </p:txBody>
      </p:sp>
      <p:sp>
        <p:nvSpPr>
          <p:cNvPr id="12" name="Text 8"/>
          <p:cNvSpPr txBox="1"/>
          <p:nvPr/>
        </p:nvSpPr>
        <p:spPr>
          <a:xfrm>
            <a:off x="502920" y="4967446"/>
            <a:ext cx="11155680" cy="365760"/>
          </a:xfrm>
          <a:prstGeom prst="rect">
            <a:avLst/>
          </a:prstGeom>
          <a:noFill/>
          <a:ln/>
        </p:spPr>
        <p:txBody>
          <a:bodyPr wrap="square" lIns="0" tIns="0" rIns="0" bIns="0" rtlCol="0" anchor="ctr"/>
          <a:lstStyle/>
          <a:p>
            <a:pPr indent="0" marL="0">
              <a:buNone/>
            </a:pPr>
            <a:r>
              <a:rPr lang="en-US" sz="1500" dirty="0">
                <a:solidFill>
                  <a:srgbClr val="F2F7F5"/>
                </a:solidFill>
                <a:latin typeface="Calibri" pitchFamily="34" charset="0"/>
                <a:ea typeface="Calibri" pitchFamily="34" charset="-122"/>
                <a:cs typeface="Calibri" pitchFamily="34" charset="-120"/>
              </a:rPr>
              <a:t>Try it, no login: eth.blockid.au/verify/EBA</a:t>
            </a:r>
            <a:endParaRPr lang="en-US" sz="1500" dirty="0"/>
          </a:p>
        </p:txBody>
      </p:sp>
      <p:sp>
        <p:nvSpPr>
          <p:cNvPr id="13" name="Text 9"/>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311"/>
        </a:solidFill>
      </p:bgPr>
    </p:bg>
    <p:spTree>
      <p:nvGrpSpPr>
        <p:cNvPr id="1" name=""/>
        <p:cNvGrpSpPr/>
        <p:nvPr/>
      </p:nvGrpSpPr>
      <p:grpSpPr>
        <a:xfrm>
          <a:off x="0" y="0"/>
          <a:ext cx="0" cy="0"/>
          <a:chOff x="0" y="0"/>
          <a:chExt cx="0" cy="0"/>
        </a:xfrm>
      </p:grpSpPr>
      <p:sp>
        <p:nvSpPr>
          <p:cNvPr id="2" name="Text 0"/>
          <p:cNvSpPr txBox="1"/>
          <p:nvPr/>
        </p:nvSpPr>
        <p:spPr>
          <a:xfrm>
            <a:off x="502920" y="320040"/>
            <a:ext cx="8229600" cy="274320"/>
          </a:xfrm>
          <a:prstGeom prst="rect">
            <a:avLst/>
          </a:prstGeom>
          <a:noFill/>
          <a:ln/>
        </p:spPr>
        <p:txBody>
          <a:bodyPr wrap="square" lIns="0" tIns="0" rIns="0" bIns="0" rtlCol="0" anchor="ctr"/>
          <a:lstStyle/>
          <a:p>
            <a:pPr indent="0" marL="0">
              <a:buNone/>
            </a:pPr>
            <a:r>
              <a:rPr lang="en-US" sz="1150" b="1" spc="300" kern="0" dirty="0">
                <a:solidFill>
                  <a:srgbClr val="22A07F"/>
                </a:solidFill>
                <a:latin typeface="Calibri" pitchFamily="34" charset="0"/>
                <a:ea typeface="Calibri" pitchFamily="34" charset="-122"/>
                <a:cs typeface="Calibri" pitchFamily="34" charset="-120"/>
              </a:rPr>
              <a:t>7 / 7   ·   LIVE TODAY</a:t>
            </a:r>
            <a:endParaRPr lang="en-US" sz="1150" dirty="0"/>
          </a:p>
        </p:txBody>
      </p:sp>
      <p:sp>
        <p:nvSpPr>
          <p:cNvPr id="3" name="Text 1"/>
          <p:cNvSpPr txBox="1"/>
          <p:nvPr/>
        </p:nvSpPr>
        <p:spPr>
          <a:xfrm>
            <a:off x="502920" y="640080"/>
            <a:ext cx="11155680" cy="731520"/>
          </a:xfrm>
          <a:prstGeom prst="rect">
            <a:avLst/>
          </a:prstGeom>
          <a:noFill/>
          <a:ln/>
        </p:spPr>
        <p:txBody>
          <a:bodyPr wrap="square" lIns="0" tIns="0" rIns="0" bIns="0" rtlCol="0" anchor="ctr"/>
          <a:lstStyle/>
          <a:p>
            <a:pPr indent="0" marL="0">
              <a:buNone/>
            </a:pPr>
            <a:r>
              <a:rPr lang="en-US" sz="3000" b="1" dirty="0">
                <a:solidFill>
                  <a:srgbClr val="F2F7F5"/>
                </a:solidFill>
                <a:latin typeface="Arial" pitchFamily="34" charset="0"/>
                <a:ea typeface="Arial" pitchFamily="34" charset="-122"/>
                <a:cs typeface="Arial" pitchFamily="34" charset="-120"/>
              </a:rPr>
              <a:t>Live today — and built for the people who issue equity.</a:t>
            </a:r>
            <a:endParaRPr lang="en-US" sz="3000" dirty="0"/>
          </a:p>
        </p:txBody>
      </p:sp>
      <p:sp>
        <p:nvSpPr>
          <p:cNvPr id="4" name="Shape 2"/>
          <p:cNvSpPr/>
          <p:nvPr/>
        </p:nvSpPr>
        <p:spPr>
          <a:xfrm>
            <a:off x="502920" y="1645920"/>
            <a:ext cx="1874520" cy="1371600"/>
          </a:xfrm>
          <a:prstGeom prst="roundRect">
            <a:avLst>
              <a:gd name="adj" fmla="val 8000"/>
            </a:avLst>
          </a:prstGeom>
          <a:solidFill>
            <a:srgbClr val="12201D"/>
          </a:solidFill>
          <a:ln w="12700">
            <a:solidFill>
              <a:srgbClr val="25403A"/>
            </a:solidFill>
            <a:prstDash val="solid"/>
          </a:ln>
        </p:spPr>
      </p:sp>
      <p:sp>
        <p:nvSpPr>
          <p:cNvPr id="5" name="Text 3"/>
          <p:cNvSpPr txBox="1"/>
          <p:nvPr/>
        </p:nvSpPr>
        <p:spPr>
          <a:xfrm>
            <a:off x="667512" y="1719072"/>
            <a:ext cx="1645920" cy="685800"/>
          </a:xfrm>
          <a:prstGeom prst="rect">
            <a:avLst/>
          </a:prstGeom>
          <a:noFill/>
          <a:ln/>
        </p:spPr>
        <p:txBody>
          <a:bodyPr wrap="square" lIns="0" tIns="0" rIns="0" bIns="0" rtlCol="0" anchor="ctr"/>
          <a:lstStyle/>
          <a:p>
            <a:pPr indent="0" marL="0">
              <a:buNone/>
            </a:pPr>
            <a:r>
              <a:rPr lang="en-US" sz="3000" b="1" dirty="0">
                <a:solidFill>
                  <a:srgbClr val="22A07F"/>
                </a:solidFill>
                <a:latin typeface="Arial" pitchFamily="34" charset="0"/>
                <a:ea typeface="Arial" pitchFamily="34" charset="-122"/>
                <a:cs typeface="Arial" pitchFamily="34" charset="-120"/>
              </a:rPr>
              <a:t>7</a:t>
            </a:r>
            <a:endParaRPr lang="en-US" sz="3000" dirty="0"/>
          </a:p>
        </p:txBody>
      </p:sp>
      <p:sp>
        <p:nvSpPr>
          <p:cNvPr id="6" name="Text 4"/>
          <p:cNvSpPr txBox="1"/>
          <p:nvPr/>
        </p:nvSpPr>
        <p:spPr>
          <a:xfrm>
            <a:off x="667512" y="2423160"/>
            <a:ext cx="1645920" cy="502920"/>
          </a:xfrm>
          <a:prstGeom prst="rect">
            <a:avLst/>
          </a:prstGeom>
          <a:noFill/>
          <a:ln/>
        </p:spPr>
        <p:txBody>
          <a:bodyPr wrap="square" lIns="0" tIns="0" rIns="0" bIns="0" rtlCol="0" anchor="ctr"/>
          <a:lstStyle/>
          <a:p>
            <a:pPr indent="0" marL="0">
              <a:buNone/>
            </a:pPr>
            <a:r>
              <a:rPr lang="en-US" sz="1200" dirty="0">
                <a:solidFill>
                  <a:srgbClr val="A9BDB7"/>
                </a:solidFill>
                <a:latin typeface="Calibri" pitchFamily="34" charset="0"/>
                <a:ea typeface="Calibri" pitchFamily="34" charset="-122"/>
                <a:cs typeface="Calibri" pitchFamily="34" charset="-120"/>
              </a:rPr>
              <a:t>companies tokenised</a:t>
            </a:r>
            <a:endParaRPr lang="en-US" sz="1200" dirty="0"/>
          </a:p>
        </p:txBody>
      </p:sp>
      <p:sp>
        <p:nvSpPr>
          <p:cNvPr id="7" name="Shape 5"/>
          <p:cNvSpPr/>
          <p:nvPr/>
        </p:nvSpPr>
        <p:spPr>
          <a:xfrm>
            <a:off x="2514600" y="1645920"/>
            <a:ext cx="1874520" cy="1371600"/>
          </a:xfrm>
          <a:prstGeom prst="roundRect">
            <a:avLst>
              <a:gd name="adj" fmla="val 8000"/>
            </a:avLst>
          </a:prstGeom>
          <a:solidFill>
            <a:srgbClr val="12201D"/>
          </a:solidFill>
          <a:ln w="12700">
            <a:solidFill>
              <a:srgbClr val="25403A"/>
            </a:solidFill>
            <a:prstDash val="solid"/>
          </a:ln>
        </p:spPr>
      </p:sp>
      <p:sp>
        <p:nvSpPr>
          <p:cNvPr id="8" name="Text 6"/>
          <p:cNvSpPr txBox="1"/>
          <p:nvPr/>
        </p:nvSpPr>
        <p:spPr>
          <a:xfrm>
            <a:off x="2679192" y="1719072"/>
            <a:ext cx="1645920" cy="685800"/>
          </a:xfrm>
          <a:prstGeom prst="rect">
            <a:avLst/>
          </a:prstGeom>
          <a:noFill/>
          <a:ln/>
        </p:spPr>
        <p:txBody>
          <a:bodyPr wrap="square" lIns="0" tIns="0" rIns="0" bIns="0" rtlCol="0" anchor="ctr"/>
          <a:lstStyle/>
          <a:p>
            <a:pPr indent="0" marL="0">
              <a:buNone/>
            </a:pPr>
            <a:r>
              <a:rPr lang="en-US" sz="3000" b="1" dirty="0">
                <a:solidFill>
                  <a:srgbClr val="E3A83A"/>
                </a:solidFill>
                <a:latin typeface="Arial" pitchFamily="34" charset="0"/>
                <a:ea typeface="Arial" pitchFamily="34" charset="-122"/>
                <a:cs typeface="Arial" pitchFamily="34" charset="-120"/>
              </a:rPr>
              <a:t>21</a:t>
            </a:r>
            <a:endParaRPr lang="en-US" sz="3000" dirty="0"/>
          </a:p>
        </p:txBody>
      </p:sp>
      <p:sp>
        <p:nvSpPr>
          <p:cNvPr id="9" name="Text 7"/>
          <p:cNvSpPr txBox="1"/>
          <p:nvPr/>
        </p:nvSpPr>
        <p:spPr>
          <a:xfrm>
            <a:off x="2679192" y="2423160"/>
            <a:ext cx="1645920" cy="502920"/>
          </a:xfrm>
          <a:prstGeom prst="rect">
            <a:avLst/>
          </a:prstGeom>
          <a:noFill/>
          <a:ln/>
        </p:spPr>
        <p:txBody>
          <a:bodyPr wrap="square" lIns="0" tIns="0" rIns="0" bIns="0" rtlCol="0" anchor="ctr"/>
          <a:lstStyle/>
          <a:p>
            <a:pPr indent="0" marL="0">
              <a:buNone/>
            </a:pPr>
            <a:r>
              <a:rPr lang="en-US" sz="1200" dirty="0">
                <a:solidFill>
                  <a:srgbClr val="A9BDB7"/>
                </a:solidFill>
                <a:latin typeface="Calibri" pitchFamily="34" charset="0"/>
                <a:ea typeface="Calibri" pitchFamily="34" charset="-122"/>
                <a:cs typeface="Calibri" pitchFamily="34" charset="-120"/>
              </a:rPr>
              <a:t>token contracts, 3 chains</a:t>
            </a:r>
            <a:endParaRPr lang="en-US" sz="1200" dirty="0"/>
          </a:p>
        </p:txBody>
      </p:sp>
      <p:sp>
        <p:nvSpPr>
          <p:cNvPr id="10" name="Shape 8"/>
          <p:cNvSpPr/>
          <p:nvPr/>
        </p:nvSpPr>
        <p:spPr>
          <a:xfrm>
            <a:off x="4526280" y="1645920"/>
            <a:ext cx="1874520" cy="1371600"/>
          </a:xfrm>
          <a:prstGeom prst="roundRect">
            <a:avLst>
              <a:gd name="adj" fmla="val 8000"/>
            </a:avLst>
          </a:prstGeom>
          <a:solidFill>
            <a:srgbClr val="12201D"/>
          </a:solidFill>
          <a:ln w="12700">
            <a:solidFill>
              <a:srgbClr val="25403A"/>
            </a:solidFill>
            <a:prstDash val="solid"/>
          </a:ln>
        </p:spPr>
      </p:sp>
      <p:sp>
        <p:nvSpPr>
          <p:cNvPr id="11" name="Text 9"/>
          <p:cNvSpPr txBox="1"/>
          <p:nvPr/>
        </p:nvSpPr>
        <p:spPr>
          <a:xfrm>
            <a:off x="4690872" y="1719072"/>
            <a:ext cx="1645920" cy="685800"/>
          </a:xfrm>
          <a:prstGeom prst="rect">
            <a:avLst/>
          </a:prstGeom>
          <a:noFill/>
          <a:ln/>
        </p:spPr>
        <p:txBody>
          <a:bodyPr wrap="square" lIns="0" tIns="0" rIns="0" bIns="0" rtlCol="0" anchor="ctr"/>
          <a:lstStyle/>
          <a:p>
            <a:pPr indent="0" marL="0">
              <a:buNone/>
            </a:pPr>
            <a:r>
              <a:rPr lang="en-US" sz="3000" b="1" dirty="0">
                <a:solidFill>
                  <a:srgbClr val="22A07F"/>
                </a:solidFill>
                <a:latin typeface="Arial" pitchFamily="34" charset="0"/>
                <a:ea typeface="Arial" pitchFamily="34" charset="-122"/>
                <a:cs typeface="Arial" pitchFamily="34" charset="-120"/>
              </a:rPr>
              <a:t>A$444M</a:t>
            </a:r>
            <a:endParaRPr lang="en-US" sz="3000" dirty="0"/>
          </a:p>
        </p:txBody>
      </p:sp>
      <p:sp>
        <p:nvSpPr>
          <p:cNvPr id="12" name="Text 10"/>
          <p:cNvSpPr txBox="1"/>
          <p:nvPr/>
        </p:nvSpPr>
        <p:spPr>
          <a:xfrm>
            <a:off x="4690872" y="2423160"/>
            <a:ext cx="1645920" cy="502920"/>
          </a:xfrm>
          <a:prstGeom prst="rect">
            <a:avLst/>
          </a:prstGeom>
          <a:noFill/>
          <a:ln/>
        </p:spPr>
        <p:txBody>
          <a:bodyPr wrap="square" lIns="0" tIns="0" rIns="0" bIns="0" rtlCol="0" anchor="ctr"/>
          <a:lstStyle/>
          <a:p>
            <a:pPr indent="0" marL="0">
              <a:buNone/>
            </a:pPr>
            <a:r>
              <a:rPr lang="en-US" sz="1200" dirty="0">
                <a:solidFill>
                  <a:srgbClr val="A9BDB7"/>
                </a:solidFill>
                <a:latin typeface="Calibri" pitchFamily="34" charset="0"/>
                <a:ea typeface="Calibri" pitchFamily="34" charset="-122"/>
                <a:cs typeface="Calibri" pitchFamily="34" charset="-120"/>
              </a:rPr>
              <a:t>valuation on-chain</a:t>
            </a:r>
            <a:endParaRPr lang="en-US" sz="1200" dirty="0"/>
          </a:p>
        </p:txBody>
      </p:sp>
      <p:sp>
        <p:nvSpPr>
          <p:cNvPr id="13" name="Shape 11"/>
          <p:cNvSpPr/>
          <p:nvPr/>
        </p:nvSpPr>
        <p:spPr>
          <a:xfrm>
            <a:off x="6537960" y="1645920"/>
            <a:ext cx="1874520" cy="1371600"/>
          </a:xfrm>
          <a:prstGeom prst="roundRect">
            <a:avLst>
              <a:gd name="adj" fmla="val 8000"/>
            </a:avLst>
          </a:prstGeom>
          <a:solidFill>
            <a:srgbClr val="12201D"/>
          </a:solidFill>
          <a:ln w="12700">
            <a:solidFill>
              <a:srgbClr val="25403A"/>
            </a:solidFill>
            <a:prstDash val="solid"/>
          </a:ln>
        </p:spPr>
      </p:sp>
      <p:sp>
        <p:nvSpPr>
          <p:cNvPr id="14" name="Text 12"/>
          <p:cNvSpPr txBox="1"/>
          <p:nvPr/>
        </p:nvSpPr>
        <p:spPr>
          <a:xfrm>
            <a:off x="6702552" y="1719072"/>
            <a:ext cx="1645920" cy="685800"/>
          </a:xfrm>
          <a:prstGeom prst="rect">
            <a:avLst/>
          </a:prstGeom>
          <a:noFill/>
          <a:ln/>
        </p:spPr>
        <p:txBody>
          <a:bodyPr wrap="square" lIns="0" tIns="0" rIns="0" bIns="0" rtlCol="0" anchor="ctr"/>
          <a:lstStyle/>
          <a:p>
            <a:pPr indent="0" marL="0">
              <a:buNone/>
            </a:pPr>
            <a:r>
              <a:rPr lang="en-US" sz="3000" b="1" dirty="0">
                <a:solidFill>
                  <a:srgbClr val="E3A83A"/>
                </a:solidFill>
                <a:latin typeface="Arial" pitchFamily="34" charset="0"/>
                <a:ea typeface="Arial" pitchFamily="34" charset="-122"/>
                <a:cs typeface="Arial" pitchFamily="34" charset="-120"/>
              </a:rPr>
              <a:t>100%</a:t>
            </a:r>
            <a:endParaRPr lang="en-US" sz="3000" dirty="0"/>
          </a:p>
        </p:txBody>
      </p:sp>
      <p:sp>
        <p:nvSpPr>
          <p:cNvPr id="15" name="Text 13"/>
          <p:cNvSpPr txBox="1"/>
          <p:nvPr/>
        </p:nvSpPr>
        <p:spPr>
          <a:xfrm>
            <a:off x="6702552" y="2423160"/>
            <a:ext cx="1645920" cy="502920"/>
          </a:xfrm>
          <a:prstGeom prst="rect">
            <a:avLst/>
          </a:prstGeom>
          <a:noFill/>
          <a:ln/>
        </p:spPr>
        <p:txBody>
          <a:bodyPr wrap="square" lIns="0" tIns="0" rIns="0" bIns="0" rtlCol="0" anchor="ctr"/>
          <a:lstStyle/>
          <a:p>
            <a:pPr indent="0" marL="0">
              <a:buNone/>
            </a:pPr>
            <a:r>
              <a:rPr lang="en-US" sz="1200" dirty="0">
                <a:solidFill>
                  <a:srgbClr val="A9BDB7"/>
                </a:solidFill>
                <a:latin typeface="Calibri" pitchFamily="34" charset="0"/>
                <a:ea typeface="Calibri" pitchFamily="34" charset="-122"/>
                <a:cs typeface="Calibri" pitchFamily="34" charset="-120"/>
              </a:rPr>
              <a:t>hashes verified</a:t>
            </a:r>
            <a:endParaRPr lang="en-US" sz="1200" dirty="0"/>
          </a:p>
        </p:txBody>
      </p:sp>
      <p:sp>
        <p:nvSpPr>
          <p:cNvPr id="16" name="Shape 14"/>
          <p:cNvSpPr/>
          <p:nvPr/>
        </p:nvSpPr>
        <p:spPr>
          <a:xfrm>
            <a:off x="457200" y="3246120"/>
            <a:ext cx="3931920" cy="2091690"/>
          </a:xfrm>
          <a:prstGeom prst="roundRect">
            <a:avLst>
              <a:gd name="adj" fmla="val 3497"/>
            </a:avLst>
          </a:prstGeom>
          <a:solidFill>
            <a:srgbClr val="25403A"/>
          </a:solidFill>
          <a:ln w="12700">
            <a:solidFill>
              <a:srgbClr val="25403A"/>
            </a:solidFill>
            <a:prstDash val="solid"/>
          </a:ln>
          <a:effectLst>
            <a:outerShdw sx="100000" sy="100000" kx="0" ky="0" algn="bl" rotWithShape="0" blurRad="177800" dist="63500" dir="5400000">
              <a:srgbClr val="000000">
                <a:alpha val="50000"/>
              </a:srgbClr>
            </a:outerShdw>
          </a:effectLst>
        </p:spPr>
      </p:sp>
      <p:pic>
        <p:nvPicPr>
          <p:cNvPr id="17" name="Image 0" descr="preencoded.png">    </p:cNvPr>
          <p:cNvPicPr>
            <a:picLocks noChangeAspect="1"/>
          </p:cNvPicPr>
          <p:nvPr/>
        </p:nvPicPr>
        <p:blipFill>
          <a:blip r:embed="rId1"/>
          <a:stretch>
            <a:fillRect/>
          </a:stretch>
        </p:blipFill>
        <p:spPr>
          <a:xfrm>
            <a:off x="502920" y="3291840"/>
            <a:ext cx="3840480" cy="2000250"/>
          </a:xfrm>
          <a:prstGeom prst="rect">
            <a:avLst/>
          </a:prstGeom>
        </p:spPr>
      </p:pic>
      <p:sp>
        <p:nvSpPr>
          <p:cNvPr id="18" name="Shape 15"/>
          <p:cNvSpPr/>
          <p:nvPr/>
        </p:nvSpPr>
        <p:spPr>
          <a:xfrm>
            <a:off x="4663440" y="3291840"/>
            <a:ext cx="3611880" cy="2880360"/>
          </a:xfrm>
          <a:prstGeom prst="roundRect">
            <a:avLst>
              <a:gd name="adj" fmla="val 3810"/>
            </a:avLst>
          </a:prstGeom>
          <a:solidFill>
            <a:srgbClr val="12201D"/>
          </a:solidFill>
          <a:ln w="12700">
            <a:solidFill>
              <a:srgbClr val="25403A"/>
            </a:solidFill>
            <a:prstDash val="solid"/>
          </a:ln>
        </p:spPr>
      </p:sp>
      <p:sp>
        <p:nvSpPr>
          <p:cNvPr id="19" name="Text 16"/>
          <p:cNvSpPr txBox="1"/>
          <p:nvPr/>
        </p:nvSpPr>
        <p:spPr>
          <a:xfrm>
            <a:off x="4892040" y="3429000"/>
            <a:ext cx="2743200" cy="274320"/>
          </a:xfrm>
          <a:prstGeom prst="rect">
            <a:avLst/>
          </a:prstGeom>
          <a:noFill/>
          <a:ln/>
        </p:spPr>
        <p:txBody>
          <a:bodyPr wrap="square" lIns="0" tIns="0" rIns="0" bIns="0" rtlCol="0" anchor="ctr"/>
          <a:lstStyle/>
          <a:p>
            <a:pPr indent="0" marL="0">
              <a:buNone/>
            </a:pPr>
            <a:r>
              <a:rPr lang="en-US" sz="1150" b="1" spc="300" kern="0" dirty="0">
                <a:solidFill>
                  <a:srgbClr val="E3A83A"/>
                </a:solidFill>
                <a:latin typeface="Calibri" pitchFamily="34" charset="0"/>
                <a:ea typeface="Calibri" pitchFamily="34" charset="-122"/>
                <a:cs typeface="Calibri" pitchFamily="34" charset="-120"/>
              </a:rPr>
              <a:t>WHO BUYS</a:t>
            </a:r>
            <a:endParaRPr lang="en-US" sz="1150" dirty="0"/>
          </a:p>
        </p:txBody>
      </p:sp>
      <p:sp>
        <p:nvSpPr>
          <p:cNvPr id="20" name="Shape 17"/>
          <p:cNvSpPr/>
          <p:nvPr/>
        </p:nvSpPr>
        <p:spPr>
          <a:xfrm>
            <a:off x="4892040" y="3877056"/>
            <a:ext cx="146304" cy="146304"/>
          </a:xfrm>
          <a:prstGeom prst="ellipse">
            <a:avLst/>
          </a:prstGeom>
          <a:solidFill>
            <a:srgbClr val="E3A83A"/>
          </a:solidFill>
          <a:ln w="12700">
            <a:solidFill>
              <a:srgbClr val="E3A83A"/>
            </a:solidFill>
            <a:prstDash val="solid"/>
          </a:ln>
        </p:spPr>
      </p:sp>
      <p:sp>
        <p:nvSpPr>
          <p:cNvPr id="21" name="Text 18"/>
          <p:cNvSpPr txBox="1"/>
          <p:nvPr/>
        </p:nvSpPr>
        <p:spPr>
          <a:xfrm>
            <a:off x="5166360" y="3794760"/>
            <a:ext cx="30175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Founders &amp; SMEs (AU · VN)</a:t>
            </a:r>
            <a:endParaRPr lang="en-US" sz="1500" dirty="0"/>
          </a:p>
        </p:txBody>
      </p:sp>
      <p:sp>
        <p:nvSpPr>
          <p:cNvPr id="22" name="Shape 19"/>
          <p:cNvSpPr/>
          <p:nvPr/>
        </p:nvSpPr>
        <p:spPr>
          <a:xfrm>
            <a:off x="4892040" y="4352544"/>
            <a:ext cx="146304" cy="146304"/>
          </a:xfrm>
          <a:prstGeom prst="ellipse">
            <a:avLst/>
          </a:prstGeom>
          <a:solidFill>
            <a:srgbClr val="E3A83A"/>
          </a:solidFill>
          <a:ln w="12700">
            <a:solidFill>
              <a:srgbClr val="E3A83A"/>
            </a:solidFill>
            <a:prstDash val="solid"/>
          </a:ln>
        </p:spPr>
      </p:sp>
      <p:sp>
        <p:nvSpPr>
          <p:cNvPr id="23" name="Text 20"/>
          <p:cNvSpPr txBox="1"/>
          <p:nvPr/>
        </p:nvSpPr>
        <p:spPr>
          <a:xfrm>
            <a:off x="5166360" y="4270248"/>
            <a:ext cx="30175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Accelerators &amp; VCs</a:t>
            </a:r>
            <a:endParaRPr lang="en-US" sz="1500" dirty="0"/>
          </a:p>
        </p:txBody>
      </p:sp>
      <p:sp>
        <p:nvSpPr>
          <p:cNvPr id="24" name="Shape 21"/>
          <p:cNvSpPr/>
          <p:nvPr/>
        </p:nvSpPr>
        <p:spPr>
          <a:xfrm>
            <a:off x="4892040" y="4828032"/>
            <a:ext cx="146304" cy="146304"/>
          </a:xfrm>
          <a:prstGeom prst="ellipse">
            <a:avLst/>
          </a:prstGeom>
          <a:solidFill>
            <a:srgbClr val="E3A83A"/>
          </a:solidFill>
          <a:ln w="12700">
            <a:solidFill>
              <a:srgbClr val="E3A83A"/>
            </a:solidFill>
            <a:prstDash val="solid"/>
          </a:ln>
        </p:spPr>
      </p:sp>
      <p:sp>
        <p:nvSpPr>
          <p:cNvPr id="25" name="Text 22"/>
          <p:cNvSpPr txBox="1"/>
          <p:nvPr/>
        </p:nvSpPr>
        <p:spPr>
          <a:xfrm>
            <a:off x="5166360" y="4745736"/>
            <a:ext cx="30175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Licensed CSF / transfer agents</a:t>
            </a:r>
            <a:endParaRPr lang="en-US" sz="1500" dirty="0"/>
          </a:p>
        </p:txBody>
      </p:sp>
      <p:sp>
        <p:nvSpPr>
          <p:cNvPr id="26" name="Shape 23"/>
          <p:cNvSpPr/>
          <p:nvPr/>
        </p:nvSpPr>
        <p:spPr>
          <a:xfrm>
            <a:off x="4892040" y="5303520"/>
            <a:ext cx="146304" cy="146304"/>
          </a:xfrm>
          <a:prstGeom prst="ellipse">
            <a:avLst/>
          </a:prstGeom>
          <a:solidFill>
            <a:srgbClr val="E3A83A"/>
          </a:solidFill>
          <a:ln w="12700">
            <a:solidFill>
              <a:srgbClr val="E3A83A"/>
            </a:solidFill>
            <a:prstDash val="solid"/>
          </a:ln>
        </p:spPr>
      </p:sp>
      <p:sp>
        <p:nvSpPr>
          <p:cNvPr id="27" name="Text 24"/>
          <p:cNvSpPr txBox="1"/>
          <p:nvPr/>
        </p:nvSpPr>
        <p:spPr>
          <a:xfrm>
            <a:off x="5166360" y="5221224"/>
            <a:ext cx="3017520" cy="566928"/>
          </a:xfrm>
          <a:prstGeom prst="rect">
            <a:avLst/>
          </a:prstGeom>
          <a:noFill/>
          <a:ln/>
        </p:spPr>
        <p:txBody>
          <a:bodyPr wrap="square" lIns="0" tIns="0" rIns="0" bIns="0" rtlCol="0" anchor="t"/>
          <a:lstStyle/>
          <a:p>
            <a:pPr indent="0" marL="0">
              <a:buNone/>
            </a:pPr>
            <a:r>
              <a:rPr lang="en-US" sz="1500" dirty="0">
                <a:solidFill>
                  <a:srgbClr val="F2F7F5"/>
                </a:solidFill>
                <a:latin typeface="Calibri" pitchFamily="34" charset="0"/>
                <a:ea typeface="Calibri" pitchFamily="34" charset="-122"/>
                <a:cs typeface="Calibri" pitchFamily="34" charset="-120"/>
              </a:rPr>
              <a:t>RWA ecosystems (HashKey)</a:t>
            </a:r>
            <a:endParaRPr lang="en-US" sz="1500" dirty="0"/>
          </a:p>
        </p:txBody>
      </p:sp>
      <p:sp>
        <p:nvSpPr>
          <p:cNvPr id="28" name="Text 25"/>
          <p:cNvSpPr txBox="1"/>
          <p:nvPr/>
        </p:nvSpPr>
        <p:spPr>
          <a:xfrm>
            <a:off x="4892040" y="5715000"/>
            <a:ext cx="3291840" cy="365760"/>
          </a:xfrm>
          <a:prstGeom prst="rect">
            <a:avLst/>
          </a:prstGeom>
          <a:noFill/>
          <a:ln/>
        </p:spPr>
        <p:txBody>
          <a:bodyPr wrap="square" lIns="0" tIns="0" rIns="0" bIns="0" rtlCol="0" anchor="ctr"/>
          <a:lstStyle/>
          <a:p>
            <a:pPr indent="0" marL="0">
              <a:buNone/>
            </a:pPr>
            <a:r>
              <a:rPr lang="en-US" sz="1150" dirty="0">
                <a:solidFill>
                  <a:srgbClr val="A9BDB7"/>
                </a:solidFill>
                <a:latin typeface="Calibri" pitchFamily="34" charset="0"/>
                <a:ea typeface="Calibri" pitchFamily="34" charset="-122"/>
                <a:cs typeface="Calibri" pitchFamily="34" charset="-120"/>
              </a:rPr>
              <a:t>Fees: issuance · cap-table SaaS · transfers · dividends</a:t>
            </a:r>
            <a:endParaRPr lang="en-US" sz="1150" dirty="0"/>
          </a:p>
        </p:txBody>
      </p:sp>
      <p:sp>
        <p:nvSpPr>
          <p:cNvPr id="29" name="Shape 26"/>
          <p:cNvSpPr/>
          <p:nvPr/>
        </p:nvSpPr>
        <p:spPr>
          <a:xfrm>
            <a:off x="8549640" y="1645920"/>
            <a:ext cx="3154680" cy="4526280"/>
          </a:xfrm>
          <a:prstGeom prst="roundRect">
            <a:avLst>
              <a:gd name="adj" fmla="val 3478"/>
            </a:avLst>
          </a:prstGeom>
          <a:solidFill>
            <a:srgbClr val="172A26"/>
          </a:solidFill>
          <a:ln w="12700">
            <a:solidFill>
              <a:srgbClr val="22A07F"/>
            </a:solidFill>
            <a:prstDash val="solid"/>
          </a:ln>
        </p:spPr>
      </p:sp>
      <p:pic>
        <p:nvPicPr>
          <p:cNvPr id="30" name="Image 1" descr="preencoded.png">    </p:cNvPr>
          <p:cNvPicPr>
            <a:picLocks noChangeAspect="1"/>
          </p:cNvPicPr>
          <p:nvPr/>
        </p:nvPicPr>
        <p:blipFill>
          <a:blip r:embed="rId2"/>
          <a:stretch>
            <a:fillRect/>
          </a:stretch>
        </p:blipFill>
        <p:spPr>
          <a:xfrm>
            <a:off x="9253728" y="1874520"/>
            <a:ext cx="1737360" cy="1737360"/>
          </a:xfrm>
          <a:prstGeom prst="rect">
            <a:avLst/>
          </a:prstGeom>
        </p:spPr>
      </p:pic>
      <p:sp>
        <p:nvSpPr>
          <p:cNvPr id="31" name="Text 27"/>
          <p:cNvSpPr txBox="1"/>
          <p:nvPr/>
        </p:nvSpPr>
        <p:spPr>
          <a:xfrm>
            <a:off x="8686800" y="3749040"/>
            <a:ext cx="2880360" cy="411480"/>
          </a:xfrm>
          <a:prstGeom prst="rect">
            <a:avLst/>
          </a:prstGeom>
          <a:noFill/>
          <a:ln/>
        </p:spPr>
        <p:txBody>
          <a:bodyPr wrap="square" lIns="0" tIns="0" rIns="0" bIns="0" rtlCol="0" anchor="ctr"/>
          <a:lstStyle/>
          <a:p>
            <a:pPr algn="ctr" indent="0" marL="0">
              <a:buNone/>
            </a:pPr>
            <a:r>
              <a:rPr lang="en-US" sz="2000" b="1" dirty="0">
                <a:solidFill>
                  <a:srgbClr val="F2F7F5"/>
                </a:solidFill>
                <a:latin typeface="Arial" pitchFamily="34" charset="0"/>
                <a:ea typeface="Arial" pitchFamily="34" charset="-122"/>
                <a:cs typeface="Arial" pitchFamily="34" charset="-120"/>
              </a:rPr>
              <a:t>Try it now</a:t>
            </a:r>
            <a:endParaRPr lang="en-US" sz="2000" dirty="0"/>
          </a:p>
        </p:txBody>
      </p:sp>
      <p:sp>
        <p:nvSpPr>
          <p:cNvPr id="32" name="Text 28"/>
          <p:cNvSpPr txBox="1"/>
          <p:nvPr/>
        </p:nvSpPr>
        <p:spPr>
          <a:xfrm>
            <a:off x="8686800" y="4160520"/>
            <a:ext cx="2880360" cy="320040"/>
          </a:xfrm>
          <a:prstGeom prst="rect">
            <a:avLst/>
          </a:prstGeom>
          <a:noFill/>
          <a:ln/>
        </p:spPr>
        <p:txBody>
          <a:bodyPr wrap="square" lIns="0" tIns="0" rIns="0" bIns="0" rtlCol="0" anchor="ctr"/>
          <a:lstStyle/>
          <a:p>
            <a:pPr algn="ctr" indent="0" marL="0">
              <a:buNone/>
            </a:pPr>
            <a:r>
              <a:rPr lang="en-US" sz="1400" b="1" dirty="0">
                <a:solidFill>
                  <a:srgbClr val="22A07F"/>
                </a:solidFill>
                <a:latin typeface="Calibri" pitchFamily="34" charset="0"/>
                <a:ea typeface="Calibri" pitchFamily="34" charset="-122"/>
                <a:cs typeface="Calibri" pitchFamily="34" charset="-120"/>
              </a:rPr>
              <a:t>eth.blockid.au</a:t>
            </a:r>
            <a:endParaRPr lang="en-US" sz="1400" dirty="0"/>
          </a:p>
        </p:txBody>
      </p:sp>
      <p:sp>
        <p:nvSpPr>
          <p:cNvPr id="33" name="Text 29"/>
          <p:cNvSpPr txBox="1"/>
          <p:nvPr/>
        </p:nvSpPr>
        <p:spPr>
          <a:xfrm>
            <a:off x="8732520" y="4617720"/>
            <a:ext cx="2788920" cy="731520"/>
          </a:xfrm>
          <a:prstGeom prst="rect">
            <a:avLst/>
          </a:prstGeom>
          <a:noFill/>
          <a:ln/>
        </p:spPr>
        <p:txBody>
          <a:bodyPr wrap="square" lIns="0" tIns="0" rIns="0" bIns="0" rtlCol="0" anchor="ctr"/>
          <a:lstStyle/>
          <a:p>
            <a:pPr algn="ctr" indent="0" marL="0">
              <a:buNone/>
            </a:pPr>
            <a:r>
              <a:rPr lang="en-US" sz="1250" dirty="0">
                <a:solidFill>
                  <a:srgbClr val="F2F7F5"/>
                </a:solidFill>
                <a:latin typeface="Calibri" pitchFamily="34" charset="0"/>
                <a:ea typeface="Calibri" pitchFamily="34" charset="-122"/>
                <a:cs typeface="Calibri" pitchFamily="34" charset="-120"/>
              </a:rPr>
              <a:t>Looking for: pilot startups, accelerators, licensed partners</a:t>
            </a:r>
            <a:endParaRPr lang="en-US" sz="1250" dirty="0"/>
          </a:p>
        </p:txBody>
      </p:sp>
      <p:sp>
        <p:nvSpPr>
          <p:cNvPr id="34" name="Text 30"/>
          <p:cNvSpPr txBox="1"/>
          <p:nvPr/>
        </p:nvSpPr>
        <p:spPr>
          <a:xfrm>
            <a:off x="8686800" y="5532120"/>
            <a:ext cx="2880360" cy="320040"/>
          </a:xfrm>
          <a:prstGeom prst="rect">
            <a:avLst/>
          </a:prstGeom>
          <a:noFill/>
          <a:ln/>
        </p:spPr>
        <p:txBody>
          <a:bodyPr wrap="square" lIns="0" tIns="0" rIns="0" bIns="0" rtlCol="0" anchor="ctr"/>
          <a:lstStyle/>
          <a:p>
            <a:pPr algn="ctr" indent="0" marL="0">
              <a:buNone/>
            </a:pPr>
            <a:r>
              <a:rPr lang="en-US" sz="1200" dirty="0">
                <a:solidFill>
                  <a:srgbClr val="A9BDB7"/>
                </a:solidFill>
                <a:latin typeface="Calibri" pitchFamily="34" charset="0"/>
                <a:ea typeface="Calibri" pitchFamily="34" charset="-122"/>
                <a:cs typeface="Calibri" pitchFamily="34" charset="-120"/>
              </a:rPr>
              <a:t>Long Do · long@blockid.au</a:t>
            </a:r>
            <a:endParaRPr lang="en-US" sz="1200" dirty="0"/>
          </a:p>
        </p:txBody>
      </p:sp>
      <p:sp>
        <p:nvSpPr>
          <p:cNvPr id="35" name="Text 31"/>
          <p:cNvSpPr txBox="1"/>
          <p:nvPr/>
        </p:nvSpPr>
        <p:spPr>
          <a:xfrm>
            <a:off x="502920" y="6473952"/>
            <a:ext cx="11155680" cy="256032"/>
          </a:xfrm>
          <a:prstGeom prst="rect">
            <a:avLst/>
          </a:prstGeom>
          <a:noFill/>
          <a:ln/>
        </p:spPr>
        <p:txBody>
          <a:bodyPr wrap="square" lIns="0" tIns="0" rIns="0" bIns="0" rtlCol="0" anchor="ctr"/>
          <a:lstStyle/>
          <a:p>
            <a:pPr algn="r" indent="0" marL="0">
              <a:buNone/>
            </a:pPr>
            <a:r>
              <a:rPr lang="en-US" sz="950" dirty="0">
                <a:solidFill>
                  <a:srgbClr val="7E948F"/>
                </a:solidFill>
                <a:latin typeface="Calibri" pitchFamily="34" charset="0"/>
                <a:ea typeface="Calibri" pitchFamily="34" charset="-122"/>
                <a:cs typeface="Calibri" pitchFamily="34" charset="-120"/>
              </a:rPr>
              <a:t>eth.blockid.au  ·  Testnet demo, not an offer of securities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BlockID Startup Passport — 3-minute pitch</dc:title>
  <dc:subject>PptxGenJS Presentation</dc:subject>
  <dc:creator>Long Do — Auschain Pty Ltd</dc:creator>
  <cp:lastModifiedBy>Long Do — Auschain Pty Ltd</cp:lastModifiedBy>
  <cp:revision>1</cp:revision>
  <dcterms:created xsi:type="dcterms:W3CDTF">2026-09-26T04:13:47Z</dcterms:created>
  <dcterms:modified xsi:type="dcterms:W3CDTF">2026-09-26T04:13:47Z</dcterms:modified>
</cp:coreProperties>
</file>