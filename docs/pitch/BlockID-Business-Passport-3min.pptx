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Know the business you invest in. BlockID Business Passport gives every shareholder, large or small, a live view of the business they own: updates and valuations analysed by AI and approved by a person, a share register on blockchain as proof of ownership, and dividends paid straight to their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[0:20–0:40] Whether you put in a thousand dollars or a million, investing in a business is hard to follow. You don't really understand it, you lose sight of it after you invest, you're not sure what you own — your stake can shrink and nobody tells you — and dividends are slow or never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BlockID gives each business a passport, and every investor gets five things: understand it, follow it, own it, get paid, and check it. On the right is what a shareholder sees: the shares they own, their stake, a fair value approved by people, the latest update and the dividend paid to their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Understand it. Paste any business website and in minutes you get a plain report: a business score, a value range, competitors and the sources behind every number. If there's no source, the number is dropped. A person reviews and approves it before investors see it. Here's Canva.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[1:25–1:45] Own it. When a business lists, its shares are recorded in a share register on blockchain and copied to two public blockchains. That record is your proof of ownership. New shares need a person's approval, and you see the dilution first. You can hold shares in your own wallet or simply sign in with Google.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[1:45–2:05] Follow it and get paid. The business shares its numbers on a regular schedule. We turn them into a plain-language update with a fair value, a person approves it, and every investor gets it at the same time. Dividends follow a rule approved once: after each update there are 24 hours to cancel, then the dividend is paid to every wallet automatically — holders pay no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[2:05–2:25] Check it. You don't have to trust us. The check page recomputes the report in your own browser and compares it with the record on three blockchains. Change a single number and it turns red. No login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[2:25–2:40] How it's built. People use one web app. Analysis never holds keys; a person approves; only the isolated issuer signs. Layer 1 is our BlockID Chain, the share register of record with zero gas. Layer 2 is HashKey Chain, the public proof layer for real-world assets: the same balances, a cap-table root and a record of which agent proposed what, also anchored on Ethereum. Anyone can check all three from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[2:40–3:00] This is live today: thirteen businesses listed, thirty-eight share records on blockchain and eighty-seven billion dollars of fair value checked by people. Businesses pay a listing fee and a share-register subscription, plus a small fee per transfer and per dividend round. We're looking for pilot businesses, investor communities and licensed partners. Scan to try it, or scan to connect with me. Know the business you invest in.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365760"/>
            <a:ext cx="822960" cy="822960"/>
          </a:xfrm>
          <a:prstGeom prst="rect">
            <a:avLst/>
          </a:prstGeom>
        </p:spPr>
      </p:pic>
      <p:sp>
        <p:nvSpPr>
          <p:cNvPr id="3" name="Text 0"/>
          <p:cNvSpPr txBox="1"/>
          <p:nvPr/>
        </p:nvSpPr>
        <p:spPr>
          <a:xfrm>
            <a:off x="1371600" y="548640"/>
            <a:ext cx="5486400" cy="457200"/>
          </a:xfrm>
          <a:prstGeom prst="rect">
            <a:avLst/>
          </a:prstGeom>
          <a:noFill/>
          <a:ln/>
        </p:spPr>
        <p:txBody>
          <a:bodyPr wrap="square" lIns="0" tIns="0" rIns="0" bIns="0" rtlCol="0" anchor="ctr"/>
          <a:lstStyle/>
          <a:p>
            <a:pPr indent="0" marL="0">
              <a:buNone/>
            </a:pPr>
            <a:r>
              <a:rPr lang="en-US" sz="2000" b="1" dirty="0">
                <a:solidFill>
                  <a:srgbClr val="F2F7F5"/>
                </a:solidFill>
                <a:latin typeface="Arial" pitchFamily="34" charset="0"/>
                <a:ea typeface="Arial" pitchFamily="34" charset="-122"/>
                <a:cs typeface="Arial" pitchFamily="34" charset="-120"/>
              </a:rPr>
              <a:t>BlockID Business Passport</a:t>
            </a:r>
            <a:endParaRPr lang="en-US" sz="2000" dirty="0"/>
          </a:p>
        </p:txBody>
      </p:sp>
      <p:sp>
        <p:nvSpPr>
          <p:cNvPr id="4" name="Text 1"/>
          <p:cNvSpPr txBox="1"/>
          <p:nvPr/>
        </p:nvSpPr>
        <p:spPr>
          <a:xfrm>
            <a:off x="502920" y="1600200"/>
            <a:ext cx="5669280" cy="1737360"/>
          </a:xfrm>
          <a:prstGeom prst="rect">
            <a:avLst/>
          </a:prstGeom>
          <a:noFill/>
          <a:ln/>
        </p:spPr>
        <p:txBody>
          <a:bodyPr wrap="square" lIns="0" tIns="0" rIns="0" bIns="0" rtlCol="0" anchor="ctr"/>
          <a:lstStyle/>
          <a:p>
            <a:pPr indent="0" marL="0">
              <a:buNone/>
            </a:pPr>
            <a:r>
              <a:rPr lang="en-US" sz="4600" b="1" dirty="0">
                <a:solidFill>
                  <a:srgbClr val="F2F7F5"/>
                </a:solidFill>
                <a:latin typeface="Arial" pitchFamily="34" charset="0"/>
                <a:ea typeface="Arial" pitchFamily="34" charset="-122"/>
                <a:cs typeface="Arial" pitchFamily="34" charset="-120"/>
              </a:rPr>
              <a:t>Know the business</a:t>
            </a:r>
            <a:endParaRPr lang="en-US" sz="4600" dirty="0"/>
          </a:p>
          <a:p>
            <a:pPr indent="0" marL="0">
              <a:buNone/>
            </a:pPr>
            <a:r>
              <a:rPr lang="en-US" sz="4600" b="1" dirty="0">
                <a:solidFill>
                  <a:srgbClr val="7FE0C2"/>
                </a:solidFill>
                <a:latin typeface="Arial" pitchFamily="34" charset="0"/>
                <a:ea typeface="Arial" pitchFamily="34" charset="-122"/>
                <a:cs typeface="Arial" pitchFamily="34" charset="-120"/>
              </a:rPr>
              <a:t>you invest in.</a:t>
            </a:r>
            <a:endParaRPr lang="en-US" sz="4600" dirty="0"/>
          </a:p>
        </p:txBody>
      </p:sp>
      <p:sp>
        <p:nvSpPr>
          <p:cNvPr id="5" name="Text 2"/>
          <p:cNvSpPr txBox="1"/>
          <p:nvPr/>
        </p:nvSpPr>
        <p:spPr>
          <a:xfrm>
            <a:off x="502920" y="3520440"/>
            <a:ext cx="5394960" cy="1737360"/>
          </a:xfrm>
          <a:prstGeom prst="rect">
            <a:avLst/>
          </a:prstGeom>
          <a:noFill/>
          <a:ln/>
        </p:spPr>
        <p:txBody>
          <a:bodyPr wrap="square" lIns="0" tIns="0" rIns="0" bIns="0" rtlCol="0" anchor="t"/>
          <a:lstStyle/>
          <a:p>
            <a:pPr indent="0" marL="0">
              <a:buNone/>
            </a:pPr>
            <a:r>
              <a:rPr lang="en-US" sz="1700" dirty="0">
                <a:solidFill>
                  <a:srgbClr val="A9BDB7"/>
                </a:solidFill>
                <a:latin typeface="Calibri" pitchFamily="34" charset="0"/>
                <a:ea typeface="Calibri" pitchFamily="34" charset="-122"/>
                <a:cs typeface="Calibri" pitchFamily="34" charset="-120"/>
              </a:rPr>
              <a:t>BlockID Business Passport gives every shareholder, large or small, a live view of the business they own: AI-analysed, human-approved updates and valuations, an on-chain share register as proof of ownership, and dividends paid straight to their wallet.</a:t>
            </a:r>
            <a:endParaRPr lang="en-US" sz="1700" dirty="0"/>
          </a:p>
        </p:txBody>
      </p:sp>
      <p:sp>
        <p:nvSpPr>
          <p:cNvPr id="6" name="Shape 3"/>
          <p:cNvSpPr/>
          <p:nvPr/>
        </p:nvSpPr>
        <p:spPr>
          <a:xfrm>
            <a:off x="502920" y="5440680"/>
            <a:ext cx="5394960" cy="548640"/>
          </a:xfrm>
          <a:prstGeom prst="roundRect">
            <a:avLst>
              <a:gd name="adj" fmla="val 20000"/>
            </a:avLst>
          </a:prstGeom>
          <a:solidFill>
            <a:srgbClr val="172A26"/>
          </a:solidFill>
          <a:ln w="12700">
            <a:solidFill>
              <a:srgbClr val="22A07F"/>
            </a:solidFill>
            <a:prstDash val="solid"/>
          </a:ln>
        </p:spPr>
      </p:sp>
      <p:sp>
        <p:nvSpPr>
          <p:cNvPr id="7" name="Text 4"/>
          <p:cNvSpPr txBox="1"/>
          <p:nvPr/>
        </p:nvSpPr>
        <p:spPr>
          <a:xfrm>
            <a:off x="502920" y="5440680"/>
            <a:ext cx="5394960" cy="548640"/>
          </a:xfrm>
          <a:prstGeom prst="rect">
            <a:avLst/>
          </a:prstGeom>
          <a:noFill/>
          <a:ln/>
        </p:spPr>
        <p:txBody>
          <a:bodyPr wrap="square" lIns="0" tIns="0" rIns="0" bIns="0" rtlCol="0" anchor="ctr"/>
          <a:lstStyle/>
          <a:p>
            <a:pPr algn="ctr" indent="0" marL="0">
              <a:buNone/>
            </a:pPr>
            <a:r>
              <a:rPr lang="en-US" sz="1500" b="1" dirty="0">
                <a:solidFill>
                  <a:srgbClr val="7FE0C2"/>
                </a:solidFill>
                <a:latin typeface="Calibri" pitchFamily="34" charset="0"/>
                <a:ea typeface="Calibri" pitchFamily="34" charset="-122"/>
                <a:cs typeface="Calibri" pitchFamily="34" charset="-120"/>
              </a:rPr>
              <a:t>Understand it  ·  Follow it  ·  Own it  ·  Get paid  ·  Check it</a:t>
            </a:r>
            <a:endParaRPr lang="en-US" sz="1500" dirty="0"/>
          </a:p>
        </p:txBody>
      </p:sp>
      <p:sp>
        <p:nvSpPr>
          <p:cNvPr id="8" name="Shape 5"/>
          <p:cNvSpPr/>
          <p:nvPr/>
        </p:nvSpPr>
        <p:spPr>
          <a:xfrm>
            <a:off x="5989320" y="1371600"/>
            <a:ext cx="5806440" cy="2433003"/>
          </a:xfrm>
          <a:prstGeom prst="roundRect">
            <a:avLst>
              <a:gd name="adj" fmla="val 300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9" name="Image 1" descr="preencoded.png">    </p:cNvPr>
          <p:cNvPicPr>
            <a:picLocks noChangeAspect="1"/>
          </p:cNvPicPr>
          <p:nvPr/>
        </p:nvPicPr>
        <p:blipFill>
          <a:blip r:embed="rId2"/>
          <a:stretch>
            <a:fillRect/>
          </a:stretch>
        </p:blipFill>
        <p:spPr>
          <a:xfrm>
            <a:off x="6035040" y="1417320"/>
            <a:ext cx="5715000" cy="2341563"/>
          </a:xfrm>
          <a:prstGeom prst="rect">
            <a:avLst/>
          </a:prstGeom>
        </p:spPr>
      </p:pic>
      <p:sp>
        <p:nvSpPr>
          <p:cNvPr id="10" name="Shape 6"/>
          <p:cNvSpPr/>
          <p:nvPr/>
        </p:nvSpPr>
        <p:spPr>
          <a:xfrm>
            <a:off x="6035040" y="4033203"/>
            <a:ext cx="1819656" cy="960120"/>
          </a:xfrm>
          <a:prstGeom prst="roundRect">
            <a:avLst>
              <a:gd name="adj" fmla="val 11429"/>
            </a:avLst>
          </a:prstGeom>
          <a:solidFill>
            <a:srgbClr val="12201D"/>
          </a:solidFill>
          <a:ln w="12700">
            <a:solidFill>
              <a:srgbClr val="25403A"/>
            </a:solidFill>
            <a:prstDash val="solid"/>
          </a:ln>
        </p:spPr>
      </p:sp>
      <p:sp>
        <p:nvSpPr>
          <p:cNvPr id="11" name="Text 7"/>
          <p:cNvSpPr txBox="1"/>
          <p:nvPr/>
        </p:nvSpPr>
        <p:spPr>
          <a:xfrm>
            <a:off x="6172200" y="4106355"/>
            <a:ext cx="1554480" cy="457200"/>
          </a:xfrm>
          <a:prstGeom prst="rect">
            <a:avLst/>
          </a:prstGeom>
          <a:noFill/>
          <a:ln/>
        </p:spPr>
        <p:txBody>
          <a:bodyPr wrap="square" lIns="0" tIns="0" rIns="0" bIns="0" rtlCol="0" anchor="ctr"/>
          <a:lstStyle/>
          <a:p>
            <a:pPr indent="0" marL="0">
              <a:buNone/>
            </a:pPr>
            <a:r>
              <a:rPr lang="en-US" sz="2200" b="1" dirty="0">
                <a:solidFill>
                  <a:srgbClr val="22A07F"/>
                </a:solidFill>
                <a:latin typeface="Arial" pitchFamily="34" charset="0"/>
                <a:ea typeface="Arial" pitchFamily="34" charset="-122"/>
                <a:cs typeface="Arial" pitchFamily="34" charset="-120"/>
              </a:rPr>
              <a:t>13</a:t>
            </a:r>
            <a:endParaRPr lang="en-US" sz="2200" dirty="0"/>
          </a:p>
        </p:txBody>
      </p:sp>
      <p:sp>
        <p:nvSpPr>
          <p:cNvPr id="12" name="Text 8"/>
          <p:cNvSpPr txBox="1"/>
          <p:nvPr/>
        </p:nvSpPr>
        <p:spPr>
          <a:xfrm>
            <a:off x="6172200" y="4563555"/>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businesses listed</a:t>
            </a:r>
            <a:endParaRPr lang="en-US" sz="1100" dirty="0"/>
          </a:p>
        </p:txBody>
      </p:sp>
      <p:sp>
        <p:nvSpPr>
          <p:cNvPr id="13" name="Shape 9"/>
          <p:cNvSpPr/>
          <p:nvPr/>
        </p:nvSpPr>
        <p:spPr>
          <a:xfrm>
            <a:off x="7982712" y="4033203"/>
            <a:ext cx="1819656" cy="960120"/>
          </a:xfrm>
          <a:prstGeom prst="roundRect">
            <a:avLst>
              <a:gd name="adj" fmla="val 11429"/>
            </a:avLst>
          </a:prstGeom>
          <a:solidFill>
            <a:srgbClr val="12201D"/>
          </a:solidFill>
          <a:ln w="12700">
            <a:solidFill>
              <a:srgbClr val="25403A"/>
            </a:solidFill>
            <a:prstDash val="solid"/>
          </a:ln>
        </p:spPr>
      </p:sp>
      <p:sp>
        <p:nvSpPr>
          <p:cNvPr id="14" name="Text 10"/>
          <p:cNvSpPr txBox="1"/>
          <p:nvPr/>
        </p:nvSpPr>
        <p:spPr>
          <a:xfrm>
            <a:off x="8119872" y="4106355"/>
            <a:ext cx="1554480" cy="457200"/>
          </a:xfrm>
          <a:prstGeom prst="rect">
            <a:avLst/>
          </a:prstGeom>
          <a:noFill/>
          <a:ln/>
        </p:spPr>
        <p:txBody>
          <a:bodyPr wrap="square" lIns="0" tIns="0" rIns="0" bIns="0" rtlCol="0" anchor="ctr"/>
          <a:lstStyle/>
          <a:p>
            <a:pPr indent="0" marL="0">
              <a:buNone/>
            </a:pPr>
            <a:r>
              <a:rPr lang="en-US" sz="2200" b="1" dirty="0">
                <a:solidFill>
                  <a:srgbClr val="E3A83A"/>
                </a:solidFill>
                <a:latin typeface="Arial" pitchFamily="34" charset="0"/>
                <a:ea typeface="Arial" pitchFamily="34" charset="-122"/>
                <a:cs typeface="Arial" pitchFamily="34" charset="-120"/>
              </a:rPr>
              <a:t>38</a:t>
            </a:r>
            <a:endParaRPr lang="en-US" sz="2200" dirty="0"/>
          </a:p>
        </p:txBody>
      </p:sp>
      <p:sp>
        <p:nvSpPr>
          <p:cNvPr id="15" name="Text 11"/>
          <p:cNvSpPr txBox="1"/>
          <p:nvPr/>
        </p:nvSpPr>
        <p:spPr>
          <a:xfrm>
            <a:off x="8119872" y="4563555"/>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share records on blockchain</a:t>
            </a:r>
            <a:endParaRPr lang="en-US" sz="1100" dirty="0"/>
          </a:p>
        </p:txBody>
      </p:sp>
      <p:sp>
        <p:nvSpPr>
          <p:cNvPr id="16" name="Shape 12"/>
          <p:cNvSpPr/>
          <p:nvPr/>
        </p:nvSpPr>
        <p:spPr>
          <a:xfrm>
            <a:off x="9930384" y="4033203"/>
            <a:ext cx="1819656" cy="960120"/>
          </a:xfrm>
          <a:prstGeom prst="roundRect">
            <a:avLst>
              <a:gd name="adj" fmla="val 11429"/>
            </a:avLst>
          </a:prstGeom>
          <a:solidFill>
            <a:srgbClr val="12201D"/>
          </a:solidFill>
          <a:ln w="12700">
            <a:solidFill>
              <a:srgbClr val="25403A"/>
            </a:solidFill>
            <a:prstDash val="solid"/>
          </a:ln>
        </p:spPr>
      </p:sp>
      <p:sp>
        <p:nvSpPr>
          <p:cNvPr id="17" name="Text 13"/>
          <p:cNvSpPr txBox="1"/>
          <p:nvPr/>
        </p:nvSpPr>
        <p:spPr>
          <a:xfrm>
            <a:off x="10067544" y="4106355"/>
            <a:ext cx="1554480" cy="457200"/>
          </a:xfrm>
          <a:prstGeom prst="rect">
            <a:avLst/>
          </a:prstGeom>
          <a:noFill/>
          <a:ln/>
        </p:spPr>
        <p:txBody>
          <a:bodyPr wrap="square" lIns="0" tIns="0" rIns="0" bIns="0" rtlCol="0" anchor="ctr"/>
          <a:lstStyle/>
          <a:p>
            <a:pPr indent="0" marL="0">
              <a:buNone/>
            </a:pPr>
            <a:r>
              <a:rPr lang="en-US" sz="2200" b="1" dirty="0">
                <a:solidFill>
                  <a:srgbClr val="22A07F"/>
                </a:solidFill>
                <a:latin typeface="Arial" pitchFamily="34" charset="0"/>
                <a:ea typeface="Arial" pitchFamily="34" charset="-122"/>
                <a:cs typeface="Arial" pitchFamily="34" charset="-120"/>
              </a:rPr>
              <a:t>A$87B</a:t>
            </a:r>
            <a:endParaRPr lang="en-US" sz="2200" dirty="0"/>
          </a:p>
        </p:txBody>
      </p:sp>
      <p:sp>
        <p:nvSpPr>
          <p:cNvPr id="18" name="Text 14"/>
          <p:cNvSpPr txBox="1"/>
          <p:nvPr/>
        </p:nvSpPr>
        <p:spPr>
          <a:xfrm>
            <a:off x="10067544" y="4563555"/>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fair value checked by people</a:t>
            </a:r>
            <a:endParaRPr lang="en-US" sz="1100" dirty="0"/>
          </a:p>
        </p:txBody>
      </p:sp>
      <p:sp>
        <p:nvSpPr>
          <p:cNvPr id="19" name="Text 15"/>
          <p:cNvSpPr txBox="1"/>
          <p:nvPr/>
        </p:nvSpPr>
        <p:spPr>
          <a:xfrm>
            <a:off x="6035040" y="5130483"/>
            <a:ext cx="5715000" cy="320040"/>
          </a:xfrm>
          <a:prstGeom prst="rect">
            <a:avLst/>
          </a:prstGeom>
          <a:noFill/>
          <a:ln/>
        </p:spPr>
        <p:txBody>
          <a:bodyPr wrap="square" lIns="0" tIns="0" rIns="0" bIns="0" rtlCol="0" anchor="ctr"/>
          <a:lstStyle/>
          <a:p>
            <a:pPr algn="ctr" indent="0" marL="0">
              <a:buNone/>
            </a:pPr>
            <a:r>
              <a:rPr lang="en-US" sz="1300" i="1" dirty="0">
                <a:solidFill>
                  <a:srgbClr val="7E948F"/>
                </a:solidFill>
                <a:latin typeface="Calibri" pitchFamily="34" charset="0"/>
                <a:ea typeface="Calibri" pitchFamily="34" charset="-122"/>
                <a:cs typeface="Calibri" pitchFamily="34" charset="-120"/>
              </a:rPr>
              <a:t>Live today at eth.blockid.au</a:t>
            </a:r>
            <a:endParaRPr lang="en-US" sz="1300" dirty="0"/>
          </a:p>
        </p:txBody>
      </p:sp>
      <p:sp>
        <p:nvSpPr>
          <p:cNvPr id="20" name="Text 1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4675A"/>
                </a:solidFill>
                <a:latin typeface="Calibri" pitchFamily="34" charset="0"/>
                <a:ea typeface="Calibri" pitchFamily="34" charset="-122"/>
                <a:cs typeface="Calibri" pitchFamily="34" charset="-120"/>
              </a:rPr>
              <a:t>2 / 9   ·   THE PROBLEM</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Investing in a business is hard to follow.</a:t>
            </a:r>
            <a:endParaRPr lang="en-US" sz="3000" dirty="0"/>
          </a:p>
        </p:txBody>
      </p:sp>
      <p:sp>
        <p:nvSpPr>
          <p:cNvPr id="4" name="Shape 2"/>
          <p:cNvSpPr/>
          <p:nvPr/>
        </p:nvSpPr>
        <p:spPr>
          <a:xfrm>
            <a:off x="502920" y="1783080"/>
            <a:ext cx="2651760" cy="3566160"/>
          </a:xfrm>
          <a:prstGeom prst="roundRect">
            <a:avLst>
              <a:gd name="adj" fmla="val 4138"/>
            </a:avLst>
          </a:prstGeom>
          <a:solidFill>
            <a:srgbClr val="12201D"/>
          </a:solidFill>
          <a:ln w="12700">
            <a:solidFill>
              <a:srgbClr val="25403A"/>
            </a:solidFill>
            <a:prstDash val="solid"/>
          </a:ln>
        </p:spPr>
      </p:sp>
      <p:sp>
        <p:nvSpPr>
          <p:cNvPr id="5" name="Shape 3"/>
          <p:cNvSpPr/>
          <p:nvPr/>
        </p:nvSpPr>
        <p:spPr>
          <a:xfrm>
            <a:off x="777240" y="2057400"/>
            <a:ext cx="731520" cy="731520"/>
          </a:xfrm>
          <a:prstGeom prst="ellipse">
            <a:avLst/>
          </a:prstGeom>
          <a:solidFill>
            <a:srgbClr val="E4675A"/>
          </a:solidFill>
          <a:ln w="12700">
            <a:solidFill>
              <a:srgbClr val="E4675A"/>
            </a:solidFill>
            <a:prstDash val="solid"/>
          </a:ln>
        </p:spPr>
      </p:sp>
      <p:pic>
        <p:nvPicPr>
          <p:cNvPr id="6" name="Image 0" descr="preencoded.png">    </p:cNvPr>
          <p:cNvPicPr>
            <a:picLocks noChangeAspect="1"/>
          </p:cNvPicPr>
          <p:nvPr/>
        </p:nvPicPr>
        <p:blipFill>
          <a:blip r:embed="rId1"/>
          <a:stretch>
            <a:fillRect/>
          </a:stretch>
        </p:blipFill>
        <p:spPr>
          <a:xfrm>
            <a:off x="960120" y="2240280"/>
            <a:ext cx="365760" cy="365760"/>
          </a:xfrm>
          <a:prstGeom prst="rect">
            <a:avLst/>
          </a:prstGeom>
        </p:spPr>
      </p:pic>
      <p:sp>
        <p:nvSpPr>
          <p:cNvPr id="7" name="Text 4"/>
          <p:cNvSpPr txBox="1"/>
          <p:nvPr/>
        </p:nvSpPr>
        <p:spPr>
          <a:xfrm>
            <a:off x="77724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 don't really understand the business</a:t>
            </a:r>
            <a:endParaRPr lang="en-US" sz="1800" dirty="0"/>
          </a:p>
        </p:txBody>
      </p:sp>
      <p:sp>
        <p:nvSpPr>
          <p:cNvPr id="8" name="Text 5"/>
          <p:cNvSpPr txBox="1"/>
          <p:nvPr/>
        </p:nvSpPr>
        <p:spPr>
          <a:xfrm>
            <a:off x="77724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Reports are long, late or missing. The numbers are hard to compare.</a:t>
            </a:r>
            <a:endParaRPr lang="en-US" sz="1400" dirty="0"/>
          </a:p>
        </p:txBody>
      </p:sp>
      <p:sp>
        <p:nvSpPr>
          <p:cNvPr id="9" name="Shape 6"/>
          <p:cNvSpPr/>
          <p:nvPr/>
        </p:nvSpPr>
        <p:spPr>
          <a:xfrm>
            <a:off x="3337560" y="1783080"/>
            <a:ext cx="2651760" cy="3566160"/>
          </a:xfrm>
          <a:prstGeom prst="roundRect">
            <a:avLst>
              <a:gd name="adj" fmla="val 4138"/>
            </a:avLst>
          </a:prstGeom>
          <a:solidFill>
            <a:srgbClr val="12201D"/>
          </a:solidFill>
          <a:ln w="12700">
            <a:solidFill>
              <a:srgbClr val="25403A"/>
            </a:solidFill>
            <a:prstDash val="solid"/>
          </a:ln>
        </p:spPr>
      </p:sp>
      <p:sp>
        <p:nvSpPr>
          <p:cNvPr id="10" name="Shape 7"/>
          <p:cNvSpPr/>
          <p:nvPr/>
        </p:nvSpPr>
        <p:spPr>
          <a:xfrm>
            <a:off x="3611880" y="2057400"/>
            <a:ext cx="731520" cy="731520"/>
          </a:xfrm>
          <a:prstGeom prst="ellipse">
            <a:avLst/>
          </a:prstGeom>
          <a:solidFill>
            <a:srgbClr val="E4675A"/>
          </a:solidFill>
          <a:ln w="12700">
            <a:solidFill>
              <a:srgbClr val="E4675A"/>
            </a:solidFill>
            <a:prstDash val="solid"/>
          </a:ln>
        </p:spPr>
      </p:sp>
      <p:pic>
        <p:nvPicPr>
          <p:cNvPr id="11" name="Image 1" descr="preencoded.png">    </p:cNvPr>
          <p:cNvPicPr>
            <a:picLocks noChangeAspect="1"/>
          </p:cNvPicPr>
          <p:nvPr/>
        </p:nvPicPr>
        <p:blipFill>
          <a:blip r:embed="rId2"/>
          <a:stretch>
            <a:fillRect/>
          </a:stretch>
        </p:blipFill>
        <p:spPr>
          <a:xfrm>
            <a:off x="3794760" y="2240280"/>
            <a:ext cx="365760" cy="365760"/>
          </a:xfrm>
          <a:prstGeom prst="rect">
            <a:avLst/>
          </a:prstGeom>
        </p:spPr>
      </p:pic>
      <p:sp>
        <p:nvSpPr>
          <p:cNvPr id="12" name="Text 8"/>
          <p:cNvSpPr txBox="1"/>
          <p:nvPr/>
        </p:nvSpPr>
        <p:spPr>
          <a:xfrm>
            <a:off x="361188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 lose sight of it after you invest</a:t>
            </a:r>
            <a:endParaRPr lang="en-US" sz="1800" dirty="0"/>
          </a:p>
        </p:txBody>
      </p:sp>
      <p:sp>
        <p:nvSpPr>
          <p:cNvPr id="13" name="Text 9"/>
          <p:cNvSpPr txBox="1"/>
          <p:nvPr/>
        </p:nvSpPr>
        <p:spPr>
          <a:xfrm>
            <a:off x="361188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Sales, profit and new share sales happen without you seeing them.</a:t>
            </a:r>
            <a:endParaRPr lang="en-US" sz="1400" dirty="0"/>
          </a:p>
        </p:txBody>
      </p:sp>
      <p:sp>
        <p:nvSpPr>
          <p:cNvPr id="14" name="Shape 10"/>
          <p:cNvSpPr/>
          <p:nvPr/>
        </p:nvSpPr>
        <p:spPr>
          <a:xfrm>
            <a:off x="6172200" y="1783080"/>
            <a:ext cx="2651760" cy="3566160"/>
          </a:xfrm>
          <a:prstGeom prst="roundRect">
            <a:avLst>
              <a:gd name="adj" fmla="val 4138"/>
            </a:avLst>
          </a:prstGeom>
          <a:solidFill>
            <a:srgbClr val="12201D"/>
          </a:solidFill>
          <a:ln w="12700">
            <a:solidFill>
              <a:srgbClr val="25403A"/>
            </a:solidFill>
            <a:prstDash val="solid"/>
          </a:ln>
        </p:spPr>
      </p:sp>
      <p:sp>
        <p:nvSpPr>
          <p:cNvPr id="15" name="Shape 11"/>
          <p:cNvSpPr/>
          <p:nvPr/>
        </p:nvSpPr>
        <p:spPr>
          <a:xfrm>
            <a:off x="6446520" y="2057400"/>
            <a:ext cx="731520" cy="731520"/>
          </a:xfrm>
          <a:prstGeom prst="ellipse">
            <a:avLst/>
          </a:prstGeom>
          <a:solidFill>
            <a:srgbClr val="E4675A"/>
          </a:solidFill>
          <a:ln w="12700">
            <a:solidFill>
              <a:srgbClr val="E4675A"/>
            </a:solidFill>
            <a:prstDash val="solid"/>
          </a:ln>
        </p:spPr>
      </p:sp>
      <p:pic>
        <p:nvPicPr>
          <p:cNvPr id="16" name="Image 2" descr="preencoded.png">    </p:cNvPr>
          <p:cNvPicPr>
            <a:picLocks noChangeAspect="1"/>
          </p:cNvPicPr>
          <p:nvPr/>
        </p:nvPicPr>
        <p:blipFill>
          <a:blip r:embed="rId3"/>
          <a:stretch>
            <a:fillRect/>
          </a:stretch>
        </p:blipFill>
        <p:spPr>
          <a:xfrm>
            <a:off x="6629400" y="2240280"/>
            <a:ext cx="365760" cy="365760"/>
          </a:xfrm>
          <a:prstGeom prst="rect">
            <a:avLst/>
          </a:prstGeom>
        </p:spPr>
      </p:pic>
      <p:sp>
        <p:nvSpPr>
          <p:cNvPr id="17" name="Text 12"/>
          <p:cNvSpPr txBox="1"/>
          <p:nvPr/>
        </p:nvSpPr>
        <p:spPr>
          <a:xfrm>
            <a:off x="644652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You're not sure what you own</a:t>
            </a:r>
            <a:endParaRPr lang="en-US" sz="1800" dirty="0"/>
          </a:p>
        </p:txBody>
      </p:sp>
      <p:sp>
        <p:nvSpPr>
          <p:cNvPr id="18" name="Text 13"/>
          <p:cNvSpPr txBox="1"/>
          <p:nvPr/>
        </p:nvSpPr>
        <p:spPr>
          <a:xfrm>
            <a:off x="644652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Ownership sits in a spreadsheet. Your stake can shrink and no one tells you.</a:t>
            </a:r>
            <a:endParaRPr lang="en-US" sz="1400" dirty="0"/>
          </a:p>
        </p:txBody>
      </p:sp>
      <p:sp>
        <p:nvSpPr>
          <p:cNvPr id="19" name="Shape 14"/>
          <p:cNvSpPr/>
          <p:nvPr/>
        </p:nvSpPr>
        <p:spPr>
          <a:xfrm>
            <a:off x="9006840" y="1783080"/>
            <a:ext cx="2651760" cy="3566160"/>
          </a:xfrm>
          <a:prstGeom prst="roundRect">
            <a:avLst>
              <a:gd name="adj" fmla="val 4138"/>
            </a:avLst>
          </a:prstGeom>
          <a:solidFill>
            <a:srgbClr val="12201D"/>
          </a:solidFill>
          <a:ln w="12700">
            <a:solidFill>
              <a:srgbClr val="25403A"/>
            </a:solidFill>
            <a:prstDash val="solid"/>
          </a:ln>
        </p:spPr>
      </p:sp>
      <p:sp>
        <p:nvSpPr>
          <p:cNvPr id="20" name="Shape 15"/>
          <p:cNvSpPr/>
          <p:nvPr/>
        </p:nvSpPr>
        <p:spPr>
          <a:xfrm>
            <a:off x="9281160" y="2057400"/>
            <a:ext cx="731520" cy="731520"/>
          </a:xfrm>
          <a:prstGeom prst="ellipse">
            <a:avLst/>
          </a:prstGeom>
          <a:solidFill>
            <a:srgbClr val="E4675A"/>
          </a:solidFill>
          <a:ln w="12700">
            <a:solidFill>
              <a:srgbClr val="E4675A"/>
            </a:solidFill>
            <a:prstDash val="solid"/>
          </a:ln>
        </p:spPr>
      </p:sp>
      <p:pic>
        <p:nvPicPr>
          <p:cNvPr id="21" name="Image 3" descr="preencoded.png">    </p:cNvPr>
          <p:cNvPicPr>
            <a:picLocks noChangeAspect="1"/>
          </p:cNvPicPr>
          <p:nvPr/>
        </p:nvPicPr>
        <p:blipFill>
          <a:blip r:embed="rId4"/>
          <a:stretch>
            <a:fillRect/>
          </a:stretch>
        </p:blipFill>
        <p:spPr>
          <a:xfrm>
            <a:off x="9464040" y="2240280"/>
            <a:ext cx="365760" cy="365760"/>
          </a:xfrm>
          <a:prstGeom prst="rect">
            <a:avLst/>
          </a:prstGeom>
        </p:spPr>
      </p:pic>
      <p:sp>
        <p:nvSpPr>
          <p:cNvPr id="22" name="Text 16"/>
          <p:cNvSpPr txBox="1"/>
          <p:nvPr/>
        </p:nvSpPr>
        <p:spPr>
          <a:xfrm>
            <a:off x="928116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Dividends are slow, or never arrive</a:t>
            </a:r>
            <a:endParaRPr lang="en-US" sz="1800" dirty="0"/>
          </a:p>
        </p:txBody>
      </p:sp>
      <p:sp>
        <p:nvSpPr>
          <p:cNvPr id="23" name="Text 17"/>
          <p:cNvSpPr txBox="1"/>
          <p:nvPr/>
        </p:nvSpPr>
        <p:spPr>
          <a:xfrm>
            <a:off x="928116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Paperwork and bank transfers, if they happen at all.</a:t>
            </a:r>
            <a:endParaRPr lang="en-US" sz="1400" dirty="0"/>
          </a:p>
        </p:txBody>
      </p:sp>
      <p:sp>
        <p:nvSpPr>
          <p:cNvPr id="24" name="Text 18"/>
          <p:cNvSpPr txBox="1"/>
          <p:nvPr/>
        </p:nvSpPr>
        <p:spPr>
          <a:xfrm>
            <a:off x="502920" y="5669280"/>
            <a:ext cx="11155680" cy="457200"/>
          </a:xfrm>
          <a:prstGeom prst="rect">
            <a:avLst/>
          </a:prstGeom>
          <a:noFill/>
          <a:ln/>
        </p:spPr>
        <p:txBody>
          <a:bodyPr wrap="square" lIns="0" tIns="0" rIns="0" bIns="0" rtlCol="0" anchor="ctr"/>
          <a:lstStyle/>
          <a:p>
            <a:pPr indent="0" marL="0">
              <a:buNone/>
            </a:pPr>
            <a:r>
              <a:rPr lang="en-US" sz="1800" b="1" dirty="0">
                <a:solidFill>
                  <a:srgbClr val="E3A83A"/>
                </a:solidFill>
                <a:latin typeface="Calibri" pitchFamily="34" charset="0"/>
                <a:ea typeface="Calibri" pitchFamily="34" charset="-122"/>
                <a:cs typeface="Calibri" pitchFamily="34" charset="-120"/>
              </a:rPr>
              <a:t>Big or small, most investors in a business face the same four gaps.</a:t>
            </a:r>
            <a:endParaRPr lang="en-US" sz="1800" dirty="0"/>
          </a:p>
        </p:txBody>
      </p:sp>
      <p:sp>
        <p:nvSpPr>
          <p:cNvPr id="25"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3 / 9   ·   THE SOLUTION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One passport per business. Five things every investor gets.</a:t>
            </a:r>
            <a:endParaRPr lang="en-US" sz="3000" dirty="0"/>
          </a:p>
        </p:txBody>
      </p:sp>
      <p:sp>
        <p:nvSpPr>
          <p:cNvPr id="4" name="Shape 2"/>
          <p:cNvSpPr/>
          <p:nvPr/>
        </p:nvSpPr>
        <p:spPr>
          <a:xfrm>
            <a:off x="502920" y="1645920"/>
            <a:ext cx="6035040" cy="777240"/>
          </a:xfrm>
          <a:prstGeom prst="roundRect">
            <a:avLst>
              <a:gd name="adj" fmla="val 14118"/>
            </a:avLst>
          </a:prstGeom>
          <a:solidFill>
            <a:srgbClr val="12201D"/>
          </a:solidFill>
          <a:ln w="12700">
            <a:solidFill>
              <a:srgbClr val="22A07F"/>
            </a:solidFill>
            <a:prstDash val="solid"/>
          </a:ln>
        </p:spPr>
      </p:sp>
      <p:sp>
        <p:nvSpPr>
          <p:cNvPr id="5" name="Shape 3"/>
          <p:cNvSpPr/>
          <p:nvPr/>
        </p:nvSpPr>
        <p:spPr>
          <a:xfrm>
            <a:off x="658368" y="1764792"/>
            <a:ext cx="548640" cy="548640"/>
          </a:xfrm>
          <a:prstGeom prst="ellipse">
            <a:avLst/>
          </a:prstGeom>
          <a:solidFill>
            <a:srgbClr val="22A07F"/>
          </a:solidFill>
          <a:ln w="12700">
            <a:solidFill>
              <a:srgbClr val="22A07F"/>
            </a:solidFill>
            <a:prstDash val="solid"/>
          </a:ln>
        </p:spPr>
      </p:sp>
      <p:pic>
        <p:nvPicPr>
          <p:cNvPr id="6" name="Image 0" descr="preencoded.png">    </p:cNvPr>
          <p:cNvPicPr>
            <a:picLocks noChangeAspect="1"/>
          </p:cNvPicPr>
          <p:nvPr/>
        </p:nvPicPr>
        <p:blipFill>
          <a:blip r:embed="rId1"/>
          <a:stretch>
            <a:fillRect/>
          </a:stretch>
        </p:blipFill>
        <p:spPr>
          <a:xfrm>
            <a:off x="795528" y="1901952"/>
            <a:ext cx="274320" cy="274320"/>
          </a:xfrm>
          <a:prstGeom prst="rect">
            <a:avLst/>
          </a:prstGeom>
        </p:spPr>
      </p:pic>
      <p:sp>
        <p:nvSpPr>
          <p:cNvPr id="7" name="Text 4"/>
          <p:cNvSpPr txBox="1"/>
          <p:nvPr/>
        </p:nvSpPr>
        <p:spPr>
          <a:xfrm>
            <a:off x="1371600" y="1645920"/>
            <a:ext cx="1645920" cy="777240"/>
          </a:xfrm>
          <a:prstGeom prst="rect">
            <a:avLst/>
          </a:prstGeom>
          <a:noFill/>
          <a:ln/>
        </p:spPr>
        <p:txBody>
          <a:bodyPr wrap="square" lIns="0" tIns="0" rIns="0" bIns="0" rtlCol="0" anchor="ctr"/>
          <a:lstStyle/>
          <a:p>
            <a:pPr indent="0" marL="0">
              <a:buNone/>
            </a:pPr>
            <a:r>
              <a:rPr lang="en-US" sz="1700" b="1" dirty="0">
                <a:solidFill>
                  <a:srgbClr val="22A07F"/>
                </a:solidFill>
                <a:latin typeface="Arial" pitchFamily="34" charset="0"/>
                <a:ea typeface="Arial" pitchFamily="34" charset="-122"/>
                <a:cs typeface="Arial" pitchFamily="34" charset="-120"/>
              </a:rPr>
              <a:t>Understand it</a:t>
            </a:r>
            <a:endParaRPr lang="en-US" sz="1700" dirty="0"/>
          </a:p>
        </p:txBody>
      </p:sp>
      <p:sp>
        <p:nvSpPr>
          <p:cNvPr id="8" name="Text 5"/>
          <p:cNvSpPr txBox="1"/>
          <p:nvPr/>
        </p:nvSpPr>
        <p:spPr>
          <a:xfrm>
            <a:off x="3017520" y="16459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A plain report. Every number linked to where it came from.</a:t>
            </a:r>
            <a:endParaRPr lang="en-US" sz="1400" dirty="0"/>
          </a:p>
        </p:txBody>
      </p:sp>
      <p:sp>
        <p:nvSpPr>
          <p:cNvPr id="9" name="Shape 6"/>
          <p:cNvSpPr/>
          <p:nvPr/>
        </p:nvSpPr>
        <p:spPr>
          <a:xfrm>
            <a:off x="502920" y="2560320"/>
            <a:ext cx="6035040" cy="777240"/>
          </a:xfrm>
          <a:prstGeom prst="roundRect">
            <a:avLst>
              <a:gd name="adj" fmla="val 14118"/>
            </a:avLst>
          </a:prstGeom>
          <a:solidFill>
            <a:srgbClr val="12201D"/>
          </a:solidFill>
          <a:ln w="12700">
            <a:solidFill>
              <a:srgbClr val="5D8AD6"/>
            </a:solidFill>
            <a:prstDash val="solid"/>
          </a:ln>
        </p:spPr>
      </p:sp>
      <p:sp>
        <p:nvSpPr>
          <p:cNvPr id="10" name="Shape 7"/>
          <p:cNvSpPr/>
          <p:nvPr/>
        </p:nvSpPr>
        <p:spPr>
          <a:xfrm>
            <a:off x="658368" y="2679192"/>
            <a:ext cx="548640" cy="548640"/>
          </a:xfrm>
          <a:prstGeom prst="ellipse">
            <a:avLst/>
          </a:prstGeom>
          <a:solidFill>
            <a:srgbClr val="5D8AD6"/>
          </a:solidFill>
          <a:ln w="12700">
            <a:solidFill>
              <a:srgbClr val="5D8AD6"/>
            </a:solidFill>
            <a:prstDash val="solid"/>
          </a:ln>
        </p:spPr>
      </p:sp>
      <p:pic>
        <p:nvPicPr>
          <p:cNvPr id="11" name="Image 1" descr="preencoded.png">    </p:cNvPr>
          <p:cNvPicPr>
            <a:picLocks noChangeAspect="1"/>
          </p:cNvPicPr>
          <p:nvPr/>
        </p:nvPicPr>
        <p:blipFill>
          <a:blip r:embed="rId2"/>
          <a:stretch>
            <a:fillRect/>
          </a:stretch>
        </p:blipFill>
        <p:spPr>
          <a:xfrm>
            <a:off x="795528" y="2816352"/>
            <a:ext cx="274320" cy="274320"/>
          </a:xfrm>
          <a:prstGeom prst="rect">
            <a:avLst/>
          </a:prstGeom>
        </p:spPr>
      </p:pic>
      <p:sp>
        <p:nvSpPr>
          <p:cNvPr id="12" name="Text 8"/>
          <p:cNvSpPr txBox="1"/>
          <p:nvPr/>
        </p:nvSpPr>
        <p:spPr>
          <a:xfrm>
            <a:off x="1371600" y="2560320"/>
            <a:ext cx="1645920" cy="777240"/>
          </a:xfrm>
          <a:prstGeom prst="rect">
            <a:avLst/>
          </a:prstGeom>
          <a:noFill/>
          <a:ln/>
        </p:spPr>
        <p:txBody>
          <a:bodyPr wrap="square" lIns="0" tIns="0" rIns="0" bIns="0" rtlCol="0" anchor="ctr"/>
          <a:lstStyle/>
          <a:p>
            <a:pPr indent="0" marL="0">
              <a:buNone/>
            </a:pPr>
            <a:r>
              <a:rPr lang="en-US" sz="1700" b="1" dirty="0">
                <a:solidFill>
                  <a:srgbClr val="5D8AD6"/>
                </a:solidFill>
                <a:latin typeface="Arial" pitchFamily="34" charset="0"/>
                <a:ea typeface="Arial" pitchFamily="34" charset="-122"/>
                <a:cs typeface="Arial" pitchFamily="34" charset="-120"/>
              </a:rPr>
              <a:t>Follow it</a:t>
            </a:r>
            <a:endParaRPr lang="en-US" sz="1700" dirty="0"/>
          </a:p>
        </p:txBody>
      </p:sp>
      <p:sp>
        <p:nvSpPr>
          <p:cNvPr id="13" name="Text 9"/>
          <p:cNvSpPr txBox="1"/>
          <p:nvPr/>
        </p:nvSpPr>
        <p:spPr>
          <a:xfrm>
            <a:off x="3017520" y="25603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Regular updates and a fair value, approved by a person.</a:t>
            </a:r>
            <a:endParaRPr lang="en-US" sz="1400" dirty="0"/>
          </a:p>
        </p:txBody>
      </p:sp>
      <p:sp>
        <p:nvSpPr>
          <p:cNvPr id="14" name="Shape 10"/>
          <p:cNvSpPr/>
          <p:nvPr/>
        </p:nvSpPr>
        <p:spPr>
          <a:xfrm>
            <a:off x="502920" y="3474720"/>
            <a:ext cx="6035040" cy="777240"/>
          </a:xfrm>
          <a:prstGeom prst="roundRect">
            <a:avLst>
              <a:gd name="adj" fmla="val 14118"/>
            </a:avLst>
          </a:prstGeom>
          <a:solidFill>
            <a:srgbClr val="12201D"/>
          </a:solidFill>
          <a:ln w="12700">
            <a:solidFill>
              <a:srgbClr val="9B7BD4"/>
            </a:solidFill>
            <a:prstDash val="solid"/>
          </a:ln>
        </p:spPr>
      </p:sp>
      <p:sp>
        <p:nvSpPr>
          <p:cNvPr id="15" name="Shape 11"/>
          <p:cNvSpPr/>
          <p:nvPr/>
        </p:nvSpPr>
        <p:spPr>
          <a:xfrm>
            <a:off x="658368" y="3593592"/>
            <a:ext cx="548640" cy="548640"/>
          </a:xfrm>
          <a:prstGeom prst="ellipse">
            <a:avLst/>
          </a:prstGeom>
          <a:solidFill>
            <a:srgbClr val="9B7BD4"/>
          </a:solidFill>
          <a:ln w="12700">
            <a:solidFill>
              <a:srgbClr val="9B7BD4"/>
            </a:solidFill>
            <a:prstDash val="solid"/>
          </a:ln>
        </p:spPr>
      </p:sp>
      <p:pic>
        <p:nvPicPr>
          <p:cNvPr id="16" name="Image 2" descr="preencoded.png">    </p:cNvPr>
          <p:cNvPicPr>
            <a:picLocks noChangeAspect="1"/>
          </p:cNvPicPr>
          <p:nvPr/>
        </p:nvPicPr>
        <p:blipFill>
          <a:blip r:embed="rId3"/>
          <a:stretch>
            <a:fillRect/>
          </a:stretch>
        </p:blipFill>
        <p:spPr>
          <a:xfrm>
            <a:off x="795528" y="3730752"/>
            <a:ext cx="274320" cy="274320"/>
          </a:xfrm>
          <a:prstGeom prst="rect">
            <a:avLst/>
          </a:prstGeom>
        </p:spPr>
      </p:pic>
      <p:sp>
        <p:nvSpPr>
          <p:cNvPr id="17" name="Text 12"/>
          <p:cNvSpPr txBox="1"/>
          <p:nvPr/>
        </p:nvSpPr>
        <p:spPr>
          <a:xfrm>
            <a:off x="1371600" y="3474720"/>
            <a:ext cx="1645920" cy="777240"/>
          </a:xfrm>
          <a:prstGeom prst="rect">
            <a:avLst/>
          </a:prstGeom>
          <a:noFill/>
          <a:ln/>
        </p:spPr>
        <p:txBody>
          <a:bodyPr wrap="square" lIns="0" tIns="0" rIns="0" bIns="0" rtlCol="0" anchor="ctr"/>
          <a:lstStyle/>
          <a:p>
            <a:pPr indent="0" marL="0">
              <a:buNone/>
            </a:pPr>
            <a:r>
              <a:rPr lang="en-US" sz="1700" b="1" dirty="0">
                <a:solidFill>
                  <a:srgbClr val="9B7BD4"/>
                </a:solidFill>
                <a:latin typeface="Arial" pitchFamily="34" charset="0"/>
                <a:ea typeface="Arial" pitchFamily="34" charset="-122"/>
                <a:cs typeface="Arial" pitchFamily="34" charset="-120"/>
              </a:rPr>
              <a:t>Own it</a:t>
            </a:r>
            <a:endParaRPr lang="en-US" sz="1700" dirty="0"/>
          </a:p>
        </p:txBody>
      </p:sp>
      <p:sp>
        <p:nvSpPr>
          <p:cNvPr id="18" name="Text 13"/>
          <p:cNvSpPr txBox="1"/>
          <p:nvPr/>
        </p:nvSpPr>
        <p:spPr>
          <a:xfrm>
            <a:off x="3017520" y="34747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Your shares on a public share register — your proof.</a:t>
            </a:r>
            <a:endParaRPr lang="en-US" sz="1400" dirty="0"/>
          </a:p>
        </p:txBody>
      </p:sp>
      <p:sp>
        <p:nvSpPr>
          <p:cNvPr id="19" name="Shape 14"/>
          <p:cNvSpPr/>
          <p:nvPr/>
        </p:nvSpPr>
        <p:spPr>
          <a:xfrm>
            <a:off x="502920" y="4389120"/>
            <a:ext cx="6035040" cy="777240"/>
          </a:xfrm>
          <a:prstGeom prst="roundRect">
            <a:avLst>
              <a:gd name="adj" fmla="val 14118"/>
            </a:avLst>
          </a:prstGeom>
          <a:solidFill>
            <a:srgbClr val="12201D"/>
          </a:solidFill>
          <a:ln w="12700">
            <a:solidFill>
              <a:srgbClr val="E3A83A"/>
            </a:solidFill>
            <a:prstDash val="solid"/>
          </a:ln>
        </p:spPr>
      </p:sp>
      <p:sp>
        <p:nvSpPr>
          <p:cNvPr id="20" name="Shape 15"/>
          <p:cNvSpPr/>
          <p:nvPr/>
        </p:nvSpPr>
        <p:spPr>
          <a:xfrm>
            <a:off x="658368" y="4507992"/>
            <a:ext cx="548640" cy="548640"/>
          </a:xfrm>
          <a:prstGeom prst="ellipse">
            <a:avLst/>
          </a:prstGeom>
          <a:solidFill>
            <a:srgbClr val="E3A83A"/>
          </a:solidFill>
          <a:ln w="12700">
            <a:solidFill>
              <a:srgbClr val="E3A83A"/>
            </a:solidFill>
            <a:prstDash val="solid"/>
          </a:ln>
        </p:spPr>
      </p:sp>
      <p:pic>
        <p:nvPicPr>
          <p:cNvPr id="21" name="Image 3" descr="preencoded.png">    </p:cNvPr>
          <p:cNvPicPr>
            <a:picLocks noChangeAspect="1"/>
          </p:cNvPicPr>
          <p:nvPr/>
        </p:nvPicPr>
        <p:blipFill>
          <a:blip r:embed="rId4"/>
          <a:stretch>
            <a:fillRect/>
          </a:stretch>
        </p:blipFill>
        <p:spPr>
          <a:xfrm>
            <a:off x="795528" y="4645152"/>
            <a:ext cx="274320" cy="274320"/>
          </a:xfrm>
          <a:prstGeom prst="rect">
            <a:avLst/>
          </a:prstGeom>
        </p:spPr>
      </p:pic>
      <p:sp>
        <p:nvSpPr>
          <p:cNvPr id="22" name="Text 16"/>
          <p:cNvSpPr txBox="1"/>
          <p:nvPr/>
        </p:nvSpPr>
        <p:spPr>
          <a:xfrm>
            <a:off x="1371600" y="4389120"/>
            <a:ext cx="1645920" cy="777240"/>
          </a:xfrm>
          <a:prstGeom prst="rect">
            <a:avLst/>
          </a:prstGeom>
          <a:noFill/>
          <a:ln/>
        </p:spPr>
        <p:txBody>
          <a:bodyPr wrap="square" lIns="0" tIns="0" rIns="0" bIns="0" rtlCol="0" anchor="ctr"/>
          <a:lstStyle/>
          <a:p>
            <a:pPr indent="0" marL="0">
              <a:buNone/>
            </a:pPr>
            <a:r>
              <a:rPr lang="en-US" sz="1700" b="1" dirty="0">
                <a:solidFill>
                  <a:srgbClr val="E3A83A"/>
                </a:solidFill>
                <a:latin typeface="Arial" pitchFamily="34" charset="0"/>
                <a:ea typeface="Arial" pitchFamily="34" charset="-122"/>
                <a:cs typeface="Arial" pitchFamily="34" charset="-120"/>
              </a:rPr>
              <a:t>Get paid</a:t>
            </a:r>
            <a:endParaRPr lang="en-US" sz="1700" dirty="0"/>
          </a:p>
        </p:txBody>
      </p:sp>
      <p:sp>
        <p:nvSpPr>
          <p:cNvPr id="23" name="Text 17"/>
          <p:cNvSpPr txBox="1"/>
          <p:nvPr/>
        </p:nvSpPr>
        <p:spPr>
          <a:xfrm>
            <a:off x="3017520" y="43891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Dividends go straight into your wallet, automatically.</a:t>
            </a:r>
            <a:endParaRPr lang="en-US" sz="1400" dirty="0"/>
          </a:p>
        </p:txBody>
      </p:sp>
      <p:sp>
        <p:nvSpPr>
          <p:cNvPr id="24" name="Shape 18"/>
          <p:cNvSpPr/>
          <p:nvPr/>
        </p:nvSpPr>
        <p:spPr>
          <a:xfrm>
            <a:off x="502920" y="5303520"/>
            <a:ext cx="6035040" cy="777240"/>
          </a:xfrm>
          <a:prstGeom prst="roundRect">
            <a:avLst>
              <a:gd name="adj" fmla="val 14118"/>
            </a:avLst>
          </a:prstGeom>
          <a:solidFill>
            <a:srgbClr val="12201D"/>
          </a:solidFill>
          <a:ln w="12700">
            <a:solidFill>
              <a:srgbClr val="7FE0C2"/>
            </a:solidFill>
            <a:prstDash val="solid"/>
          </a:ln>
        </p:spPr>
      </p:sp>
      <p:sp>
        <p:nvSpPr>
          <p:cNvPr id="25" name="Shape 19"/>
          <p:cNvSpPr/>
          <p:nvPr/>
        </p:nvSpPr>
        <p:spPr>
          <a:xfrm>
            <a:off x="658368" y="5422392"/>
            <a:ext cx="548640" cy="548640"/>
          </a:xfrm>
          <a:prstGeom prst="ellipse">
            <a:avLst/>
          </a:prstGeom>
          <a:solidFill>
            <a:srgbClr val="7FE0C2"/>
          </a:solidFill>
          <a:ln w="12700">
            <a:solidFill>
              <a:srgbClr val="7FE0C2"/>
            </a:solidFill>
            <a:prstDash val="solid"/>
          </a:ln>
        </p:spPr>
      </p:sp>
      <p:pic>
        <p:nvPicPr>
          <p:cNvPr id="26" name="Image 4" descr="preencoded.png">    </p:cNvPr>
          <p:cNvPicPr>
            <a:picLocks noChangeAspect="1"/>
          </p:cNvPicPr>
          <p:nvPr/>
        </p:nvPicPr>
        <p:blipFill>
          <a:blip r:embed="rId5"/>
          <a:stretch>
            <a:fillRect/>
          </a:stretch>
        </p:blipFill>
        <p:spPr>
          <a:xfrm>
            <a:off x="795528" y="5559552"/>
            <a:ext cx="274320" cy="274320"/>
          </a:xfrm>
          <a:prstGeom prst="rect">
            <a:avLst/>
          </a:prstGeom>
        </p:spPr>
      </p:pic>
      <p:sp>
        <p:nvSpPr>
          <p:cNvPr id="27" name="Text 20"/>
          <p:cNvSpPr txBox="1"/>
          <p:nvPr/>
        </p:nvSpPr>
        <p:spPr>
          <a:xfrm>
            <a:off x="1371600" y="5303520"/>
            <a:ext cx="1645920" cy="777240"/>
          </a:xfrm>
          <a:prstGeom prst="rect">
            <a:avLst/>
          </a:prstGeom>
          <a:noFill/>
          <a:ln/>
        </p:spPr>
        <p:txBody>
          <a:bodyPr wrap="square" lIns="0" tIns="0" rIns="0" bIns="0" rtlCol="0" anchor="ctr"/>
          <a:lstStyle/>
          <a:p>
            <a:pPr indent="0" marL="0">
              <a:buNone/>
            </a:pPr>
            <a:r>
              <a:rPr lang="en-US" sz="1700" b="1" dirty="0">
                <a:solidFill>
                  <a:srgbClr val="7FE0C2"/>
                </a:solidFill>
                <a:latin typeface="Arial" pitchFamily="34" charset="0"/>
                <a:ea typeface="Arial" pitchFamily="34" charset="-122"/>
                <a:cs typeface="Arial" pitchFamily="34" charset="-120"/>
              </a:rPr>
              <a:t>Check it</a:t>
            </a:r>
            <a:endParaRPr lang="en-US" sz="1700" dirty="0"/>
          </a:p>
        </p:txBody>
      </p:sp>
      <p:sp>
        <p:nvSpPr>
          <p:cNvPr id="28" name="Text 21"/>
          <p:cNvSpPr txBox="1"/>
          <p:nvPr/>
        </p:nvSpPr>
        <p:spPr>
          <a:xfrm>
            <a:off x="3017520" y="53035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Anyone can check the numbers and the register.</a:t>
            </a:r>
            <a:endParaRPr lang="en-US" sz="1400" dirty="0"/>
          </a:p>
        </p:txBody>
      </p:sp>
      <p:sp>
        <p:nvSpPr>
          <p:cNvPr id="29" name="Shape 22"/>
          <p:cNvSpPr/>
          <p:nvPr/>
        </p:nvSpPr>
        <p:spPr>
          <a:xfrm>
            <a:off x="7360920" y="1554480"/>
            <a:ext cx="4113753" cy="4663440"/>
          </a:xfrm>
          <a:prstGeom prst="roundRect">
            <a:avLst>
              <a:gd name="adj" fmla="val 177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30" name="Image 5" descr="preencoded.png">    </p:cNvPr>
          <p:cNvPicPr>
            <a:picLocks noChangeAspect="1"/>
          </p:cNvPicPr>
          <p:nvPr/>
        </p:nvPicPr>
        <p:blipFill>
          <a:blip r:embed="rId6"/>
          <a:stretch>
            <a:fillRect/>
          </a:stretch>
        </p:blipFill>
        <p:spPr>
          <a:xfrm>
            <a:off x="7406640" y="1600200"/>
            <a:ext cx="4022313" cy="4572000"/>
          </a:xfrm>
          <a:prstGeom prst="rect">
            <a:avLst/>
          </a:prstGeom>
        </p:spPr>
      </p:pic>
      <p:sp>
        <p:nvSpPr>
          <p:cNvPr id="31" name="Text 23"/>
          <p:cNvSpPr txBox="1"/>
          <p:nvPr/>
        </p:nvSpPr>
        <p:spPr>
          <a:xfrm>
            <a:off x="6949440" y="6172200"/>
            <a:ext cx="4937760" cy="274320"/>
          </a:xfrm>
          <a:prstGeom prst="rect">
            <a:avLst/>
          </a:prstGeom>
          <a:noFill/>
          <a:ln/>
        </p:spPr>
        <p:txBody>
          <a:bodyPr wrap="square" lIns="0" tIns="0" rIns="0" bIns="0" rtlCol="0" anchor="ctr"/>
          <a:lstStyle/>
          <a:p>
            <a:pPr algn="ctr" indent="0" marL="0">
              <a:buNone/>
            </a:pPr>
            <a:r>
              <a:rPr lang="en-US" sz="1150" i="1" dirty="0">
                <a:solidFill>
                  <a:srgbClr val="7E948F"/>
                </a:solidFill>
                <a:latin typeface="Calibri" pitchFamily="34" charset="0"/>
                <a:ea typeface="Calibri" pitchFamily="34" charset="-122"/>
                <a:cs typeface="Calibri" pitchFamily="34" charset="-120"/>
              </a:rPr>
              <a:t>What a shareholder sees</a:t>
            </a:r>
            <a:endParaRPr lang="en-US" sz="1150" dirty="0"/>
          </a:p>
        </p:txBody>
      </p:sp>
      <p:sp>
        <p:nvSpPr>
          <p:cNvPr id="32" name="Text 24"/>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4 / 9   ·   UNDERSTAND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 fair value you can trace, approved by a person.</a:t>
            </a:r>
            <a:endParaRPr lang="en-US" sz="3000" dirty="0"/>
          </a:p>
        </p:txBody>
      </p:sp>
      <p:sp>
        <p:nvSpPr>
          <p:cNvPr id="4" name="Shape 2"/>
          <p:cNvSpPr/>
          <p:nvPr/>
        </p:nvSpPr>
        <p:spPr>
          <a:xfrm>
            <a:off x="457200" y="1554480"/>
            <a:ext cx="6008180" cy="4754880"/>
          </a:xfrm>
          <a:prstGeom prst="roundRect">
            <a:avLst>
              <a:gd name="adj" fmla="val 153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00200"/>
            <a:ext cx="5916740" cy="4663440"/>
          </a:xfrm>
          <a:prstGeom prst="rect">
            <a:avLst/>
          </a:prstGeom>
        </p:spPr>
      </p:pic>
      <p:sp>
        <p:nvSpPr>
          <p:cNvPr id="6" name="Shape 3"/>
          <p:cNvSpPr/>
          <p:nvPr/>
        </p:nvSpPr>
        <p:spPr>
          <a:xfrm>
            <a:off x="7498080" y="1600200"/>
            <a:ext cx="4206240" cy="4617720"/>
          </a:xfrm>
          <a:prstGeom prst="roundRect">
            <a:avLst>
              <a:gd name="adj" fmla="val 2609"/>
            </a:avLst>
          </a:prstGeom>
          <a:solidFill>
            <a:srgbClr val="12201D"/>
          </a:solidFill>
          <a:ln w="12700">
            <a:solidFill>
              <a:srgbClr val="25403A"/>
            </a:solidFill>
            <a:prstDash val="solid"/>
          </a:ln>
        </p:spPr>
      </p:sp>
      <p:sp>
        <p:nvSpPr>
          <p:cNvPr id="7" name="Shape 4"/>
          <p:cNvSpPr/>
          <p:nvPr/>
        </p:nvSpPr>
        <p:spPr>
          <a:xfrm>
            <a:off x="7726680" y="1920240"/>
            <a:ext cx="146304" cy="146304"/>
          </a:xfrm>
          <a:prstGeom prst="ellipse">
            <a:avLst/>
          </a:prstGeom>
          <a:solidFill>
            <a:srgbClr val="22A07F"/>
          </a:solidFill>
          <a:ln w="12700">
            <a:solidFill>
              <a:srgbClr val="22A07F"/>
            </a:solidFill>
            <a:prstDash val="solid"/>
          </a:ln>
        </p:spPr>
      </p:sp>
      <p:sp>
        <p:nvSpPr>
          <p:cNvPr id="8" name="Text 5"/>
          <p:cNvSpPr txBox="1"/>
          <p:nvPr/>
        </p:nvSpPr>
        <p:spPr>
          <a:xfrm>
            <a:off x="8019288" y="182880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Paste a website. Get a plain report in minutes.</a:t>
            </a:r>
            <a:endParaRPr lang="en-US" sz="1600" dirty="0"/>
          </a:p>
        </p:txBody>
      </p:sp>
      <p:sp>
        <p:nvSpPr>
          <p:cNvPr id="9" name="Shape 6"/>
          <p:cNvSpPr/>
          <p:nvPr/>
        </p:nvSpPr>
        <p:spPr>
          <a:xfrm>
            <a:off x="7726680" y="2651760"/>
            <a:ext cx="146304" cy="146304"/>
          </a:xfrm>
          <a:prstGeom prst="ellipse">
            <a:avLst/>
          </a:prstGeom>
          <a:solidFill>
            <a:srgbClr val="22A07F"/>
          </a:solidFill>
          <a:ln w="12700">
            <a:solidFill>
              <a:srgbClr val="22A07F"/>
            </a:solidFill>
            <a:prstDash val="solid"/>
          </a:ln>
        </p:spPr>
      </p:sp>
      <p:sp>
        <p:nvSpPr>
          <p:cNvPr id="10" name="Text 7"/>
          <p:cNvSpPr txBox="1"/>
          <p:nvPr/>
        </p:nvSpPr>
        <p:spPr>
          <a:xfrm>
            <a:off x="8019288" y="256032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Clear business score A–E and a low · mid · high value.</a:t>
            </a:r>
            <a:endParaRPr lang="en-US" sz="1600" dirty="0"/>
          </a:p>
        </p:txBody>
      </p:sp>
      <p:sp>
        <p:nvSpPr>
          <p:cNvPr id="11" name="Shape 8"/>
          <p:cNvSpPr/>
          <p:nvPr/>
        </p:nvSpPr>
        <p:spPr>
          <a:xfrm>
            <a:off x="7726680" y="3383280"/>
            <a:ext cx="146304" cy="146304"/>
          </a:xfrm>
          <a:prstGeom prst="ellipse">
            <a:avLst/>
          </a:prstGeom>
          <a:solidFill>
            <a:srgbClr val="22A07F"/>
          </a:solidFill>
          <a:ln w="12700">
            <a:solidFill>
              <a:srgbClr val="22A07F"/>
            </a:solidFill>
            <a:prstDash val="solid"/>
          </a:ln>
        </p:spPr>
      </p:sp>
      <p:sp>
        <p:nvSpPr>
          <p:cNvPr id="12" name="Text 9"/>
          <p:cNvSpPr txBox="1"/>
          <p:nvPr/>
        </p:nvSpPr>
        <p:spPr>
          <a:xfrm>
            <a:off x="8019288" y="329184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Every figure links to its source. No source, no number.</a:t>
            </a:r>
            <a:endParaRPr lang="en-US" sz="1600" dirty="0"/>
          </a:p>
        </p:txBody>
      </p:sp>
      <p:sp>
        <p:nvSpPr>
          <p:cNvPr id="13" name="Shape 10"/>
          <p:cNvSpPr/>
          <p:nvPr/>
        </p:nvSpPr>
        <p:spPr>
          <a:xfrm>
            <a:off x="7726680" y="4114800"/>
            <a:ext cx="146304" cy="146304"/>
          </a:xfrm>
          <a:prstGeom prst="ellipse">
            <a:avLst/>
          </a:prstGeom>
          <a:solidFill>
            <a:srgbClr val="22A07F"/>
          </a:solidFill>
          <a:ln w="12700">
            <a:solidFill>
              <a:srgbClr val="22A07F"/>
            </a:solidFill>
            <a:prstDash val="solid"/>
          </a:ln>
        </p:spPr>
      </p:sp>
      <p:sp>
        <p:nvSpPr>
          <p:cNvPr id="14" name="Text 11"/>
          <p:cNvSpPr txBox="1"/>
          <p:nvPr/>
        </p:nvSpPr>
        <p:spPr>
          <a:xfrm>
            <a:off x="8019288" y="402336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A person checks and approves before anyone sees it.</a:t>
            </a:r>
            <a:endParaRPr lang="en-US" sz="1600" dirty="0"/>
          </a:p>
        </p:txBody>
      </p:sp>
      <p:sp>
        <p:nvSpPr>
          <p:cNvPr id="15" name="Text 12"/>
          <p:cNvSpPr txBox="1"/>
          <p:nvPr/>
        </p:nvSpPr>
        <p:spPr>
          <a:xfrm>
            <a:off x="7726680" y="4983480"/>
            <a:ext cx="3840480" cy="822960"/>
          </a:xfrm>
          <a:prstGeom prst="rect">
            <a:avLst/>
          </a:prstGeom>
          <a:noFill/>
          <a:ln/>
        </p:spPr>
        <p:txBody>
          <a:bodyPr wrap="square" lIns="0" tIns="0" rIns="0" bIns="0" rtlCol="0" anchor="ctr"/>
          <a:lstStyle/>
          <a:p>
            <a:pPr indent="0" marL="0">
              <a:buNone/>
            </a:pPr>
            <a:r>
              <a:rPr lang="en-US" sz="1500" b="1" dirty="0">
                <a:solidFill>
                  <a:srgbClr val="E3A83A"/>
                </a:solidFill>
                <a:latin typeface="Calibri" pitchFamily="34" charset="0"/>
                <a:ea typeface="Calibri" pitchFamily="34" charset="-122"/>
                <a:cs typeface="Calibri" pitchFamily="34" charset="-120"/>
              </a:rPr>
              <a:t>Canva: A$64B mid value, every source listed, approved by a person.</a:t>
            </a:r>
            <a:endParaRPr lang="en-US" sz="15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9B7BD4"/>
                </a:solidFill>
                <a:latin typeface="Calibri" pitchFamily="34" charset="0"/>
                <a:ea typeface="Calibri" pitchFamily="34" charset="-122"/>
                <a:cs typeface="Calibri" pitchFamily="34" charset="-120"/>
              </a:rPr>
              <a:t>5 / 9   ·   OWN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Your shares are on the record. The record is your proof.</a:t>
            </a:r>
            <a:endParaRPr lang="en-US" sz="3000" dirty="0"/>
          </a:p>
        </p:txBody>
      </p:sp>
      <p:sp>
        <p:nvSpPr>
          <p:cNvPr id="4" name="Shape 2"/>
          <p:cNvSpPr/>
          <p:nvPr/>
        </p:nvSpPr>
        <p:spPr>
          <a:xfrm>
            <a:off x="457200" y="1554480"/>
            <a:ext cx="5943600" cy="4679063"/>
          </a:xfrm>
          <a:prstGeom prst="roundRect">
            <a:avLst>
              <a:gd name="adj" fmla="val 1563"/>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00200"/>
            <a:ext cx="5852160" cy="4587623"/>
          </a:xfrm>
          <a:prstGeom prst="rect">
            <a:avLst/>
          </a:prstGeom>
        </p:spPr>
      </p:pic>
      <p:sp>
        <p:nvSpPr>
          <p:cNvPr id="6" name="Shape 3"/>
          <p:cNvSpPr/>
          <p:nvPr/>
        </p:nvSpPr>
        <p:spPr>
          <a:xfrm>
            <a:off x="6766560" y="1600200"/>
            <a:ext cx="4937760" cy="4617720"/>
          </a:xfrm>
          <a:prstGeom prst="roundRect">
            <a:avLst>
              <a:gd name="adj" fmla="val 2376"/>
            </a:avLst>
          </a:prstGeom>
          <a:solidFill>
            <a:srgbClr val="12201D"/>
          </a:solidFill>
          <a:ln w="12700">
            <a:solidFill>
              <a:srgbClr val="25403A"/>
            </a:solidFill>
            <a:prstDash val="solid"/>
          </a:ln>
        </p:spPr>
      </p:sp>
      <p:sp>
        <p:nvSpPr>
          <p:cNvPr id="7" name="Shape 4"/>
          <p:cNvSpPr/>
          <p:nvPr/>
        </p:nvSpPr>
        <p:spPr>
          <a:xfrm>
            <a:off x="6995160" y="1920240"/>
            <a:ext cx="146304" cy="146304"/>
          </a:xfrm>
          <a:prstGeom prst="ellipse">
            <a:avLst/>
          </a:prstGeom>
          <a:solidFill>
            <a:srgbClr val="9B7BD4"/>
          </a:solidFill>
          <a:ln w="12700">
            <a:solidFill>
              <a:srgbClr val="9B7BD4"/>
            </a:solidFill>
            <a:prstDash val="solid"/>
          </a:ln>
        </p:spPr>
      </p:sp>
      <p:sp>
        <p:nvSpPr>
          <p:cNvPr id="8" name="Text 5"/>
          <p:cNvSpPr txBox="1"/>
          <p:nvPr/>
        </p:nvSpPr>
        <p:spPr>
          <a:xfrm>
            <a:off x="7287768" y="182880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Every holder, wallet and share count in one share register.</a:t>
            </a:r>
            <a:endParaRPr lang="en-US" sz="1600" dirty="0"/>
          </a:p>
        </p:txBody>
      </p:sp>
      <p:sp>
        <p:nvSpPr>
          <p:cNvPr id="9" name="Shape 6"/>
          <p:cNvSpPr/>
          <p:nvPr/>
        </p:nvSpPr>
        <p:spPr>
          <a:xfrm>
            <a:off x="6995160" y="2651760"/>
            <a:ext cx="146304" cy="146304"/>
          </a:xfrm>
          <a:prstGeom prst="ellipse">
            <a:avLst/>
          </a:prstGeom>
          <a:solidFill>
            <a:srgbClr val="9B7BD4"/>
          </a:solidFill>
          <a:ln w="12700">
            <a:solidFill>
              <a:srgbClr val="9B7BD4"/>
            </a:solidFill>
            <a:prstDash val="solid"/>
          </a:ln>
        </p:spPr>
      </p:sp>
      <p:sp>
        <p:nvSpPr>
          <p:cNvPr id="10" name="Text 7"/>
          <p:cNvSpPr txBox="1"/>
          <p:nvPr/>
        </p:nvSpPr>
        <p:spPr>
          <a:xfrm>
            <a:off x="7287768" y="256032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Recorded on blockchain and copied to two public blockchains.</a:t>
            </a:r>
            <a:endParaRPr lang="en-US" sz="1600" dirty="0"/>
          </a:p>
        </p:txBody>
      </p:sp>
      <p:sp>
        <p:nvSpPr>
          <p:cNvPr id="11" name="Shape 8"/>
          <p:cNvSpPr/>
          <p:nvPr/>
        </p:nvSpPr>
        <p:spPr>
          <a:xfrm>
            <a:off x="6995160" y="3383280"/>
            <a:ext cx="146304" cy="146304"/>
          </a:xfrm>
          <a:prstGeom prst="ellipse">
            <a:avLst/>
          </a:prstGeom>
          <a:solidFill>
            <a:srgbClr val="9B7BD4"/>
          </a:solidFill>
          <a:ln w="12700">
            <a:solidFill>
              <a:srgbClr val="9B7BD4"/>
            </a:solidFill>
            <a:prstDash val="solid"/>
          </a:ln>
        </p:spPr>
      </p:sp>
      <p:sp>
        <p:nvSpPr>
          <p:cNvPr id="12" name="Text 9"/>
          <p:cNvSpPr txBox="1"/>
          <p:nvPr/>
        </p:nvSpPr>
        <p:spPr>
          <a:xfrm>
            <a:off x="7287768" y="329184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New shares need a person's approval — you see the dilution first.</a:t>
            </a:r>
            <a:endParaRPr lang="en-US" sz="1600" dirty="0"/>
          </a:p>
        </p:txBody>
      </p:sp>
      <p:sp>
        <p:nvSpPr>
          <p:cNvPr id="13" name="Shape 10"/>
          <p:cNvSpPr/>
          <p:nvPr/>
        </p:nvSpPr>
        <p:spPr>
          <a:xfrm>
            <a:off x="6995160" y="4114800"/>
            <a:ext cx="146304" cy="146304"/>
          </a:xfrm>
          <a:prstGeom prst="ellipse">
            <a:avLst/>
          </a:prstGeom>
          <a:solidFill>
            <a:srgbClr val="9B7BD4"/>
          </a:solidFill>
          <a:ln w="12700">
            <a:solidFill>
              <a:srgbClr val="9B7BD4"/>
            </a:solidFill>
            <a:prstDash val="solid"/>
          </a:ln>
        </p:spPr>
      </p:sp>
      <p:sp>
        <p:nvSpPr>
          <p:cNvPr id="14" name="Text 11"/>
          <p:cNvSpPr txBox="1"/>
          <p:nvPr/>
        </p:nvSpPr>
        <p:spPr>
          <a:xfrm>
            <a:off x="7287768" y="402336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Hold your shares in your own wallet, or sign in with Google.</a:t>
            </a:r>
            <a:endParaRPr lang="en-US" sz="1600" dirty="0"/>
          </a:p>
        </p:txBody>
      </p:sp>
      <p:sp>
        <p:nvSpPr>
          <p:cNvPr id="15" name="Text 12"/>
          <p:cNvSpPr txBox="1"/>
          <p:nvPr/>
        </p:nvSpPr>
        <p:spPr>
          <a:xfrm>
            <a:off x="6995160" y="5029200"/>
            <a:ext cx="4572000" cy="731520"/>
          </a:xfrm>
          <a:prstGeom prst="rect">
            <a:avLst/>
          </a:prstGeom>
          <a:noFill/>
          <a:ln/>
        </p:spPr>
        <p:txBody>
          <a:bodyPr wrap="square" lIns="0" tIns="0" rIns="0" bIns="0" rtlCol="0" anchor="ctr"/>
          <a:lstStyle/>
          <a:p>
            <a:pPr indent="0" marL="0">
              <a:buNone/>
            </a:pPr>
            <a:r>
              <a:rPr lang="en-US" sz="1500" b="1" dirty="0">
                <a:solidFill>
                  <a:srgbClr val="E3A83A"/>
                </a:solidFill>
                <a:latin typeface="Calibri" pitchFamily="34" charset="0"/>
                <a:ea typeface="Calibri" pitchFamily="34" charset="-122"/>
                <a:cs typeface="Calibri" pitchFamily="34" charset="-120"/>
              </a:rPr>
              <a:t>13 businesses listed · 38 share records on blockchain</a:t>
            </a:r>
            <a:endParaRPr lang="en-US" sz="15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6 / 9   ·   FOLLOW IT · GET PAID</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Same update for everyone. Dividends to your wallet.</a:t>
            </a:r>
            <a:endParaRPr lang="en-US" sz="3000" dirty="0"/>
          </a:p>
        </p:txBody>
      </p:sp>
      <p:sp>
        <p:nvSpPr>
          <p:cNvPr id="4" name="Shape 2"/>
          <p:cNvSpPr/>
          <p:nvPr/>
        </p:nvSpPr>
        <p:spPr>
          <a:xfrm>
            <a:off x="777240" y="1554480"/>
            <a:ext cx="4023360" cy="4560694"/>
          </a:xfrm>
          <a:prstGeom prst="roundRect">
            <a:avLst>
              <a:gd name="adj" fmla="val 181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822960" y="1600200"/>
            <a:ext cx="3931920" cy="4469254"/>
          </a:xfrm>
          <a:prstGeom prst="rect">
            <a:avLst/>
          </a:prstGeom>
        </p:spPr>
      </p:pic>
      <p:sp>
        <p:nvSpPr>
          <p:cNvPr id="6" name="Shape 3"/>
          <p:cNvSpPr/>
          <p:nvPr/>
        </p:nvSpPr>
        <p:spPr>
          <a:xfrm>
            <a:off x="5394960" y="1645920"/>
            <a:ext cx="6309360" cy="960120"/>
          </a:xfrm>
          <a:prstGeom prst="roundRect">
            <a:avLst>
              <a:gd name="adj" fmla="val 11429"/>
            </a:avLst>
          </a:prstGeom>
          <a:solidFill>
            <a:srgbClr val="12201D"/>
          </a:solidFill>
          <a:ln w="12700">
            <a:solidFill>
              <a:srgbClr val="5D8AD6"/>
            </a:solidFill>
            <a:prstDash val="solid"/>
          </a:ln>
        </p:spPr>
      </p:sp>
      <p:sp>
        <p:nvSpPr>
          <p:cNvPr id="7" name="Shape 4"/>
          <p:cNvSpPr/>
          <p:nvPr/>
        </p:nvSpPr>
        <p:spPr>
          <a:xfrm>
            <a:off x="5577840" y="1865376"/>
            <a:ext cx="530352" cy="530352"/>
          </a:xfrm>
          <a:prstGeom prst="ellipse">
            <a:avLst/>
          </a:prstGeom>
          <a:solidFill>
            <a:srgbClr val="5D8AD6"/>
          </a:solidFill>
          <a:ln w="12700">
            <a:solidFill>
              <a:srgbClr val="5D8AD6"/>
            </a:solidFill>
            <a:prstDash val="solid"/>
          </a:ln>
        </p:spPr>
      </p:sp>
      <p:sp>
        <p:nvSpPr>
          <p:cNvPr id="8" name="Text 5"/>
          <p:cNvSpPr txBox="1"/>
          <p:nvPr/>
        </p:nvSpPr>
        <p:spPr>
          <a:xfrm>
            <a:off x="5577840" y="1865376"/>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1</a:t>
            </a:r>
            <a:endParaRPr lang="en-US" sz="1800" dirty="0"/>
          </a:p>
        </p:txBody>
      </p:sp>
      <p:sp>
        <p:nvSpPr>
          <p:cNvPr id="9" name="Text 6"/>
          <p:cNvSpPr txBox="1"/>
          <p:nvPr/>
        </p:nvSpPr>
        <p:spPr>
          <a:xfrm>
            <a:off x="6355080" y="1755648"/>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Business shares its numbers</a:t>
            </a:r>
            <a:endParaRPr lang="en-US" sz="1700" dirty="0"/>
          </a:p>
        </p:txBody>
      </p:sp>
      <p:sp>
        <p:nvSpPr>
          <p:cNvPr id="10" name="Text 7"/>
          <p:cNvSpPr txBox="1"/>
          <p:nvPr/>
        </p:nvSpPr>
        <p:spPr>
          <a:xfrm>
            <a:off x="6355080" y="2148840"/>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weekly, monthly, quarterly or yearly</a:t>
            </a:r>
            <a:endParaRPr lang="en-US" sz="1350" dirty="0"/>
          </a:p>
        </p:txBody>
      </p:sp>
      <p:sp>
        <p:nvSpPr>
          <p:cNvPr id="11" name="Shape 8"/>
          <p:cNvSpPr/>
          <p:nvPr/>
        </p:nvSpPr>
        <p:spPr>
          <a:xfrm>
            <a:off x="5394960" y="2761488"/>
            <a:ext cx="6309360" cy="960120"/>
          </a:xfrm>
          <a:prstGeom prst="roundRect">
            <a:avLst>
              <a:gd name="adj" fmla="val 11429"/>
            </a:avLst>
          </a:prstGeom>
          <a:solidFill>
            <a:srgbClr val="12201D"/>
          </a:solidFill>
          <a:ln w="12700">
            <a:solidFill>
              <a:srgbClr val="22A07F"/>
            </a:solidFill>
            <a:prstDash val="solid"/>
          </a:ln>
        </p:spPr>
      </p:sp>
      <p:sp>
        <p:nvSpPr>
          <p:cNvPr id="12" name="Shape 9"/>
          <p:cNvSpPr/>
          <p:nvPr/>
        </p:nvSpPr>
        <p:spPr>
          <a:xfrm>
            <a:off x="5577840" y="2980944"/>
            <a:ext cx="530352" cy="530352"/>
          </a:xfrm>
          <a:prstGeom prst="ellipse">
            <a:avLst/>
          </a:prstGeom>
          <a:solidFill>
            <a:srgbClr val="22A07F"/>
          </a:solidFill>
          <a:ln w="12700">
            <a:solidFill>
              <a:srgbClr val="22A07F"/>
            </a:solidFill>
            <a:prstDash val="solid"/>
          </a:ln>
        </p:spPr>
      </p:sp>
      <p:sp>
        <p:nvSpPr>
          <p:cNvPr id="13" name="Text 10"/>
          <p:cNvSpPr txBox="1"/>
          <p:nvPr/>
        </p:nvSpPr>
        <p:spPr>
          <a:xfrm>
            <a:off x="5577840" y="2980944"/>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2</a:t>
            </a:r>
            <a:endParaRPr lang="en-US" sz="1800" dirty="0"/>
          </a:p>
        </p:txBody>
      </p:sp>
      <p:sp>
        <p:nvSpPr>
          <p:cNvPr id="14" name="Text 11"/>
          <p:cNvSpPr txBox="1"/>
          <p:nvPr/>
        </p:nvSpPr>
        <p:spPr>
          <a:xfrm>
            <a:off x="6355080" y="2871216"/>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Plain-language update + fair value</a:t>
            </a:r>
            <a:endParaRPr lang="en-US" sz="1700" dirty="0"/>
          </a:p>
        </p:txBody>
      </p:sp>
      <p:sp>
        <p:nvSpPr>
          <p:cNvPr id="15" name="Text 12"/>
          <p:cNvSpPr txBox="1"/>
          <p:nvPr/>
        </p:nvSpPr>
        <p:spPr>
          <a:xfrm>
            <a:off x="6355080" y="3264408"/>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a person approves it before it goes out</a:t>
            </a:r>
            <a:endParaRPr lang="en-US" sz="1350" dirty="0"/>
          </a:p>
        </p:txBody>
      </p:sp>
      <p:sp>
        <p:nvSpPr>
          <p:cNvPr id="16" name="Shape 13"/>
          <p:cNvSpPr/>
          <p:nvPr/>
        </p:nvSpPr>
        <p:spPr>
          <a:xfrm>
            <a:off x="5394960" y="3877056"/>
            <a:ext cx="6309360" cy="960120"/>
          </a:xfrm>
          <a:prstGeom prst="roundRect">
            <a:avLst>
              <a:gd name="adj" fmla="val 11429"/>
            </a:avLst>
          </a:prstGeom>
          <a:solidFill>
            <a:srgbClr val="12201D"/>
          </a:solidFill>
          <a:ln w="12700">
            <a:solidFill>
              <a:srgbClr val="9B7BD4"/>
            </a:solidFill>
            <a:prstDash val="solid"/>
          </a:ln>
        </p:spPr>
      </p:sp>
      <p:sp>
        <p:nvSpPr>
          <p:cNvPr id="17" name="Shape 14"/>
          <p:cNvSpPr/>
          <p:nvPr/>
        </p:nvSpPr>
        <p:spPr>
          <a:xfrm>
            <a:off x="5577840" y="4096512"/>
            <a:ext cx="530352" cy="530352"/>
          </a:xfrm>
          <a:prstGeom prst="ellipse">
            <a:avLst/>
          </a:prstGeom>
          <a:solidFill>
            <a:srgbClr val="9B7BD4"/>
          </a:solidFill>
          <a:ln w="12700">
            <a:solidFill>
              <a:srgbClr val="9B7BD4"/>
            </a:solidFill>
            <a:prstDash val="solid"/>
          </a:ln>
        </p:spPr>
      </p:sp>
      <p:sp>
        <p:nvSpPr>
          <p:cNvPr id="18" name="Text 15"/>
          <p:cNvSpPr txBox="1"/>
          <p:nvPr/>
        </p:nvSpPr>
        <p:spPr>
          <a:xfrm>
            <a:off x="5577840" y="4096512"/>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3</a:t>
            </a:r>
            <a:endParaRPr lang="en-US" sz="1800" dirty="0"/>
          </a:p>
        </p:txBody>
      </p:sp>
      <p:sp>
        <p:nvSpPr>
          <p:cNvPr id="19" name="Text 16"/>
          <p:cNvSpPr txBox="1"/>
          <p:nvPr/>
        </p:nvSpPr>
        <p:spPr>
          <a:xfrm>
            <a:off x="6355080" y="3986784"/>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Every investor gets it at once</a:t>
            </a:r>
            <a:endParaRPr lang="en-US" sz="1700" dirty="0"/>
          </a:p>
        </p:txBody>
      </p:sp>
      <p:sp>
        <p:nvSpPr>
          <p:cNvPr id="20" name="Text 17"/>
          <p:cNvSpPr txBox="1"/>
          <p:nvPr/>
        </p:nvSpPr>
        <p:spPr>
          <a:xfrm>
            <a:off x="6355080" y="4379976"/>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record stored on blockchain, anyone can check</a:t>
            </a:r>
            <a:endParaRPr lang="en-US" sz="1350" dirty="0"/>
          </a:p>
        </p:txBody>
      </p:sp>
      <p:sp>
        <p:nvSpPr>
          <p:cNvPr id="21" name="Shape 18"/>
          <p:cNvSpPr/>
          <p:nvPr/>
        </p:nvSpPr>
        <p:spPr>
          <a:xfrm>
            <a:off x="5394960" y="4992624"/>
            <a:ext cx="6309360" cy="960120"/>
          </a:xfrm>
          <a:prstGeom prst="roundRect">
            <a:avLst>
              <a:gd name="adj" fmla="val 11429"/>
            </a:avLst>
          </a:prstGeom>
          <a:solidFill>
            <a:srgbClr val="12201D"/>
          </a:solidFill>
          <a:ln w="12700">
            <a:solidFill>
              <a:srgbClr val="E3A83A"/>
            </a:solidFill>
            <a:prstDash val="solid"/>
          </a:ln>
        </p:spPr>
      </p:sp>
      <p:sp>
        <p:nvSpPr>
          <p:cNvPr id="22" name="Shape 19"/>
          <p:cNvSpPr/>
          <p:nvPr/>
        </p:nvSpPr>
        <p:spPr>
          <a:xfrm>
            <a:off x="5577840" y="5212080"/>
            <a:ext cx="530352" cy="530352"/>
          </a:xfrm>
          <a:prstGeom prst="ellipse">
            <a:avLst/>
          </a:prstGeom>
          <a:solidFill>
            <a:srgbClr val="E3A83A"/>
          </a:solidFill>
          <a:ln w="12700">
            <a:solidFill>
              <a:srgbClr val="E3A83A"/>
            </a:solidFill>
            <a:prstDash val="solid"/>
          </a:ln>
        </p:spPr>
      </p:sp>
      <p:sp>
        <p:nvSpPr>
          <p:cNvPr id="23" name="Text 20"/>
          <p:cNvSpPr txBox="1"/>
          <p:nvPr/>
        </p:nvSpPr>
        <p:spPr>
          <a:xfrm>
            <a:off x="5577840" y="5212080"/>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4</a:t>
            </a:r>
            <a:endParaRPr lang="en-US" sz="1800" dirty="0"/>
          </a:p>
        </p:txBody>
      </p:sp>
      <p:sp>
        <p:nvSpPr>
          <p:cNvPr id="24" name="Text 21"/>
          <p:cNvSpPr txBox="1"/>
          <p:nvPr/>
        </p:nvSpPr>
        <p:spPr>
          <a:xfrm>
            <a:off x="6355080" y="5102352"/>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Dividend rule approved once</a:t>
            </a:r>
            <a:endParaRPr lang="en-US" sz="1700" dirty="0"/>
          </a:p>
        </p:txBody>
      </p:sp>
      <p:sp>
        <p:nvSpPr>
          <p:cNvPr id="25" name="Text 22"/>
          <p:cNvSpPr txBox="1"/>
          <p:nvPr/>
        </p:nvSpPr>
        <p:spPr>
          <a:xfrm>
            <a:off x="6355080" y="5495544"/>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24 hours to cancel, then paid to every wallet — no fees for holders</a:t>
            </a:r>
            <a:endParaRPr lang="en-US" sz="1350" dirty="0"/>
          </a:p>
        </p:txBody>
      </p:sp>
      <p:sp>
        <p:nvSpPr>
          <p:cNvPr id="26" name="Text 2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7FE0C2"/>
                </a:solidFill>
                <a:latin typeface="Calibri" pitchFamily="34" charset="0"/>
                <a:ea typeface="Calibri" pitchFamily="34" charset="-122"/>
                <a:cs typeface="Calibri" pitchFamily="34" charset="-120"/>
              </a:rPr>
              <a:t>7 / 9   ·   CHECK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Don't trust us. Check it yourself, in your browser.</a:t>
            </a:r>
            <a:endParaRPr lang="en-US" sz="3000" dirty="0"/>
          </a:p>
        </p:txBody>
      </p:sp>
      <p:sp>
        <p:nvSpPr>
          <p:cNvPr id="4" name="Shape 2"/>
          <p:cNvSpPr/>
          <p:nvPr/>
        </p:nvSpPr>
        <p:spPr>
          <a:xfrm>
            <a:off x="457200" y="1600200"/>
            <a:ext cx="5532120" cy="1912885"/>
          </a:xfrm>
          <a:prstGeom prst="roundRect">
            <a:avLst>
              <a:gd name="adj" fmla="val 3824"/>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440680" cy="1821445"/>
          </a:xfrm>
          <a:prstGeom prst="rect">
            <a:avLst/>
          </a:prstGeom>
        </p:spPr>
      </p:pic>
      <p:sp>
        <p:nvSpPr>
          <p:cNvPr id="6" name="Shape 3"/>
          <p:cNvSpPr/>
          <p:nvPr/>
        </p:nvSpPr>
        <p:spPr>
          <a:xfrm>
            <a:off x="6217920" y="1600200"/>
            <a:ext cx="5532120" cy="1912885"/>
          </a:xfrm>
          <a:prstGeom prst="roundRect">
            <a:avLst>
              <a:gd name="adj" fmla="val 3824"/>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263640" y="1645920"/>
            <a:ext cx="5440680" cy="1821445"/>
          </a:xfrm>
          <a:prstGeom prst="rect">
            <a:avLst/>
          </a:prstGeom>
        </p:spPr>
      </p:pic>
      <p:sp>
        <p:nvSpPr>
          <p:cNvPr id="8" name="Shape 4"/>
          <p:cNvSpPr/>
          <p:nvPr/>
        </p:nvSpPr>
        <p:spPr>
          <a:xfrm>
            <a:off x="502920" y="3787405"/>
            <a:ext cx="5440680" cy="640080"/>
          </a:xfrm>
          <a:prstGeom prst="roundRect">
            <a:avLst>
              <a:gd name="adj" fmla="val 17143"/>
            </a:avLst>
          </a:prstGeom>
          <a:solidFill>
            <a:srgbClr val="172A26"/>
          </a:solidFill>
          <a:ln w="12700">
            <a:solidFill>
              <a:srgbClr val="22A07F"/>
            </a:solidFill>
            <a:prstDash val="solid"/>
          </a:ln>
        </p:spPr>
      </p:sp>
      <p:sp>
        <p:nvSpPr>
          <p:cNvPr id="9" name="Text 5"/>
          <p:cNvSpPr txBox="1"/>
          <p:nvPr/>
        </p:nvSpPr>
        <p:spPr>
          <a:xfrm>
            <a:off x="685800" y="3787405"/>
            <a:ext cx="5120640" cy="640080"/>
          </a:xfrm>
          <a:prstGeom prst="rect">
            <a:avLst/>
          </a:prstGeom>
          <a:noFill/>
          <a:ln/>
        </p:spPr>
        <p:txBody>
          <a:bodyPr wrap="square" lIns="0" tIns="0" rIns="0" bIns="0" rtlCol="0" anchor="ctr"/>
          <a:lstStyle/>
          <a:p>
            <a:pPr indent="0" marL="0">
              <a:buNone/>
            </a:pPr>
            <a:r>
              <a:rPr lang="en-US" sz="1500" b="1" dirty="0">
                <a:solidFill>
                  <a:srgbClr val="22A07F"/>
                </a:solidFill>
                <a:latin typeface="Calibri" pitchFamily="34" charset="0"/>
                <a:ea typeface="Calibri" pitchFamily="34" charset="-122"/>
                <a:cs typeface="Calibri" pitchFamily="34" charset="-120"/>
              </a:rPr>
              <a:t>✓  The report matches the record on 3 blockchains</a:t>
            </a:r>
            <a:endParaRPr lang="en-US" sz="1500" dirty="0"/>
          </a:p>
        </p:txBody>
      </p:sp>
      <p:sp>
        <p:nvSpPr>
          <p:cNvPr id="10" name="Shape 6"/>
          <p:cNvSpPr/>
          <p:nvPr/>
        </p:nvSpPr>
        <p:spPr>
          <a:xfrm>
            <a:off x="6263640" y="3787405"/>
            <a:ext cx="5440680" cy="640080"/>
          </a:xfrm>
          <a:prstGeom prst="roundRect">
            <a:avLst>
              <a:gd name="adj" fmla="val 17143"/>
            </a:avLst>
          </a:prstGeom>
          <a:solidFill>
            <a:srgbClr val="172A26"/>
          </a:solidFill>
          <a:ln w="12700">
            <a:solidFill>
              <a:srgbClr val="E4675A"/>
            </a:solidFill>
            <a:prstDash val="solid"/>
          </a:ln>
        </p:spPr>
      </p:sp>
      <p:sp>
        <p:nvSpPr>
          <p:cNvPr id="11" name="Text 7"/>
          <p:cNvSpPr txBox="1"/>
          <p:nvPr/>
        </p:nvSpPr>
        <p:spPr>
          <a:xfrm>
            <a:off x="6446520" y="3787405"/>
            <a:ext cx="5120640" cy="640080"/>
          </a:xfrm>
          <a:prstGeom prst="rect">
            <a:avLst/>
          </a:prstGeom>
          <a:noFill/>
          <a:ln/>
        </p:spPr>
        <p:txBody>
          <a:bodyPr wrap="square" lIns="0" tIns="0" rIns="0" bIns="0" rtlCol="0" anchor="ctr"/>
          <a:lstStyle/>
          <a:p>
            <a:pPr indent="0" marL="0">
              <a:buNone/>
            </a:pPr>
            <a:r>
              <a:rPr lang="en-US" sz="1500" b="1" dirty="0">
                <a:solidFill>
                  <a:srgbClr val="E4675A"/>
                </a:solidFill>
                <a:latin typeface="Calibri" pitchFamily="34" charset="0"/>
                <a:ea typeface="Calibri" pitchFamily="34" charset="-122"/>
                <a:cs typeface="Calibri" pitchFamily="34" charset="-120"/>
              </a:rPr>
              <a:t>✗  Change one number and it turns red</a:t>
            </a:r>
            <a:endParaRPr lang="en-US" sz="1500" dirty="0"/>
          </a:p>
        </p:txBody>
      </p:sp>
      <p:sp>
        <p:nvSpPr>
          <p:cNvPr id="12" name="Shape 8"/>
          <p:cNvSpPr/>
          <p:nvPr/>
        </p:nvSpPr>
        <p:spPr>
          <a:xfrm>
            <a:off x="502920" y="4656085"/>
            <a:ext cx="3611880" cy="731520"/>
          </a:xfrm>
          <a:prstGeom prst="roundRect">
            <a:avLst>
              <a:gd name="adj" fmla="val 15000"/>
            </a:avLst>
          </a:prstGeom>
          <a:solidFill>
            <a:srgbClr val="12201D"/>
          </a:solidFill>
          <a:ln w="12700">
            <a:solidFill>
              <a:srgbClr val="25403A"/>
            </a:solidFill>
            <a:prstDash val="solid"/>
          </a:ln>
        </p:spPr>
      </p:sp>
      <p:sp>
        <p:nvSpPr>
          <p:cNvPr id="13" name="Shape 9"/>
          <p:cNvSpPr/>
          <p:nvPr/>
        </p:nvSpPr>
        <p:spPr>
          <a:xfrm>
            <a:off x="640080" y="4765813"/>
            <a:ext cx="512064" cy="512064"/>
          </a:xfrm>
          <a:prstGeom prst="ellipse">
            <a:avLst/>
          </a:prstGeom>
          <a:solidFill>
            <a:srgbClr val="5D8AD6"/>
          </a:solidFill>
          <a:ln w="12700">
            <a:solidFill>
              <a:srgbClr val="5D8AD6"/>
            </a:solidFill>
            <a:prstDash val="solid"/>
          </a:ln>
        </p:spPr>
      </p:sp>
      <p:pic>
        <p:nvPicPr>
          <p:cNvPr id="14" name="Image 2" descr="preencoded.png">    </p:cNvPr>
          <p:cNvPicPr>
            <a:picLocks noChangeAspect="1"/>
          </p:cNvPicPr>
          <p:nvPr/>
        </p:nvPicPr>
        <p:blipFill>
          <a:blip r:embed="rId3"/>
          <a:stretch>
            <a:fillRect/>
          </a:stretch>
        </p:blipFill>
        <p:spPr>
          <a:xfrm>
            <a:off x="768096" y="4893829"/>
            <a:ext cx="256032" cy="256032"/>
          </a:xfrm>
          <a:prstGeom prst="rect">
            <a:avLst/>
          </a:prstGeom>
        </p:spPr>
      </p:pic>
      <p:sp>
        <p:nvSpPr>
          <p:cNvPr id="15" name="Text 10"/>
          <p:cNvSpPr txBox="1"/>
          <p:nvPr/>
        </p:nvSpPr>
        <p:spPr>
          <a:xfrm>
            <a:off x="1280160" y="4656085"/>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1. Your browser hashes the report</a:t>
            </a:r>
            <a:endParaRPr lang="en-US" sz="1350" dirty="0"/>
          </a:p>
        </p:txBody>
      </p:sp>
      <p:sp>
        <p:nvSpPr>
          <p:cNvPr id="16" name="Shape 11"/>
          <p:cNvSpPr/>
          <p:nvPr/>
        </p:nvSpPr>
        <p:spPr>
          <a:xfrm>
            <a:off x="4270248" y="4656085"/>
            <a:ext cx="3611880" cy="731520"/>
          </a:xfrm>
          <a:prstGeom prst="roundRect">
            <a:avLst>
              <a:gd name="adj" fmla="val 15000"/>
            </a:avLst>
          </a:prstGeom>
          <a:solidFill>
            <a:srgbClr val="12201D"/>
          </a:solidFill>
          <a:ln w="12700">
            <a:solidFill>
              <a:srgbClr val="25403A"/>
            </a:solidFill>
            <a:prstDash val="solid"/>
          </a:ln>
        </p:spPr>
      </p:sp>
      <p:sp>
        <p:nvSpPr>
          <p:cNvPr id="17" name="Shape 12"/>
          <p:cNvSpPr/>
          <p:nvPr/>
        </p:nvSpPr>
        <p:spPr>
          <a:xfrm>
            <a:off x="4407408" y="4765813"/>
            <a:ext cx="512064" cy="512064"/>
          </a:xfrm>
          <a:prstGeom prst="ellipse">
            <a:avLst/>
          </a:prstGeom>
          <a:solidFill>
            <a:srgbClr val="5D8AD6"/>
          </a:solidFill>
          <a:ln w="12700">
            <a:solidFill>
              <a:srgbClr val="5D8AD6"/>
            </a:solidFill>
            <a:prstDash val="solid"/>
          </a:ln>
        </p:spPr>
      </p:sp>
      <p:pic>
        <p:nvPicPr>
          <p:cNvPr id="18" name="Image 3" descr="preencoded.png">    </p:cNvPr>
          <p:cNvPicPr>
            <a:picLocks noChangeAspect="1"/>
          </p:cNvPicPr>
          <p:nvPr/>
        </p:nvPicPr>
        <p:blipFill>
          <a:blip r:embed="rId4"/>
          <a:stretch>
            <a:fillRect/>
          </a:stretch>
        </p:blipFill>
        <p:spPr>
          <a:xfrm>
            <a:off x="4535424" y="4893829"/>
            <a:ext cx="256032" cy="256032"/>
          </a:xfrm>
          <a:prstGeom prst="rect">
            <a:avLst/>
          </a:prstGeom>
        </p:spPr>
      </p:pic>
      <p:sp>
        <p:nvSpPr>
          <p:cNvPr id="19" name="Text 13"/>
          <p:cNvSpPr txBox="1"/>
          <p:nvPr/>
        </p:nvSpPr>
        <p:spPr>
          <a:xfrm>
            <a:off x="5047488" y="4656085"/>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2. Reads the hash from BlockID, HashKey, Ethereum</a:t>
            </a:r>
            <a:endParaRPr lang="en-US" sz="1350" dirty="0"/>
          </a:p>
        </p:txBody>
      </p:sp>
      <p:sp>
        <p:nvSpPr>
          <p:cNvPr id="20" name="Shape 14"/>
          <p:cNvSpPr/>
          <p:nvPr/>
        </p:nvSpPr>
        <p:spPr>
          <a:xfrm>
            <a:off x="8037576" y="4656085"/>
            <a:ext cx="3611880" cy="731520"/>
          </a:xfrm>
          <a:prstGeom prst="roundRect">
            <a:avLst>
              <a:gd name="adj" fmla="val 15000"/>
            </a:avLst>
          </a:prstGeom>
          <a:solidFill>
            <a:srgbClr val="12201D"/>
          </a:solidFill>
          <a:ln w="12700">
            <a:solidFill>
              <a:srgbClr val="25403A"/>
            </a:solidFill>
            <a:prstDash val="solid"/>
          </a:ln>
        </p:spPr>
      </p:sp>
      <p:sp>
        <p:nvSpPr>
          <p:cNvPr id="21" name="Shape 15"/>
          <p:cNvSpPr/>
          <p:nvPr/>
        </p:nvSpPr>
        <p:spPr>
          <a:xfrm>
            <a:off x="8174736" y="4765813"/>
            <a:ext cx="512064" cy="512064"/>
          </a:xfrm>
          <a:prstGeom prst="ellipse">
            <a:avLst/>
          </a:prstGeom>
          <a:solidFill>
            <a:srgbClr val="22A07F"/>
          </a:solidFill>
          <a:ln w="12700">
            <a:solidFill>
              <a:srgbClr val="22A07F"/>
            </a:solidFill>
            <a:prstDash val="solid"/>
          </a:ln>
        </p:spPr>
      </p:sp>
      <p:pic>
        <p:nvPicPr>
          <p:cNvPr id="22" name="Image 4" descr="preencoded.png">    </p:cNvPr>
          <p:cNvPicPr>
            <a:picLocks noChangeAspect="1"/>
          </p:cNvPicPr>
          <p:nvPr/>
        </p:nvPicPr>
        <p:blipFill>
          <a:blip r:embed="rId5"/>
          <a:stretch>
            <a:fillRect/>
          </a:stretch>
        </p:blipFill>
        <p:spPr>
          <a:xfrm>
            <a:off x="8302752" y="4893829"/>
            <a:ext cx="256032" cy="256032"/>
          </a:xfrm>
          <a:prstGeom prst="rect">
            <a:avLst/>
          </a:prstGeom>
        </p:spPr>
      </p:pic>
      <p:sp>
        <p:nvSpPr>
          <p:cNvPr id="23" name="Text 16"/>
          <p:cNvSpPr txBox="1"/>
          <p:nvPr/>
        </p:nvSpPr>
        <p:spPr>
          <a:xfrm>
            <a:off x="8814816" y="4656085"/>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3. Same = ✓   ·   changed = ✗</a:t>
            </a:r>
            <a:endParaRPr lang="en-US" sz="1350" dirty="0"/>
          </a:p>
        </p:txBody>
      </p:sp>
      <p:sp>
        <p:nvSpPr>
          <p:cNvPr id="24" name="Text 17"/>
          <p:cNvSpPr txBox="1"/>
          <p:nvPr/>
        </p:nvSpPr>
        <p:spPr>
          <a:xfrm>
            <a:off x="502920" y="5570485"/>
            <a:ext cx="11155680" cy="365760"/>
          </a:xfrm>
          <a:prstGeom prst="rect">
            <a:avLst/>
          </a:prstGeom>
          <a:noFill/>
          <a:ln/>
        </p:spPr>
        <p:txBody>
          <a:bodyPr wrap="square" lIns="0" tIns="0" rIns="0" bIns="0" rtlCol="0" anchor="ctr"/>
          <a:lstStyle/>
          <a:p>
            <a:pPr algn="ctr" indent="0" marL="0">
              <a:buNone/>
            </a:pPr>
            <a:r>
              <a:rPr lang="en-US" sz="1600" b="1" dirty="0">
                <a:solidFill>
                  <a:srgbClr val="7FE0C2"/>
                </a:solidFill>
                <a:latin typeface="Calibri" pitchFamily="34" charset="0"/>
                <a:ea typeface="Calibri" pitchFamily="34" charset="-122"/>
                <a:cs typeface="Calibri" pitchFamily="34" charset="-120"/>
              </a:rPr>
              <a:t>No login needed: eth.blockid.au/verify</a:t>
            </a:r>
            <a:endParaRPr lang="en-US" sz="1600" dirty="0"/>
          </a:p>
        </p:txBody>
      </p:sp>
      <p:sp>
        <p:nvSpPr>
          <p:cNvPr id="25" name="Text 18"/>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5D8AD6"/>
                </a:solidFill>
                <a:latin typeface="Calibri" pitchFamily="34" charset="0"/>
                <a:ea typeface="Calibri" pitchFamily="34" charset="-122"/>
                <a:cs typeface="Calibri" pitchFamily="34" charset="-120"/>
              </a:rPr>
              <a:t>8 / 9   ·   HOW IT'S BUILT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Two blockchain layers. Only approved actions reach them.</a:t>
            </a:r>
            <a:endParaRPr lang="en-US" sz="3000" dirty="0"/>
          </a:p>
        </p:txBody>
      </p:sp>
      <p:sp>
        <p:nvSpPr>
          <p:cNvPr id="4" name="Shape 2"/>
          <p:cNvSpPr/>
          <p:nvPr/>
        </p:nvSpPr>
        <p:spPr>
          <a:xfrm>
            <a:off x="502920" y="1481328"/>
            <a:ext cx="1600200" cy="658368"/>
          </a:xfrm>
          <a:prstGeom prst="roundRect">
            <a:avLst>
              <a:gd name="adj" fmla="val 11111"/>
            </a:avLst>
          </a:prstGeom>
          <a:solidFill>
            <a:srgbClr val="172A26"/>
          </a:solidFill>
          <a:ln w="12700">
            <a:solidFill>
              <a:srgbClr val="7FE0C2"/>
            </a:solidFill>
            <a:prstDash val="solid"/>
          </a:ln>
        </p:spPr>
      </p:sp>
      <p:sp>
        <p:nvSpPr>
          <p:cNvPr id="5" name="Text 3"/>
          <p:cNvSpPr txBox="1"/>
          <p:nvPr/>
        </p:nvSpPr>
        <p:spPr>
          <a:xfrm>
            <a:off x="566928" y="1481328"/>
            <a:ext cx="1481328" cy="658368"/>
          </a:xfrm>
          <a:prstGeom prst="rect">
            <a:avLst/>
          </a:prstGeom>
          <a:noFill/>
          <a:ln/>
        </p:spPr>
        <p:txBody>
          <a:bodyPr wrap="square" lIns="0" tIns="0" rIns="0" bIns="0" rtlCol="0" anchor="ctr"/>
          <a:lstStyle/>
          <a:p>
            <a:pPr algn="ctr" indent="0" marL="0">
              <a:spcBef>
                <a:spcPts val="200"/>
              </a:spcBef>
              <a:buNone/>
            </a:pPr>
            <a:r>
              <a:rPr lang="en-US" sz="1250" b="1" dirty="0">
                <a:solidFill>
                  <a:srgbClr val="7FE0C2"/>
                </a:solidFill>
                <a:latin typeface="Arial" pitchFamily="34" charset="0"/>
                <a:ea typeface="Arial" pitchFamily="34" charset="-122"/>
                <a:cs typeface="Arial" pitchFamily="34" charset="-120"/>
              </a:rPr>
              <a:t>PEOPLE</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who uses it</a:t>
            </a:r>
            <a:endParaRPr lang="en-US" sz="1250" dirty="0"/>
          </a:p>
        </p:txBody>
      </p:sp>
      <p:sp>
        <p:nvSpPr>
          <p:cNvPr id="6" name="Shape 4"/>
          <p:cNvSpPr/>
          <p:nvPr/>
        </p:nvSpPr>
        <p:spPr>
          <a:xfrm>
            <a:off x="2286000" y="1481328"/>
            <a:ext cx="2331720" cy="658368"/>
          </a:xfrm>
          <a:prstGeom prst="roundRect">
            <a:avLst>
              <a:gd name="adj" fmla="val 11111"/>
            </a:avLst>
          </a:prstGeom>
          <a:solidFill>
            <a:srgbClr val="12201D"/>
          </a:solidFill>
          <a:ln w="12700">
            <a:solidFill>
              <a:srgbClr val="7FE0C2"/>
            </a:solidFill>
            <a:prstDash val="solid"/>
          </a:ln>
        </p:spPr>
      </p:sp>
      <p:sp>
        <p:nvSpPr>
          <p:cNvPr id="7" name="Text 5"/>
          <p:cNvSpPr txBox="1"/>
          <p:nvPr/>
        </p:nvSpPr>
        <p:spPr>
          <a:xfrm>
            <a:off x="2377440" y="1545336"/>
            <a:ext cx="2148840" cy="310896"/>
          </a:xfrm>
          <a:prstGeom prst="rect">
            <a:avLst/>
          </a:prstGeom>
          <a:noFill/>
          <a:ln/>
        </p:spPr>
        <p:txBody>
          <a:bodyPr wrap="square" lIns="0" tIns="0" rIns="0" bIns="0" rtlCol="0" anchor="ctr"/>
          <a:lstStyle/>
          <a:p>
            <a:pPr algn="ctr" indent="0" marL="0">
              <a:buNone/>
            </a:pPr>
            <a:r>
              <a:rPr lang="en-US" sz="1250" b="1" dirty="0">
                <a:solidFill>
                  <a:srgbClr val="7FE0C2"/>
                </a:solidFill>
                <a:latin typeface="Arial" pitchFamily="34" charset="0"/>
                <a:ea typeface="Arial" pitchFamily="34" charset="-122"/>
                <a:cs typeface="Arial" pitchFamily="34" charset="-120"/>
              </a:rPr>
              <a:t>Investors</a:t>
            </a:r>
            <a:endParaRPr lang="en-US" sz="1250" dirty="0"/>
          </a:p>
        </p:txBody>
      </p:sp>
      <p:sp>
        <p:nvSpPr>
          <p:cNvPr id="8" name="Text 6"/>
          <p:cNvSpPr txBox="1"/>
          <p:nvPr/>
        </p:nvSpPr>
        <p:spPr>
          <a:xfrm>
            <a:off x="2377440" y="1847088"/>
            <a:ext cx="2148840" cy="246888"/>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portfolio · updates · dividends</a:t>
            </a:r>
            <a:endParaRPr lang="en-US" sz="950" dirty="0"/>
          </a:p>
        </p:txBody>
      </p:sp>
      <p:sp>
        <p:nvSpPr>
          <p:cNvPr id="9" name="Shape 7"/>
          <p:cNvSpPr/>
          <p:nvPr/>
        </p:nvSpPr>
        <p:spPr>
          <a:xfrm>
            <a:off x="4754880" y="1481328"/>
            <a:ext cx="2331720" cy="658368"/>
          </a:xfrm>
          <a:prstGeom prst="roundRect">
            <a:avLst>
              <a:gd name="adj" fmla="val 11111"/>
            </a:avLst>
          </a:prstGeom>
          <a:solidFill>
            <a:srgbClr val="12201D"/>
          </a:solidFill>
          <a:ln w="12700">
            <a:solidFill>
              <a:srgbClr val="7FE0C2"/>
            </a:solidFill>
            <a:prstDash val="solid"/>
          </a:ln>
        </p:spPr>
      </p:sp>
      <p:sp>
        <p:nvSpPr>
          <p:cNvPr id="10" name="Text 8"/>
          <p:cNvSpPr txBox="1"/>
          <p:nvPr/>
        </p:nvSpPr>
        <p:spPr>
          <a:xfrm>
            <a:off x="4846320" y="1545336"/>
            <a:ext cx="2148840" cy="310896"/>
          </a:xfrm>
          <a:prstGeom prst="rect">
            <a:avLst/>
          </a:prstGeom>
          <a:noFill/>
          <a:ln/>
        </p:spPr>
        <p:txBody>
          <a:bodyPr wrap="square" lIns="0" tIns="0" rIns="0" bIns="0" rtlCol="0" anchor="ctr"/>
          <a:lstStyle/>
          <a:p>
            <a:pPr algn="ctr" indent="0" marL="0">
              <a:buNone/>
            </a:pPr>
            <a:r>
              <a:rPr lang="en-US" sz="1250" b="1" dirty="0">
                <a:solidFill>
                  <a:srgbClr val="7FE0C2"/>
                </a:solidFill>
                <a:latin typeface="Arial" pitchFamily="34" charset="0"/>
                <a:ea typeface="Arial" pitchFamily="34" charset="-122"/>
                <a:cs typeface="Arial" pitchFamily="34" charset="-120"/>
              </a:rPr>
              <a:t>Businesses</a:t>
            </a:r>
            <a:endParaRPr lang="en-US" sz="1250" dirty="0"/>
          </a:p>
        </p:txBody>
      </p:sp>
      <p:sp>
        <p:nvSpPr>
          <p:cNvPr id="11" name="Text 9"/>
          <p:cNvSpPr txBox="1"/>
          <p:nvPr/>
        </p:nvSpPr>
        <p:spPr>
          <a:xfrm>
            <a:off x="4846320" y="1847088"/>
            <a:ext cx="2148840" cy="246888"/>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list · shareholders · updates</a:t>
            </a:r>
            <a:endParaRPr lang="en-US" sz="950" dirty="0"/>
          </a:p>
        </p:txBody>
      </p:sp>
      <p:sp>
        <p:nvSpPr>
          <p:cNvPr id="12" name="Shape 10"/>
          <p:cNvSpPr/>
          <p:nvPr/>
        </p:nvSpPr>
        <p:spPr>
          <a:xfrm>
            <a:off x="7223760" y="1481328"/>
            <a:ext cx="2331720" cy="658368"/>
          </a:xfrm>
          <a:prstGeom prst="roundRect">
            <a:avLst>
              <a:gd name="adj" fmla="val 11111"/>
            </a:avLst>
          </a:prstGeom>
          <a:solidFill>
            <a:srgbClr val="12201D"/>
          </a:solidFill>
          <a:ln w="12700">
            <a:solidFill>
              <a:srgbClr val="E3A83A"/>
            </a:solidFill>
            <a:prstDash val="solid"/>
          </a:ln>
        </p:spPr>
      </p:sp>
      <p:sp>
        <p:nvSpPr>
          <p:cNvPr id="13" name="Text 11"/>
          <p:cNvSpPr txBox="1"/>
          <p:nvPr/>
        </p:nvSpPr>
        <p:spPr>
          <a:xfrm>
            <a:off x="7315200" y="1545336"/>
            <a:ext cx="2148840" cy="310896"/>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Approvers</a:t>
            </a:r>
            <a:endParaRPr lang="en-US" sz="1250" dirty="0"/>
          </a:p>
        </p:txBody>
      </p:sp>
      <p:sp>
        <p:nvSpPr>
          <p:cNvPr id="14" name="Text 12"/>
          <p:cNvSpPr txBox="1"/>
          <p:nvPr/>
        </p:nvSpPr>
        <p:spPr>
          <a:xfrm>
            <a:off x="7315200" y="1847088"/>
            <a:ext cx="2148840" cy="246888"/>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a person signs every step</a:t>
            </a:r>
            <a:endParaRPr lang="en-US" sz="950" dirty="0"/>
          </a:p>
        </p:txBody>
      </p:sp>
      <p:sp>
        <p:nvSpPr>
          <p:cNvPr id="15" name="Shape 13"/>
          <p:cNvSpPr/>
          <p:nvPr/>
        </p:nvSpPr>
        <p:spPr>
          <a:xfrm>
            <a:off x="502920" y="2395728"/>
            <a:ext cx="1600200" cy="960120"/>
          </a:xfrm>
          <a:prstGeom prst="roundRect">
            <a:avLst>
              <a:gd name="adj" fmla="val 7619"/>
            </a:avLst>
          </a:prstGeom>
          <a:solidFill>
            <a:srgbClr val="172A26"/>
          </a:solidFill>
          <a:ln w="12700">
            <a:solidFill>
              <a:srgbClr val="22A07F"/>
            </a:solidFill>
            <a:prstDash val="solid"/>
          </a:ln>
        </p:spPr>
      </p:sp>
      <p:sp>
        <p:nvSpPr>
          <p:cNvPr id="16" name="Text 14"/>
          <p:cNvSpPr txBox="1"/>
          <p:nvPr/>
        </p:nvSpPr>
        <p:spPr>
          <a:xfrm>
            <a:off x="566928" y="2395728"/>
            <a:ext cx="1481328" cy="960120"/>
          </a:xfrm>
          <a:prstGeom prst="rect">
            <a:avLst/>
          </a:prstGeom>
          <a:noFill/>
          <a:ln/>
        </p:spPr>
        <p:txBody>
          <a:bodyPr wrap="square" lIns="0" tIns="0" rIns="0" bIns="0" rtlCol="0" anchor="ctr"/>
          <a:lstStyle/>
          <a:p>
            <a:pPr algn="ctr" indent="0" marL="0">
              <a:spcBef>
                <a:spcPts val="200"/>
              </a:spcBef>
              <a:buNone/>
            </a:pPr>
            <a:r>
              <a:rPr lang="en-US" sz="1250" b="1" dirty="0">
                <a:solidFill>
                  <a:srgbClr val="22A07F"/>
                </a:solidFill>
                <a:latin typeface="Arial" pitchFamily="34" charset="0"/>
                <a:ea typeface="Arial" pitchFamily="34" charset="-122"/>
                <a:cs typeface="Arial" pitchFamily="34" charset="-120"/>
              </a:rPr>
              <a:t>APP &amp; SERVICES</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off-chain, no keys except issuer</a:t>
            </a:r>
            <a:endParaRPr lang="en-US" sz="1250" dirty="0"/>
          </a:p>
        </p:txBody>
      </p:sp>
      <p:sp>
        <p:nvSpPr>
          <p:cNvPr id="17" name="Shape 15"/>
          <p:cNvSpPr/>
          <p:nvPr/>
        </p:nvSpPr>
        <p:spPr>
          <a:xfrm>
            <a:off x="2286000" y="2395728"/>
            <a:ext cx="1737360" cy="960120"/>
          </a:xfrm>
          <a:prstGeom prst="roundRect">
            <a:avLst>
              <a:gd name="adj" fmla="val 7619"/>
            </a:avLst>
          </a:prstGeom>
          <a:solidFill>
            <a:srgbClr val="12201D"/>
          </a:solidFill>
          <a:ln w="12700">
            <a:solidFill>
              <a:srgbClr val="22A07F"/>
            </a:solidFill>
            <a:prstDash val="solid"/>
          </a:ln>
        </p:spPr>
      </p:sp>
      <p:sp>
        <p:nvSpPr>
          <p:cNvPr id="18" name="Text 16"/>
          <p:cNvSpPr txBox="1"/>
          <p:nvPr/>
        </p:nvSpPr>
        <p:spPr>
          <a:xfrm>
            <a:off x="2377440" y="2459736"/>
            <a:ext cx="1554480" cy="310896"/>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Web app</a:t>
            </a:r>
            <a:endParaRPr lang="en-US" sz="1250" dirty="0"/>
          </a:p>
        </p:txBody>
      </p:sp>
      <p:sp>
        <p:nvSpPr>
          <p:cNvPr id="19" name="Text 17"/>
          <p:cNvSpPr txBox="1"/>
          <p:nvPr/>
        </p:nvSpPr>
        <p:spPr>
          <a:xfrm>
            <a:off x="2377440" y="2761488"/>
            <a:ext cx="155448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eth.blockid.au</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Google · browser key · MetaMask</a:t>
            </a:r>
            <a:endParaRPr lang="en-US" sz="950" dirty="0"/>
          </a:p>
        </p:txBody>
      </p:sp>
      <p:sp>
        <p:nvSpPr>
          <p:cNvPr id="20" name="Shape 18"/>
          <p:cNvSpPr/>
          <p:nvPr/>
        </p:nvSpPr>
        <p:spPr>
          <a:xfrm>
            <a:off x="4160520" y="2395728"/>
            <a:ext cx="1737360" cy="960120"/>
          </a:xfrm>
          <a:prstGeom prst="roundRect">
            <a:avLst>
              <a:gd name="adj" fmla="val 7619"/>
            </a:avLst>
          </a:prstGeom>
          <a:solidFill>
            <a:srgbClr val="12201D"/>
          </a:solidFill>
          <a:ln w="12700">
            <a:solidFill>
              <a:srgbClr val="22A07F"/>
            </a:solidFill>
            <a:prstDash val="solid"/>
          </a:ln>
        </p:spPr>
      </p:sp>
      <p:sp>
        <p:nvSpPr>
          <p:cNvPr id="21" name="Text 19"/>
          <p:cNvSpPr txBox="1"/>
          <p:nvPr/>
        </p:nvSpPr>
        <p:spPr>
          <a:xfrm>
            <a:off x="4251960" y="2459736"/>
            <a:ext cx="1554480" cy="310896"/>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Analysis</a:t>
            </a:r>
            <a:endParaRPr lang="en-US" sz="1250" dirty="0"/>
          </a:p>
        </p:txBody>
      </p:sp>
      <p:sp>
        <p:nvSpPr>
          <p:cNvPr id="22" name="Text 20"/>
          <p:cNvSpPr txBox="1"/>
          <p:nvPr/>
        </p:nvSpPr>
        <p:spPr>
          <a:xfrm>
            <a:off x="4251960" y="2761488"/>
            <a:ext cx="155448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AI reads sources,</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formula sets value</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(no keys)</a:t>
            </a:r>
            <a:endParaRPr lang="en-US" sz="950" dirty="0"/>
          </a:p>
        </p:txBody>
      </p:sp>
      <p:sp>
        <p:nvSpPr>
          <p:cNvPr id="23" name="Shape 21"/>
          <p:cNvSpPr/>
          <p:nvPr/>
        </p:nvSpPr>
        <p:spPr>
          <a:xfrm>
            <a:off x="6035040" y="2395728"/>
            <a:ext cx="1600200" cy="960120"/>
          </a:xfrm>
          <a:prstGeom prst="roundRect">
            <a:avLst>
              <a:gd name="adj" fmla="val 7619"/>
            </a:avLst>
          </a:prstGeom>
          <a:solidFill>
            <a:srgbClr val="12201D"/>
          </a:solidFill>
          <a:ln w="12700">
            <a:solidFill>
              <a:srgbClr val="E3A83A"/>
            </a:solidFill>
            <a:prstDash val="solid"/>
          </a:ln>
        </p:spPr>
      </p:sp>
      <p:sp>
        <p:nvSpPr>
          <p:cNvPr id="24" name="Text 22"/>
          <p:cNvSpPr txBox="1"/>
          <p:nvPr/>
        </p:nvSpPr>
        <p:spPr>
          <a:xfrm>
            <a:off x="6126480" y="2459736"/>
            <a:ext cx="1417320" cy="310896"/>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Approval</a:t>
            </a:r>
            <a:endParaRPr lang="en-US" sz="1250" dirty="0"/>
          </a:p>
        </p:txBody>
      </p:sp>
      <p:sp>
        <p:nvSpPr>
          <p:cNvPr id="25" name="Text 23"/>
          <p:cNvSpPr txBox="1"/>
          <p:nvPr/>
        </p:nvSpPr>
        <p:spPr>
          <a:xfrm>
            <a:off x="6126480" y="2761488"/>
            <a:ext cx="141732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admin wallet signs</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one approval</a:t>
            </a:r>
            <a:endParaRPr lang="en-US" sz="950" dirty="0"/>
          </a:p>
        </p:txBody>
      </p:sp>
      <p:sp>
        <p:nvSpPr>
          <p:cNvPr id="26" name="Shape 24"/>
          <p:cNvSpPr/>
          <p:nvPr/>
        </p:nvSpPr>
        <p:spPr>
          <a:xfrm>
            <a:off x="7772400" y="2395728"/>
            <a:ext cx="1783080" cy="960120"/>
          </a:xfrm>
          <a:prstGeom prst="roundRect">
            <a:avLst>
              <a:gd name="adj" fmla="val 7619"/>
            </a:avLst>
          </a:prstGeom>
          <a:solidFill>
            <a:srgbClr val="12201D"/>
          </a:solidFill>
          <a:ln w="12700">
            <a:solidFill>
              <a:srgbClr val="E4675A"/>
            </a:solidFill>
            <a:prstDash val="solid"/>
          </a:ln>
        </p:spPr>
      </p:sp>
      <p:sp>
        <p:nvSpPr>
          <p:cNvPr id="27" name="Text 25"/>
          <p:cNvSpPr txBox="1"/>
          <p:nvPr/>
        </p:nvSpPr>
        <p:spPr>
          <a:xfrm>
            <a:off x="7863840" y="2459736"/>
            <a:ext cx="1600200" cy="310896"/>
          </a:xfrm>
          <a:prstGeom prst="rect">
            <a:avLst/>
          </a:prstGeom>
          <a:noFill/>
          <a:ln/>
        </p:spPr>
        <p:txBody>
          <a:bodyPr wrap="square" lIns="0" tIns="0" rIns="0" bIns="0" rtlCol="0" anchor="ctr"/>
          <a:lstStyle/>
          <a:p>
            <a:pPr algn="ctr" indent="0" marL="0">
              <a:buNone/>
            </a:pPr>
            <a:r>
              <a:rPr lang="en-US" sz="1250" b="1" dirty="0">
                <a:solidFill>
                  <a:srgbClr val="E4675A"/>
                </a:solidFill>
                <a:latin typeface="Arial" pitchFamily="34" charset="0"/>
                <a:ea typeface="Arial" pitchFamily="34" charset="-122"/>
                <a:cs typeface="Arial" pitchFamily="34" charset="-120"/>
              </a:rPr>
              <a:t>Issuer</a:t>
            </a:r>
            <a:endParaRPr lang="en-US" sz="1250" dirty="0"/>
          </a:p>
        </p:txBody>
      </p:sp>
      <p:sp>
        <p:nvSpPr>
          <p:cNvPr id="28" name="Text 26"/>
          <p:cNvSpPr txBox="1"/>
          <p:nvPr/>
        </p:nvSpPr>
        <p:spPr>
          <a:xfrm>
            <a:off x="7863840" y="2761488"/>
            <a:ext cx="160020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only key holder</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isolated network</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acts on approved rows</a:t>
            </a:r>
            <a:endParaRPr lang="en-US" sz="950" dirty="0"/>
          </a:p>
        </p:txBody>
      </p:sp>
      <p:sp>
        <p:nvSpPr>
          <p:cNvPr id="29" name="Shape 27"/>
          <p:cNvSpPr/>
          <p:nvPr/>
        </p:nvSpPr>
        <p:spPr>
          <a:xfrm>
            <a:off x="4032504" y="2880360"/>
            <a:ext cx="118872" cy="914"/>
          </a:xfrm>
          <a:prstGeom prst="line">
            <a:avLst/>
          </a:prstGeom>
          <a:noFill/>
          <a:ln w="22225">
            <a:solidFill>
              <a:srgbClr val="A9BDB7"/>
            </a:solidFill>
            <a:prstDash val="solid"/>
            <a:tailEnd type="triangle"/>
          </a:ln>
        </p:spPr>
      </p:sp>
      <p:sp>
        <p:nvSpPr>
          <p:cNvPr id="30" name="Shape 28"/>
          <p:cNvSpPr/>
          <p:nvPr/>
        </p:nvSpPr>
        <p:spPr>
          <a:xfrm>
            <a:off x="5907024" y="2880360"/>
            <a:ext cx="118872" cy="914"/>
          </a:xfrm>
          <a:prstGeom prst="line">
            <a:avLst/>
          </a:prstGeom>
          <a:noFill/>
          <a:ln w="22225">
            <a:solidFill>
              <a:srgbClr val="A9BDB7"/>
            </a:solidFill>
            <a:prstDash val="solid"/>
            <a:tailEnd type="triangle"/>
          </a:ln>
        </p:spPr>
      </p:sp>
      <p:sp>
        <p:nvSpPr>
          <p:cNvPr id="31" name="Shape 29"/>
          <p:cNvSpPr/>
          <p:nvPr/>
        </p:nvSpPr>
        <p:spPr>
          <a:xfrm>
            <a:off x="7644384" y="2880360"/>
            <a:ext cx="118872" cy="914"/>
          </a:xfrm>
          <a:prstGeom prst="line">
            <a:avLst/>
          </a:prstGeom>
          <a:noFill/>
          <a:ln w="22225">
            <a:solidFill>
              <a:srgbClr val="A9BDB7"/>
            </a:solidFill>
            <a:prstDash val="solid"/>
            <a:tailEnd type="triangle"/>
          </a:ln>
        </p:spPr>
      </p:sp>
      <p:sp>
        <p:nvSpPr>
          <p:cNvPr id="32" name="Shape 30"/>
          <p:cNvSpPr/>
          <p:nvPr/>
        </p:nvSpPr>
        <p:spPr>
          <a:xfrm>
            <a:off x="3154680" y="2148840"/>
            <a:ext cx="914" cy="237744"/>
          </a:xfrm>
          <a:prstGeom prst="line">
            <a:avLst/>
          </a:prstGeom>
          <a:noFill/>
          <a:ln w="22225">
            <a:solidFill>
              <a:srgbClr val="A9BDB7"/>
            </a:solidFill>
            <a:prstDash val="solid"/>
            <a:headEnd type="triangle"/>
            <a:tailEnd type="triangle"/>
          </a:ln>
        </p:spPr>
      </p:sp>
      <p:sp>
        <p:nvSpPr>
          <p:cNvPr id="33" name="Shape 31"/>
          <p:cNvSpPr/>
          <p:nvPr/>
        </p:nvSpPr>
        <p:spPr>
          <a:xfrm>
            <a:off x="5916168" y="2148840"/>
            <a:ext cx="914" cy="237744"/>
          </a:xfrm>
          <a:prstGeom prst="line">
            <a:avLst/>
          </a:prstGeom>
          <a:noFill/>
          <a:ln w="22225">
            <a:solidFill>
              <a:srgbClr val="A9BDB7"/>
            </a:solidFill>
            <a:prstDash val="solid"/>
            <a:headEnd type="triangle"/>
            <a:tailEnd type="triangle"/>
          </a:ln>
        </p:spPr>
      </p:sp>
      <p:sp>
        <p:nvSpPr>
          <p:cNvPr id="34" name="Shape 32"/>
          <p:cNvSpPr/>
          <p:nvPr/>
        </p:nvSpPr>
        <p:spPr>
          <a:xfrm>
            <a:off x="8385048" y="2148840"/>
            <a:ext cx="914" cy="237744"/>
          </a:xfrm>
          <a:prstGeom prst="line">
            <a:avLst/>
          </a:prstGeom>
          <a:noFill/>
          <a:ln w="22225">
            <a:solidFill>
              <a:srgbClr val="A9BDB7"/>
            </a:solidFill>
            <a:prstDash val="solid"/>
            <a:headEnd type="triangle"/>
            <a:tailEnd type="triangle"/>
          </a:ln>
        </p:spPr>
      </p:sp>
      <p:sp>
        <p:nvSpPr>
          <p:cNvPr id="35" name="Shape 33"/>
          <p:cNvSpPr/>
          <p:nvPr/>
        </p:nvSpPr>
        <p:spPr>
          <a:xfrm>
            <a:off x="502920" y="3630168"/>
            <a:ext cx="1600200" cy="1097280"/>
          </a:xfrm>
          <a:prstGeom prst="roundRect">
            <a:avLst>
              <a:gd name="adj" fmla="val 6667"/>
            </a:avLst>
          </a:prstGeom>
          <a:solidFill>
            <a:srgbClr val="172A26"/>
          </a:solidFill>
          <a:ln w="12700">
            <a:solidFill>
              <a:srgbClr val="22A07F"/>
            </a:solidFill>
            <a:prstDash val="solid"/>
          </a:ln>
        </p:spPr>
      </p:sp>
      <p:sp>
        <p:nvSpPr>
          <p:cNvPr id="36" name="Text 34"/>
          <p:cNvSpPr txBox="1"/>
          <p:nvPr/>
        </p:nvSpPr>
        <p:spPr>
          <a:xfrm>
            <a:off x="566928" y="3630168"/>
            <a:ext cx="1481328" cy="1097280"/>
          </a:xfrm>
          <a:prstGeom prst="rect">
            <a:avLst/>
          </a:prstGeom>
          <a:noFill/>
          <a:ln/>
        </p:spPr>
        <p:txBody>
          <a:bodyPr wrap="square" lIns="0" tIns="0" rIns="0" bIns="0" rtlCol="0" anchor="ctr"/>
          <a:lstStyle/>
          <a:p>
            <a:pPr algn="ctr" indent="0" marL="0">
              <a:spcBef>
                <a:spcPts val="200"/>
              </a:spcBef>
              <a:buNone/>
            </a:pPr>
            <a:r>
              <a:rPr lang="en-US" sz="1250" b="1" dirty="0">
                <a:solidFill>
                  <a:srgbClr val="22A07F"/>
                </a:solidFill>
                <a:latin typeface="Arial" pitchFamily="34" charset="0"/>
                <a:ea typeface="Arial" pitchFamily="34" charset="-122"/>
                <a:cs typeface="Arial" pitchFamily="34" charset="-120"/>
              </a:rPr>
              <a:t>LAYER 1</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BlockID EVM · chain 262626</a:t>
            </a:r>
            <a:endParaRPr lang="en-US" sz="1250" dirty="0"/>
          </a:p>
        </p:txBody>
      </p:sp>
      <p:sp>
        <p:nvSpPr>
          <p:cNvPr id="37" name="Shape 35"/>
          <p:cNvSpPr/>
          <p:nvPr/>
        </p:nvSpPr>
        <p:spPr>
          <a:xfrm>
            <a:off x="2286000" y="3630168"/>
            <a:ext cx="7269480" cy="1097280"/>
          </a:xfrm>
          <a:prstGeom prst="roundRect">
            <a:avLst>
              <a:gd name="adj" fmla="val 6667"/>
            </a:avLst>
          </a:prstGeom>
          <a:solidFill>
            <a:srgbClr val="10302A"/>
          </a:solidFill>
          <a:ln w="12700">
            <a:solidFill>
              <a:srgbClr val="22A07F"/>
            </a:solidFill>
            <a:prstDash val="solid"/>
          </a:ln>
        </p:spPr>
      </p:sp>
      <p:sp>
        <p:nvSpPr>
          <p:cNvPr id="38" name="Text 36"/>
          <p:cNvSpPr txBox="1"/>
          <p:nvPr/>
        </p:nvSpPr>
        <p:spPr>
          <a:xfrm>
            <a:off x="2423160" y="3675888"/>
            <a:ext cx="7040880" cy="310896"/>
          </a:xfrm>
          <a:prstGeom prst="rect">
            <a:avLst/>
          </a:prstGeom>
          <a:noFill/>
          <a:ln/>
        </p:spPr>
        <p:txBody>
          <a:bodyPr wrap="square" lIns="0" tIns="0" rIns="0" bIns="0" rtlCol="0" anchor="ctr"/>
          <a:lstStyle/>
          <a:p>
            <a:pPr indent="0" marL="0">
              <a:buNone/>
            </a:pPr>
            <a:r>
              <a:rPr lang="en-US" sz="1300" b="1" dirty="0">
                <a:solidFill>
                  <a:srgbClr val="22A07F"/>
                </a:solidFill>
                <a:latin typeface="Arial" pitchFamily="34" charset="0"/>
                <a:ea typeface="Arial" pitchFamily="34" charset="-122"/>
                <a:cs typeface="Arial" pitchFamily="34" charset="-120"/>
              </a:rPr>
              <a:t>BlockID Chain — the share register of record  ·  gas price 0</a:t>
            </a:r>
            <a:endParaRPr lang="en-US" sz="1300" dirty="0"/>
          </a:p>
        </p:txBody>
      </p:sp>
      <p:sp>
        <p:nvSpPr>
          <p:cNvPr id="39" name="Shape 37"/>
          <p:cNvSpPr/>
          <p:nvPr/>
        </p:nvSpPr>
        <p:spPr>
          <a:xfrm>
            <a:off x="2423160" y="4041648"/>
            <a:ext cx="1645920" cy="594360"/>
          </a:xfrm>
          <a:prstGeom prst="roundRect">
            <a:avLst>
              <a:gd name="adj" fmla="val 9231"/>
            </a:avLst>
          </a:prstGeom>
          <a:solidFill>
            <a:srgbClr val="172A26"/>
          </a:solidFill>
          <a:ln w="12700">
            <a:solidFill>
              <a:srgbClr val="25403A"/>
            </a:solidFill>
            <a:prstDash val="solid"/>
          </a:ln>
        </p:spPr>
      </p:sp>
      <p:sp>
        <p:nvSpPr>
          <p:cNvPr id="40" name="Text 38"/>
          <p:cNvSpPr txBox="1"/>
          <p:nvPr/>
        </p:nvSpPr>
        <p:spPr>
          <a:xfrm>
            <a:off x="242316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Identity registry</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(KYC holders)</a:t>
            </a:r>
            <a:endParaRPr lang="en-US" sz="1000" dirty="0"/>
          </a:p>
        </p:txBody>
      </p:sp>
      <p:sp>
        <p:nvSpPr>
          <p:cNvPr id="41" name="Shape 39"/>
          <p:cNvSpPr/>
          <p:nvPr/>
        </p:nvSpPr>
        <p:spPr>
          <a:xfrm>
            <a:off x="4206240" y="4041648"/>
            <a:ext cx="1645920" cy="594360"/>
          </a:xfrm>
          <a:prstGeom prst="roundRect">
            <a:avLst>
              <a:gd name="adj" fmla="val 9231"/>
            </a:avLst>
          </a:prstGeom>
          <a:solidFill>
            <a:srgbClr val="172A26"/>
          </a:solidFill>
          <a:ln w="12700">
            <a:solidFill>
              <a:srgbClr val="25403A"/>
            </a:solidFill>
            <a:prstDash val="solid"/>
          </a:ln>
        </p:spPr>
      </p:sp>
      <p:sp>
        <p:nvSpPr>
          <p:cNvPr id="42" name="Text 40"/>
          <p:cNvSpPr txBox="1"/>
          <p:nvPr/>
        </p:nvSpPr>
        <p:spPr>
          <a:xfrm>
            <a:off x="420624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Share token</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1 token = 1 share</a:t>
            </a:r>
            <a:endParaRPr lang="en-US" sz="1000" dirty="0"/>
          </a:p>
        </p:txBody>
      </p:sp>
      <p:sp>
        <p:nvSpPr>
          <p:cNvPr id="43" name="Shape 41"/>
          <p:cNvSpPr/>
          <p:nvPr/>
        </p:nvSpPr>
        <p:spPr>
          <a:xfrm>
            <a:off x="5989320" y="4041648"/>
            <a:ext cx="1645920" cy="594360"/>
          </a:xfrm>
          <a:prstGeom prst="roundRect">
            <a:avLst>
              <a:gd name="adj" fmla="val 9231"/>
            </a:avLst>
          </a:prstGeom>
          <a:solidFill>
            <a:srgbClr val="172A26"/>
          </a:solidFill>
          <a:ln w="12700">
            <a:solidFill>
              <a:srgbClr val="25403A"/>
            </a:solidFill>
            <a:prstDash val="solid"/>
          </a:ln>
        </p:spPr>
      </p:sp>
      <p:sp>
        <p:nvSpPr>
          <p:cNvPr id="44" name="Text 42"/>
          <p:cNvSpPr txBox="1"/>
          <p:nvPr/>
        </p:nvSpPr>
        <p:spPr>
          <a:xfrm>
            <a:off x="598932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Dividends</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paid in mAUD</a:t>
            </a:r>
            <a:endParaRPr lang="en-US" sz="1000" dirty="0"/>
          </a:p>
        </p:txBody>
      </p:sp>
      <p:sp>
        <p:nvSpPr>
          <p:cNvPr id="45" name="Shape 43"/>
          <p:cNvSpPr/>
          <p:nvPr/>
        </p:nvSpPr>
        <p:spPr>
          <a:xfrm>
            <a:off x="7772400" y="4041648"/>
            <a:ext cx="1645920" cy="594360"/>
          </a:xfrm>
          <a:prstGeom prst="roundRect">
            <a:avLst>
              <a:gd name="adj" fmla="val 9231"/>
            </a:avLst>
          </a:prstGeom>
          <a:solidFill>
            <a:srgbClr val="172A26"/>
          </a:solidFill>
          <a:ln w="12700">
            <a:solidFill>
              <a:srgbClr val="25403A"/>
            </a:solidFill>
            <a:prstDash val="solid"/>
          </a:ln>
        </p:spPr>
      </p:sp>
      <p:sp>
        <p:nvSpPr>
          <p:cNvPr id="46" name="Text 44"/>
          <p:cNvSpPr txBox="1"/>
          <p:nvPr/>
        </p:nvSpPr>
        <p:spPr>
          <a:xfrm>
            <a:off x="777240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Report hash</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fair value proof</a:t>
            </a:r>
            <a:endParaRPr lang="en-US" sz="1000" dirty="0"/>
          </a:p>
        </p:txBody>
      </p:sp>
      <p:sp>
        <p:nvSpPr>
          <p:cNvPr id="47" name="Shape 45"/>
          <p:cNvSpPr/>
          <p:nvPr/>
        </p:nvSpPr>
        <p:spPr>
          <a:xfrm>
            <a:off x="8659368" y="3364992"/>
            <a:ext cx="914" cy="256032"/>
          </a:xfrm>
          <a:prstGeom prst="line">
            <a:avLst/>
          </a:prstGeom>
          <a:noFill/>
          <a:ln w="22225">
            <a:solidFill>
              <a:srgbClr val="E4675A"/>
            </a:solidFill>
            <a:prstDash val="solid"/>
            <a:tailEnd type="triangle"/>
          </a:ln>
        </p:spPr>
      </p:sp>
      <p:sp>
        <p:nvSpPr>
          <p:cNvPr id="48" name="Text 46"/>
          <p:cNvSpPr txBox="1"/>
          <p:nvPr/>
        </p:nvSpPr>
        <p:spPr>
          <a:xfrm>
            <a:off x="8686800" y="3364992"/>
            <a:ext cx="914400" cy="237744"/>
          </a:xfrm>
          <a:prstGeom prst="rect">
            <a:avLst/>
          </a:prstGeom>
          <a:noFill/>
          <a:ln/>
        </p:spPr>
        <p:txBody>
          <a:bodyPr wrap="square" lIns="0" tIns="0" rIns="0" bIns="0" rtlCol="0" anchor="ctr"/>
          <a:lstStyle/>
          <a:p>
            <a:pPr algn="ctr" indent="0" marL="0">
              <a:buNone/>
            </a:pPr>
            <a:r>
              <a:rPr lang="en-US" sz="900" i="1" dirty="0">
                <a:solidFill>
                  <a:srgbClr val="E4675A"/>
                </a:solidFill>
                <a:latin typeface="Calibri" pitchFamily="34" charset="0"/>
                <a:ea typeface="Calibri" pitchFamily="34" charset="-122"/>
                <a:cs typeface="Calibri" pitchFamily="34" charset="-120"/>
              </a:rPr>
              <a:t>signs</a:t>
            </a:r>
            <a:endParaRPr lang="en-US" sz="900" dirty="0"/>
          </a:p>
        </p:txBody>
      </p:sp>
      <p:sp>
        <p:nvSpPr>
          <p:cNvPr id="49" name="Shape 47"/>
          <p:cNvSpPr/>
          <p:nvPr/>
        </p:nvSpPr>
        <p:spPr>
          <a:xfrm>
            <a:off x="502920" y="5001768"/>
            <a:ext cx="1600200" cy="1097280"/>
          </a:xfrm>
          <a:prstGeom prst="roundRect">
            <a:avLst>
              <a:gd name="adj" fmla="val 6667"/>
            </a:avLst>
          </a:prstGeom>
          <a:solidFill>
            <a:srgbClr val="172A26"/>
          </a:solidFill>
          <a:ln w="12700">
            <a:solidFill>
              <a:srgbClr val="E3A83A"/>
            </a:solidFill>
            <a:prstDash val="solid"/>
          </a:ln>
        </p:spPr>
      </p:sp>
      <p:sp>
        <p:nvSpPr>
          <p:cNvPr id="50" name="Text 48"/>
          <p:cNvSpPr txBox="1"/>
          <p:nvPr/>
        </p:nvSpPr>
        <p:spPr>
          <a:xfrm>
            <a:off x="566928" y="5001768"/>
            <a:ext cx="1481328" cy="1097280"/>
          </a:xfrm>
          <a:prstGeom prst="rect">
            <a:avLst/>
          </a:prstGeom>
          <a:noFill/>
          <a:ln/>
        </p:spPr>
        <p:txBody>
          <a:bodyPr wrap="square" lIns="0" tIns="0" rIns="0" bIns="0" rtlCol="0" anchor="ctr"/>
          <a:lstStyle/>
          <a:p>
            <a:pPr algn="ctr" indent="0" marL="0">
              <a:spcBef>
                <a:spcPts val="200"/>
              </a:spcBef>
              <a:buNone/>
            </a:pPr>
            <a:r>
              <a:rPr lang="en-US" sz="1250" b="1" dirty="0">
                <a:solidFill>
                  <a:srgbClr val="E3A83A"/>
                </a:solidFill>
                <a:latin typeface="Arial" pitchFamily="34" charset="0"/>
                <a:ea typeface="Arial" pitchFamily="34" charset="-122"/>
                <a:cs typeface="Arial" pitchFamily="34" charset="-120"/>
              </a:rPr>
              <a:t>LAYER 2</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HashKey Chain · chain 133</a:t>
            </a:r>
            <a:endParaRPr lang="en-US" sz="1250" dirty="0"/>
          </a:p>
        </p:txBody>
      </p:sp>
      <p:sp>
        <p:nvSpPr>
          <p:cNvPr id="51" name="Shape 49"/>
          <p:cNvSpPr/>
          <p:nvPr/>
        </p:nvSpPr>
        <p:spPr>
          <a:xfrm>
            <a:off x="2286000" y="5001768"/>
            <a:ext cx="4800600" cy="1097280"/>
          </a:xfrm>
          <a:prstGeom prst="roundRect">
            <a:avLst>
              <a:gd name="adj" fmla="val 6667"/>
            </a:avLst>
          </a:prstGeom>
          <a:solidFill>
            <a:srgbClr val="2A2412"/>
          </a:solidFill>
          <a:ln w="12700">
            <a:solidFill>
              <a:srgbClr val="E3A83A"/>
            </a:solidFill>
            <a:prstDash val="solid"/>
          </a:ln>
        </p:spPr>
      </p:sp>
      <p:sp>
        <p:nvSpPr>
          <p:cNvPr id="52" name="Text 50"/>
          <p:cNvSpPr txBox="1"/>
          <p:nvPr/>
        </p:nvSpPr>
        <p:spPr>
          <a:xfrm>
            <a:off x="2423160" y="5047488"/>
            <a:ext cx="4572000" cy="310896"/>
          </a:xfrm>
          <a:prstGeom prst="rect">
            <a:avLst/>
          </a:prstGeom>
          <a:noFill/>
          <a:ln/>
        </p:spPr>
        <p:txBody>
          <a:bodyPr wrap="square" lIns="0" tIns="0" rIns="0" bIns="0" rtlCol="0" anchor="ctr"/>
          <a:lstStyle/>
          <a:p>
            <a:pPr indent="0" marL="0">
              <a:buNone/>
            </a:pPr>
            <a:r>
              <a:rPr lang="en-US" sz="1300" b="1" dirty="0">
                <a:solidFill>
                  <a:srgbClr val="E3A83A"/>
                </a:solidFill>
                <a:latin typeface="Arial" pitchFamily="34" charset="0"/>
                <a:ea typeface="Arial" pitchFamily="34" charset="-122"/>
                <a:cs typeface="Arial" pitchFamily="34" charset="-120"/>
              </a:rPr>
              <a:t>HashKey Chain — public proof for real-world assets</a:t>
            </a:r>
            <a:endParaRPr lang="en-US" sz="1300" dirty="0"/>
          </a:p>
        </p:txBody>
      </p:sp>
      <p:sp>
        <p:nvSpPr>
          <p:cNvPr id="53" name="Shape 51"/>
          <p:cNvSpPr/>
          <p:nvPr/>
        </p:nvSpPr>
        <p:spPr>
          <a:xfrm>
            <a:off x="2423160" y="5413248"/>
            <a:ext cx="1444752" cy="594360"/>
          </a:xfrm>
          <a:prstGeom prst="roundRect">
            <a:avLst>
              <a:gd name="adj" fmla="val 9231"/>
            </a:avLst>
          </a:prstGeom>
          <a:solidFill>
            <a:srgbClr val="172A26"/>
          </a:solidFill>
          <a:ln w="12700">
            <a:solidFill>
              <a:srgbClr val="25403A"/>
            </a:solidFill>
            <a:prstDash val="solid"/>
          </a:ln>
        </p:spPr>
      </p:sp>
      <p:sp>
        <p:nvSpPr>
          <p:cNvPr id="54" name="Text 52"/>
          <p:cNvSpPr txBox="1"/>
          <p:nvPr/>
        </p:nvSpPr>
        <p:spPr>
          <a:xfrm>
            <a:off x="2423160" y="5413248"/>
            <a:ext cx="1444752" cy="594360"/>
          </a:xfrm>
          <a:prstGeom prst="rect">
            <a:avLst/>
          </a:prstGeom>
          <a:noFill/>
          <a:ln/>
        </p:spPr>
        <p:txBody>
          <a:bodyPr wrap="square" lIns="0" tIns="0" rIns="0" bIns="0" rtlCol="0" anchor="ctr"/>
          <a:lstStyle/>
          <a:p>
            <a:pPr algn="ctr" indent="0" marL="0">
              <a:buNone/>
            </a:pPr>
            <a:r>
              <a:rPr lang="en-US" sz="950" dirty="0">
                <a:solidFill>
                  <a:srgbClr val="F2F7F5"/>
                </a:solidFill>
                <a:latin typeface="Calibri" pitchFamily="34" charset="0"/>
                <a:ea typeface="Calibri" pitchFamily="34" charset="-122"/>
                <a:cs typeface="Calibri" pitchFamily="34" charset="-120"/>
              </a:rPr>
              <a:t>Mirror share token</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(same balances)</a:t>
            </a:r>
            <a:endParaRPr lang="en-US" sz="950" dirty="0"/>
          </a:p>
        </p:txBody>
      </p:sp>
      <p:sp>
        <p:nvSpPr>
          <p:cNvPr id="55" name="Shape 53"/>
          <p:cNvSpPr/>
          <p:nvPr/>
        </p:nvSpPr>
        <p:spPr>
          <a:xfrm>
            <a:off x="3977640" y="5413248"/>
            <a:ext cx="1444752" cy="594360"/>
          </a:xfrm>
          <a:prstGeom prst="roundRect">
            <a:avLst>
              <a:gd name="adj" fmla="val 9231"/>
            </a:avLst>
          </a:prstGeom>
          <a:solidFill>
            <a:srgbClr val="172A26"/>
          </a:solidFill>
          <a:ln w="12700">
            <a:solidFill>
              <a:srgbClr val="25403A"/>
            </a:solidFill>
            <a:prstDash val="solid"/>
          </a:ln>
        </p:spPr>
      </p:sp>
      <p:sp>
        <p:nvSpPr>
          <p:cNvPr id="56" name="Text 54"/>
          <p:cNvSpPr txBox="1"/>
          <p:nvPr/>
        </p:nvSpPr>
        <p:spPr>
          <a:xfrm>
            <a:off x="3977640" y="5413248"/>
            <a:ext cx="1444752" cy="594360"/>
          </a:xfrm>
          <a:prstGeom prst="rect">
            <a:avLst/>
          </a:prstGeom>
          <a:noFill/>
          <a:ln/>
        </p:spPr>
        <p:txBody>
          <a:bodyPr wrap="square" lIns="0" tIns="0" rIns="0" bIns="0" rtlCol="0" anchor="ctr"/>
          <a:lstStyle/>
          <a:p>
            <a:pPr algn="ctr" indent="0" marL="0">
              <a:buNone/>
            </a:pPr>
            <a:r>
              <a:rPr lang="en-US" sz="950" dirty="0">
                <a:solidFill>
                  <a:srgbClr val="F2F7F5"/>
                </a:solidFill>
                <a:latin typeface="Calibri" pitchFamily="34" charset="0"/>
                <a:ea typeface="Calibri" pitchFamily="34" charset="-122"/>
                <a:cs typeface="Calibri" pitchFamily="34" charset="-120"/>
              </a:rPr>
              <a:t>Cap-table root</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(Merkle)</a:t>
            </a:r>
            <a:endParaRPr lang="en-US" sz="950" dirty="0"/>
          </a:p>
        </p:txBody>
      </p:sp>
      <p:sp>
        <p:nvSpPr>
          <p:cNvPr id="57" name="Shape 55"/>
          <p:cNvSpPr/>
          <p:nvPr/>
        </p:nvSpPr>
        <p:spPr>
          <a:xfrm>
            <a:off x="5532120" y="5413248"/>
            <a:ext cx="1444752" cy="594360"/>
          </a:xfrm>
          <a:prstGeom prst="roundRect">
            <a:avLst>
              <a:gd name="adj" fmla="val 9231"/>
            </a:avLst>
          </a:prstGeom>
          <a:solidFill>
            <a:srgbClr val="172A26"/>
          </a:solidFill>
          <a:ln w="12700">
            <a:solidFill>
              <a:srgbClr val="25403A"/>
            </a:solidFill>
            <a:prstDash val="solid"/>
          </a:ln>
        </p:spPr>
      </p:sp>
      <p:sp>
        <p:nvSpPr>
          <p:cNvPr id="58" name="Text 56"/>
          <p:cNvSpPr txBox="1"/>
          <p:nvPr/>
        </p:nvSpPr>
        <p:spPr>
          <a:xfrm>
            <a:off x="5532120" y="5413248"/>
            <a:ext cx="1444752" cy="594360"/>
          </a:xfrm>
          <a:prstGeom prst="rect">
            <a:avLst/>
          </a:prstGeom>
          <a:noFill/>
          <a:ln/>
        </p:spPr>
        <p:txBody>
          <a:bodyPr wrap="square" lIns="0" tIns="0" rIns="0" bIns="0" rtlCol="0" anchor="ctr"/>
          <a:lstStyle/>
          <a:p>
            <a:pPr algn="ctr" indent="0" marL="0">
              <a:buNone/>
            </a:pPr>
            <a:r>
              <a:rPr lang="en-US" sz="950" dirty="0">
                <a:solidFill>
                  <a:srgbClr val="F2F7F5"/>
                </a:solidFill>
                <a:latin typeface="Calibri" pitchFamily="34" charset="0"/>
                <a:ea typeface="Calibri" pitchFamily="34" charset="-122"/>
                <a:cs typeface="Calibri" pitchFamily="34" charset="-120"/>
              </a:rPr>
              <a:t>Agent provenance</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(who proposed)</a:t>
            </a:r>
            <a:endParaRPr lang="en-US" sz="950" dirty="0"/>
          </a:p>
        </p:txBody>
      </p:sp>
      <p:sp>
        <p:nvSpPr>
          <p:cNvPr id="59" name="Shape 57"/>
          <p:cNvSpPr/>
          <p:nvPr/>
        </p:nvSpPr>
        <p:spPr>
          <a:xfrm>
            <a:off x="7223760" y="5001768"/>
            <a:ext cx="2331720" cy="1097280"/>
          </a:xfrm>
          <a:prstGeom prst="roundRect">
            <a:avLst>
              <a:gd name="adj" fmla="val 6667"/>
            </a:avLst>
          </a:prstGeom>
          <a:solidFill>
            <a:srgbClr val="12201D"/>
          </a:solidFill>
          <a:ln w="12700">
            <a:solidFill>
              <a:srgbClr val="5D8AD6"/>
            </a:solidFill>
            <a:prstDash val="solid"/>
          </a:ln>
        </p:spPr>
      </p:sp>
      <p:sp>
        <p:nvSpPr>
          <p:cNvPr id="60" name="Text 58"/>
          <p:cNvSpPr txBox="1"/>
          <p:nvPr/>
        </p:nvSpPr>
        <p:spPr>
          <a:xfrm>
            <a:off x="7315200" y="5065776"/>
            <a:ext cx="2148840" cy="310896"/>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Ethereum</a:t>
            </a:r>
            <a:endParaRPr lang="en-US" sz="1250" dirty="0"/>
          </a:p>
        </p:txBody>
      </p:sp>
      <p:sp>
        <p:nvSpPr>
          <p:cNvPr id="61" name="Text 59"/>
          <p:cNvSpPr txBox="1"/>
          <p:nvPr/>
        </p:nvSpPr>
        <p:spPr>
          <a:xfrm>
            <a:off x="7315200" y="5367528"/>
            <a:ext cx="2148840" cy="68580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Hoodi testnet · chain 560048</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mirror token + cap-table root</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(public anchor)</a:t>
            </a:r>
            <a:endParaRPr lang="en-US" sz="950" dirty="0"/>
          </a:p>
        </p:txBody>
      </p:sp>
      <p:sp>
        <p:nvSpPr>
          <p:cNvPr id="62" name="Shape 60"/>
          <p:cNvSpPr/>
          <p:nvPr/>
        </p:nvSpPr>
        <p:spPr>
          <a:xfrm>
            <a:off x="4663440" y="4736592"/>
            <a:ext cx="914" cy="256032"/>
          </a:xfrm>
          <a:prstGeom prst="line">
            <a:avLst/>
          </a:prstGeom>
          <a:noFill/>
          <a:ln w="22225">
            <a:solidFill>
              <a:srgbClr val="E3A83A"/>
            </a:solidFill>
            <a:prstDash val="solid"/>
            <a:tailEnd type="triangle"/>
          </a:ln>
        </p:spPr>
      </p:sp>
      <p:sp>
        <p:nvSpPr>
          <p:cNvPr id="63" name="Text 61"/>
          <p:cNvSpPr txBox="1"/>
          <p:nvPr/>
        </p:nvSpPr>
        <p:spPr>
          <a:xfrm>
            <a:off x="4754880" y="4736592"/>
            <a:ext cx="2194560" cy="237744"/>
          </a:xfrm>
          <a:prstGeom prst="rect">
            <a:avLst/>
          </a:prstGeom>
          <a:noFill/>
          <a:ln/>
        </p:spPr>
        <p:txBody>
          <a:bodyPr wrap="square" lIns="0" tIns="0" rIns="0" bIns="0" rtlCol="0" anchor="ctr"/>
          <a:lstStyle/>
          <a:p>
            <a:pPr algn="ctr" indent="0" marL="0">
              <a:buNone/>
            </a:pPr>
            <a:r>
              <a:rPr lang="en-US" sz="900" i="1" dirty="0">
                <a:solidFill>
                  <a:srgbClr val="E3A83A"/>
                </a:solidFill>
                <a:latin typeface="Calibri" pitchFamily="34" charset="0"/>
                <a:ea typeface="Calibri" pitchFamily="34" charset="-122"/>
                <a:cs typeface="Calibri" pitchFamily="34" charset="-120"/>
              </a:rPr>
              <a:t>sync: same balances + root</a:t>
            </a:r>
            <a:endParaRPr lang="en-US" sz="900" dirty="0"/>
          </a:p>
        </p:txBody>
      </p:sp>
      <p:sp>
        <p:nvSpPr>
          <p:cNvPr id="64" name="Shape 62"/>
          <p:cNvSpPr/>
          <p:nvPr/>
        </p:nvSpPr>
        <p:spPr>
          <a:xfrm>
            <a:off x="8385048" y="4736592"/>
            <a:ext cx="914" cy="256032"/>
          </a:xfrm>
          <a:prstGeom prst="line">
            <a:avLst/>
          </a:prstGeom>
          <a:noFill/>
          <a:ln w="22225">
            <a:solidFill>
              <a:srgbClr val="5D8AD6"/>
            </a:solidFill>
            <a:prstDash val="solid"/>
            <a:tailEnd type="triangle"/>
          </a:ln>
        </p:spPr>
      </p:sp>
      <p:sp>
        <p:nvSpPr>
          <p:cNvPr id="65" name="Shape 63"/>
          <p:cNvSpPr/>
          <p:nvPr/>
        </p:nvSpPr>
        <p:spPr>
          <a:xfrm>
            <a:off x="9784080" y="1481328"/>
            <a:ext cx="1920240" cy="4617720"/>
          </a:xfrm>
          <a:prstGeom prst="roundRect">
            <a:avLst>
              <a:gd name="adj" fmla="val 4762"/>
            </a:avLst>
          </a:prstGeom>
          <a:solidFill>
            <a:srgbClr val="172A26"/>
          </a:solidFill>
          <a:ln w="12700">
            <a:solidFill>
              <a:srgbClr val="7FE0C2"/>
            </a:solidFill>
            <a:prstDash val="solid"/>
          </a:ln>
        </p:spPr>
      </p:sp>
      <p:sp>
        <p:nvSpPr>
          <p:cNvPr id="66" name="Shape 64"/>
          <p:cNvSpPr/>
          <p:nvPr/>
        </p:nvSpPr>
        <p:spPr>
          <a:xfrm>
            <a:off x="10469880" y="1645920"/>
            <a:ext cx="548640" cy="548640"/>
          </a:xfrm>
          <a:prstGeom prst="ellipse">
            <a:avLst/>
          </a:prstGeom>
          <a:solidFill>
            <a:srgbClr val="22A07F"/>
          </a:solidFill>
          <a:ln w="12700">
            <a:solidFill>
              <a:srgbClr val="22A07F"/>
            </a:solidFill>
            <a:prstDash val="solid"/>
          </a:ln>
        </p:spPr>
      </p:sp>
      <p:pic>
        <p:nvPicPr>
          <p:cNvPr id="67" name="Image 0" descr="preencoded.png">    </p:cNvPr>
          <p:cNvPicPr>
            <a:picLocks noChangeAspect="1"/>
          </p:cNvPicPr>
          <p:nvPr/>
        </p:nvPicPr>
        <p:blipFill>
          <a:blip r:embed="rId1"/>
          <a:stretch>
            <a:fillRect/>
          </a:stretch>
        </p:blipFill>
        <p:spPr>
          <a:xfrm>
            <a:off x="10607040" y="1783080"/>
            <a:ext cx="274320" cy="274320"/>
          </a:xfrm>
          <a:prstGeom prst="rect">
            <a:avLst/>
          </a:prstGeom>
        </p:spPr>
      </p:pic>
      <p:sp>
        <p:nvSpPr>
          <p:cNvPr id="68" name="Text 65"/>
          <p:cNvSpPr txBox="1"/>
          <p:nvPr/>
        </p:nvSpPr>
        <p:spPr>
          <a:xfrm>
            <a:off x="9875520" y="2286000"/>
            <a:ext cx="1737360" cy="320040"/>
          </a:xfrm>
          <a:prstGeom prst="rect">
            <a:avLst/>
          </a:prstGeom>
          <a:noFill/>
          <a:ln/>
        </p:spPr>
        <p:txBody>
          <a:bodyPr wrap="square" lIns="0" tIns="0" rIns="0" bIns="0" rtlCol="0" anchor="ctr"/>
          <a:lstStyle/>
          <a:p>
            <a:pPr algn="ctr" indent="0" marL="0">
              <a:buNone/>
            </a:pPr>
            <a:r>
              <a:rPr lang="en-US" sz="1350" b="1" dirty="0">
                <a:solidFill>
                  <a:srgbClr val="7FE0C2"/>
                </a:solidFill>
                <a:latin typeface="Arial" pitchFamily="34" charset="0"/>
                <a:ea typeface="Arial" pitchFamily="34" charset="-122"/>
                <a:cs typeface="Arial" pitchFamily="34" charset="-120"/>
              </a:rPr>
              <a:t>Anyone checks</a:t>
            </a:r>
            <a:endParaRPr lang="en-US" sz="1350" dirty="0"/>
          </a:p>
        </p:txBody>
      </p:sp>
      <p:sp>
        <p:nvSpPr>
          <p:cNvPr id="69" name="Text 66"/>
          <p:cNvSpPr txBox="1"/>
          <p:nvPr/>
        </p:nvSpPr>
        <p:spPr>
          <a:xfrm>
            <a:off x="9921240" y="2651760"/>
            <a:ext cx="1645920" cy="3291840"/>
          </a:xfrm>
          <a:prstGeom prst="rect">
            <a:avLst/>
          </a:prstGeom>
          <a:noFill/>
          <a:ln/>
        </p:spPr>
        <p:txBody>
          <a:bodyPr wrap="square" lIns="0" tIns="0" rIns="0" bIns="0" rtlCol="0" anchor="t"/>
          <a:lstStyle/>
          <a:p>
            <a:pPr algn="ctr" indent="0" marL="0">
              <a:buNone/>
            </a:pPr>
            <a:r>
              <a:rPr lang="en-US" sz="1050" dirty="0">
                <a:solidFill>
                  <a:srgbClr val="F2F7F5"/>
                </a:solidFill>
                <a:latin typeface="Calibri" pitchFamily="34" charset="0"/>
                <a:ea typeface="Calibri" pitchFamily="34" charset="-122"/>
                <a:cs typeface="Calibri" pitchFamily="34" charset="-120"/>
              </a:rPr>
              <a:t>/verify recomputes the report hash in the browser and reads it from all 3 chains.</a:t>
            </a:r>
            <a:endParaRPr lang="en-US" sz="1050" dirty="0"/>
          </a:p>
          <a:p>
            <a:pPr algn="ctr" indent="0" marL="0">
              <a:buNone/>
            </a:pP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Explorers:</a:t>
            </a: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scan.blockid.au</a:t>
            </a: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HashKey · Etherscan</a:t>
            </a:r>
            <a:endParaRPr lang="en-US" sz="1050" dirty="0"/>
          </a:p>
          <a:p>
            <a:pPr algn="ctr" indent="0" marL="0">
              <a:buNone/>
            </a:pP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Match = ✓</a:t>
            </a: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Any change = ✗</a:t>
            </a:r>
            <a:endParaRPr lang="en-US" sz="1050" dirty="0"/>
          </a:p>
        </p:txBody>
      </p:sp>
      <p:sp>
        <p:nvSpPr>
          <p:cNvPr id="70" name="Shape 67"/>
          <p:cNvSpPr/>
          <p:nvPr/>
        </p:nvSpPr>
        <p:spPr>
          <a:xfrm>
            <a:off x="9564624" y="4178808"/>
            <a:ext cx="210312" cy="914"/>
          </a:xfrm>
          <a:prstGeom prst="line">
            <a:avLst/>
          </a:prstGeom>
          <a:noFill/>
          <a:ln w="22225">
            <a:solidFill>
              <a:srgbClr val="7FE0C2"/>
            </a:solidFill>
            <a:prstDash val="solid"/>
            <a:tailEnd type="triangle"/>
          </a:ln>
        </p:spPr>
      </p:sp>
      <p:sp>
        <p:nvSpPr>
          <p:cNvPr id="71" name="Shape 68"/>
          <p:cNvSpPr/>
          <p:nvPr/>
        </p:nvSpPr>
        <p:spPr>
          <a:xfrm>
            <a:off x="9564624" y="5550408"/>
            <a:ext cx="210312" cy="914"/>
          </a:xfrm>
          <a:prstGeom prst="line">
            <a:avLst/>
          </a:prstGeom>
          <a:noFill/>
          <a:ln w="22225">
            <a:solidFill>
              <a:srgbClr val="7FE0C2"/>
            </a:solidFill>
            <a:prstDash val="solid"/>
            <a:tailEnd type="triangle"/>
          </a:ln>
        </p:spPr>
      </p:sp>
      <p:sp>
        <p:nvSpPr>
          <p:cNvPr id="72" name="Text 6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9 / 9   ·   LIVE TODAY · THE ASK</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Live today. Looking for pilot businesses and partners.</a:t>
            </a:r>
            <a:endParaRPr lang="en-US" sz="3000" dirty="0"/>
          </a:p>
        </p:txBody>
      </p:sp>
      <p:sp>
        <p:nvSpPr>
          <p:cNvPr id="4" name="Shape 2"/>
          <p:cNvSpPr/>
          <p:nvPr/>
        </p:nvSpPr>
        <p:spPr>
          <a:xfrm>
            <a:off x="502920" y="1600200"/>
            <a:ext cx="1737360" cy="1325880"/>
          </a:xfrm>
          <a:prstGeom prst="roundRect">
            <a:avLst>
              <a:gd name="adj" fmla="val 8276"/>
            </a:avLst>
          </a:prstGeom>
          <a:solidFill>
            <a:srgbClr val="12201D"/>
          </a:solidFill>
          <a:ln w="12700">
            <a:solidFill>
              <a:srgbClr val="25403A"/>
            </a:solidFill>
            <a:prstDash val="solid"/>
          </a:ln>
        </p:spPr>
      </p:sp>
      <p:sp>
        <p:nvSpPr>
          <p:cNvPr id="5" name="Text 3"/>
          <p:cNvSpPr txBox="1"/>
          <p:nvPr/>
        </p:nvSpPr>
        <p:spPr>
          <a:xfrm>
            <a:off x="640080" y="1673352"/>
            <a:ext cx="1508760" cy="640080"/>
          </a:xfrm>
          <a:prstGeom prst="rect">
            <a:avLst/>
          </a:prstGeom>
          <a:noFill/>
          <a:ln/>
        </p:spPr>
        <p:txBody>
          <a:bodyPr wrap="square" lIns="0" tIns="0" rIns="0" bIns="0" rtlCol="0" anchor="ctr"/>
          <a:lstStyle/>
          <a:p>
            <a:pPr indent="0" marL="0">
              <a:buNone/>
            </a:pPr>
            <a:r>
              <a:rPr lang="en-US" sz="2800" b="1" dirty="0">
                <a:solidFill>
                  <a:srgbClr val="22A07F"/>
                </a:solidFill>
                <a:latin typeface="Arial" pitchFamily="34" charset="0"/>
                <a:ea typeface="Arial" pitchFamily="34" charset="-122"/>
                <a:cs typeface="Arial" pitchFamily="34" charset="-120"/>
              </a:rPr>
              <a:t>13</a:t>
            </a:r>
            <a:endParaRPr lang="en-US" sz="2800" dirty="0"/>
          </a:p>
        </p:txBody>
      </p:sp>
      <p:sp>
        <p:nvSpPr>
          <p:cNvPr id="6" name="Text 4"/>
          <p:cNvSpPr txBox="1"/>
          <p:nvPr/>
        </p:nvSpPr>
        <p:spPr>
          <a:xfrm>
            <a:off x="64008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businesses listed</a:t>
            </a:r>
            <a:endParaRPr lang="en-US" sz="1150" dirty="0"/>
          </a:p>
        </p:txBody>
      </p:sp>
      <p:sp>
        <p:nvSpPr>
          <p:cNvPr id="7" name="Shape 5"/>
          <p:cNvSpPr/>
          <p:nvPr/>
        </p:nvSpPr>
        <p:spPr>
          <a:xfrm>
            <a:off x="2377440" y="1600200"/>
            <a:ext cx="1737360" cy="1325880"/>
          </a:xfrm>
          <a:prstGeom prst="roundRect">
            <a:avLst>
              <a:gd name="adj" fmla="val 8276"/>
            </a:avLst>
          </a:prstGeom>
          <a:solidFill>
            <a:srgbClr val="12201D"/>
          </a:solidFill>
          <a:ln w="12700">
            <a:solidFill>
              <a:srgbClr val="25403A"/>
            </a:solidFill>
            <a:prstDash val="solid"/>
          </a:ln>
        </p:spPr>
      </p:sp>
      <p:sp>
        <p:nvSpPr>
          <p:cNvPr id="8" name="Text 6"/>
          <p:cNvSpPr txBox="1"/>
          <p:nvPr/>
        </p:nvSpPr>
        <p:spPr>
          <a:xfrm>
            <a:off x="2514600" y="1673352"/>
            <a:ext cx="1508760" cy="640080"/>
          </a:xfrm>
          <a:prstGeom prst="rect">
            <a:avLst/>
          </a:prstGeom>
          <a:noFill/>
          <a:ln/>
        </p:spPr>
        <p:txBody>
          <a:bodyPr wrap="square" lIns="0" tIns="0" rIns="0" bIns="0" rtlCol="0" anchor="ctr"/>
          <a:lstStyle/>
          <a:p>
            <a:pPr indent="0" marL="0">
              <a:buNone/>
            </a:pPr>
            <a:r>
              <a:rPr lang="en-US" sz="2800" b="1" dirty="0">
                <a:solidFill>
                  <a:srgbClr val="E3A83A"/>
                </a:solidFill>
                <a:latin typeface="Arial" pitchFamily="34" charset="0"/>
                <a:ea typeface="Arial" pitchFamily="34" charset="-122"/>
                <a:cs typeface="Arial" pitchFamily="34" charset="-120"/>
              </a:rPr>
              <a:t>38</a:t>
            </a:r>
            <a:endParaRPr lang="en-US" sz="2800" dirty="0"/>
          </a:p>
        </p:txBody>
      </p:sp>
      <p:sp>
        <p:nvSpPr>
          <p:cNvPr id="9" name="Text 7"/>
          <p:cNvSpPr txBox="1"/>
          <p:nvPr/>
        </p:nvSpPr>
        <p:spPr>
          <a:xfrm>
            <a:off x="251460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share records on blockchain</a:t>
            </a:r>
            <a:endParaRPr lang="en-US" sz="1150" dirty="0"/>
          </a:p>
        </p:txBody>
      </p:sp>
      <p:sp>
        <p:nvSpPr>
          <p:cNvPr id="10" name="Shape 8"/>
          <p:cNvSpPr/>
          <p:nvPr/>
        </p:nvSpPr>
        <p:spPr>
          <a:xfrm>
            <a:off x="4251960" y="1600200"/>
            <a:ext cx="1737360" cy="1325880"/>
          </a:xfrm>
          <a:prstGeom prst="roundRect">
            <a:avLst>
              <a:gd name="adj" fmla="val 8276"/>
            </a:avLst>
          </a:prstGeom>
          <a:solidFill>
            <a:srgbClr val="12201D"/>
          </a:solidFill>
          <a:ln w="12700">
            <a:solidFill>
              <a:srgbClr val="25403A"/>
            </a:solidFill>
            <a:prstDash val="solid"/>
          </a:ln>
        </p:spPr>
      </p:sp>
      <p:sp>
        <p:nvSpPr>
          <p:cNvPr id="11" name="Text 9"/>
          <p:cNvSpPr txBox="1"/>
          <p:nvPr/>
        </p:nvSpPr>
        <p:spPr>
          <a:xfrm>
            <a:off x="4389120" y="1673352"/>
            <a:ext cx="1508760" cy="640080"/>
          </a:xfrm>
          <a:prstGeom prst="rect">
            <a:avLst/>
          </a:prstGeom>
          <a:noFill/>
          <a:ln/>
        </p:spPr>
        <p:txBody>
          <a:bodyPr wrap="square" lIns="0" tIns="0" rIns="0" bIns="0" rtlCol="0" anchor="ctr"/>
          <a:lstStyle/>
          <a:p>
            <a:pPr indent="0" marL="0">
              <a:buNone/>
            </a:pPr>
            <a:r>
              <a:rPr lang="en-US" sz="2800" b="1" dirty="0">
                <a:solidFill>
                  <a:srgbClr val="22A07F"/>
                </a:solidFill>
                <a:latin typeface="Arial" pitchFamily="34" charset="0"/>
                <a:ea typeface="Arial" pitchFamily="34" charset="-122"/>
                <a:cs typeface="Arial" pitchFamily="34" charset="-120"/>
              </a:rPr>
              <a:t>A$87B</a:t>
            </a:r>
            <a:endParaRPr lang="en-US" sz="2800" dirty="0"/>
          </a:p>
        </p:txBody>
      </p:sp>
      <p:sp>
        <p:nvSpPr>
          <p:cNvPr id="12" name="Text 10"/>
          <p:cNvSpPr txBox="1"/>
          <p:nvPr/>
        </p:nvSpPr>
        <p:spPr>
          <a:xfrm>
            <a:off x="438912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fair value checked by people</a:t>
            </a:r>
            <a:endParaRPr lang="en-US" sz="1150" dirty="0"/>
          </a:p>
        </p:txBody>
      </p:sp>
      <p:sp>
        <p:nvSpPr>
          <p:cNvPr id="13" name="Shape 11"/>
          <p:cNvSpPr/>
          <p:nvPr/>
        </p:nvSpPr>
        <p:spPr>
          <a:xfrm>
            <a:off x="6126480" y="1600200"/>
            <a:ext cx="1737360" cy="1325880"/>
          </a:xfrm>
          <a:prstGeom prst="roundRect">
            <a:avLst>
              <a:gd name="adj" fmla="val 8276"/>
            </a:avLst>
          </a:prstGeom>
          <a:solidFill>
            <a:srgbClr val="12201D"/>
          </a:solidFill>
          <a:ln w="12700">
            <a:solidFill>
              <a:srgbClr val="25403A"/>
            </a:solidFill>
            <a:prstDash val="solid"/>
          </a:ln>
        </p:spPr>
      </p:sp>
      <p:sp>
        <p:nvSpPr>
          <p:cNvPr id="14" name="Text 12"/>
          <p:cNvSpPr txBox="1"/>
          <p:nvPr/>
        </p:nvSpPr>
        <p:spPr>
          <a:xfrm>
            <a:off x="6263640" y="1673352"/>
            <a:ext cx="1508760" cy="640080"/>
          </a:xfrm>
          <a:prstGeom prst="rect">
            <a:avLst/>
          </a:prstGeom>
          <a:noFill/>
          <a:ln/>
        </p:spPr>
        <p:txBody>
          <a:bodyPr wrap="square" lIns="0" tIns="0" rIns="0" bIns="0" rtlCol="0" anchor="ctr"/>
          <a:lstStyle/>
          <a:p>
            <a:pPr indent="0" marL="0">
              <a:buNone/>
            </a:pPr>
            <a:r>
              <a:rPr lang="en-US" sz="2800" b="1" dirty="0">
                <a:solidFill>
                  <a:srgbClr val="E3A83A"/>
                </a:solidFill>
                <a:latin typeface="Arial" pitchFamily="34" charset="0"/>
                <a:ea typeface="Arial" pitchFamily="34" charset="-122"/>
                <a:cs typeface="Arial" pitchFamily="34" charset="-120"/>
              </a:rPr>
              <a:t>3</a:t>
            </a:r>
            <a:endParaRPr lang="en-US" sz="2800" dirty="0"/>
          </a:p>
        </p:txBody>
      </p:sp>
      <p:sp>
        <p:nvSpPr>
          <p:cNvPr id="15" name="Text 13"/>
          <p:cNvSpPr txBox="1"/>
          <p:nvPr/>
        </p:nvSpPr>
        <p:spPr>
          <a:xfrm>
            <a:off x="626364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blockchains, every record checkable</a:t>
            </a:r>
            <a:endParaRPr lang="en-US" sz="1150" dirty="0"/>
          </a:p>
        </p:txBody>
      </p:sp>
      <p:sp>
        <p:nvSpPr>
          <p:cNvPr id="16" name="Shape 14"/>
          <p:cNvSpPr/>
          <p:nvPr/>
        </p:nvSpPr>
        <p:spPr>
          <a:xfrm>
            <a:off x="502920" y="3108960"/>
            <a:ext cx="3611880" cy="3063240"/>
          </a:xfrm>
          <a:prstGeom prst="roundRect">
            <a:avLst>
              <a:gd name="adj" fmla="val 3582"/>
            </a:avLst>
          </a:prstGeom>
          <a:solidFill>
            <a:srgbClr val="12201D"/>
          </a:solidFill>
          <a:ln w="12700">
            <a:solidFill>
              <a:srgbClr val="25403A"/>
            </a:solidFill>
            <a:prstDash val="solid"/>
          </a:ln>
        </p:spPr>
      </p:sp>
      <p:sp>
        <p:nvSpPr>
          <p:cNvPr id="17" name="Text 15"/>
          <p:cNvSpPr txBox="1"/>
          <p:nvPr/>
        </p:nvSpPr>
        <p:spPr>
          <a:xfrm>
            <a:off x="731520" y="3246120"/>
            <a:ext cx="32004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WHO PAYS</a:t>
            </a:r>
            <a:endParaRPr lang="en-US" sz="1150" dirty="0"/>
          </a:p>
        </p:txBody>
      </p:sp>
      <p:sp>
        <p:nvSpPr>
          <p:cNvPr id="18" name="Shape 16"/>
          <p:cNvSpPr/>
          <p:nvPr/>
        </p:nvSpPr>
        <p:spPr>
          <a:xfrm>
            <a:off x="731520" y="3703320"/>
            <a:ext cx="146304" cy="146304"/>
          </a:xfrm>
          <a:prstGeom prst="ellipse">
            <a:avLst/>
          </a:prstGeom>
          <a:solidFill>
            <a:srgbClr val="E3A83A"/>
          </a:solidFill>
          <a:ln w="12700">
            <a:solidFill>
              <a:srgbClr val="E3A83A"/>
            </a:solidFill>
            <a:prstDash val="solid"/>
          </a:ln>
        </p:spPr>
      </p:sp>
      <p:sp>
        <p:nvSpPr>
          <p:cNvPr id="19" name="Text 17"/>
          <p:cNvSpPr txBox="1"/>
          <p:nvPr/>
        </p:nvSpPr>
        <p:spPr>
          <a:xfrm>
            <a:off x="1024128" y="3611880"/>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Businesses: listing fee + share-register subscription</a:t>
            </a:r>
            <a:endParaRPr lang="en-US" sz="1350" dirty="0"/>
          </a:p>
        </p:txBody>
      </p:sp>
      <p:sp>
        <p:nvSpPr>
          <p:cNvPr id="20" name="Shape 18"/>
          <p:cNvSpPr/>
          <p:nvPr/>
        </p:nvSpPr>
        <p:spPr>
          <a:xfrm>
            <a:off x="731520" y="4361688"/>
            <a:ext cx="146304" cy="146304"/>
          </a:xfrm>
          <a:prstGeom prst="ellipse">
            <a:avLst/>
          </a:prstGeom>
          <a:solidFill>
            <a:srgbClr val="E3A83A"/>
          </a:solidFill>
          <a:ln w="12700">
            <a:solidFill>
              <a:srgbClr val="E3A83A"/>
            </a:solidFill>
            <a:prstDash val="solid"/>
          </a:ln>
        </p:spPr>
      </p:sp>
      <p:sp>
        <p:nvSpPr>
          <p:cNvPr id="21" name="Text 19"/>
          <p:cNvSpPr txBox="1"/>
          <p:nvPr/>
        </p:nvSpPr>
        <p:spPr>
          <a:xfrm>
            <a:off x="1024128" y="4270248"/>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Per share transfer fee</a:t>
            </a:r>
            <a:endParaRPr lang="en-US" sz="1350" dirty="0"/>
          </a:p>
        </p:txBody>
      </p:sp>
      <p:sp>
        <p:nvSpPr>
          <p:cNvPr id="22" name="Shape 20"/>
          <p:cNvSpPr/>
          <p:nvPr/>
        </p:nvSpPr>
        <p:spPr>
          <a:xfrm>
            <a:off x="731520" y="5020056"/>
            <a:ext cx="146304" cy="146304"/>
          </a:xfrm>
          <a:prstGeom prst="ellipse">
            <a:avLst/>
          </a:prstGeom>
          <a:solidFill>
            <a:srgbClr val="E3A83A"/>
          </a:solidFill>
          <a:ln w="12700">
            <a:solidFill>
              <a:srgbClr val="E3A83A"/>
            </a:solidFill>
            <a:prstDash val="solid"/>
          </a:ln>
        </p:spPr>
      </p:sp>
      <p:sp>
        <p:nvSpPr>
          <p:cNvPr id="23" name="Text 21"/>
          <p:cNvSpPr txBox="1"/>
          <p:nvPr/>
        </p:nvSpPr>
        <p:spPr>
          <a:xfrm>
            <a:off x="1024128" y="4928616"/>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0.5–1% of each dividend round</a:t>
            </a:r>
            <a:endParaRPr lang="en-US" sz="1350" dirty="0"/>
          </a:p>
        </p:txBody>
      </p:sp>
      <p:sp>
        <p:nvSpPr>
          <p:cNvPr id="24" name="Shape 22"/>
          <p:cNvSpPr/>
          <p:nvPr/>
        </p:nvSpPr>
        <p:spPr>
          <a:xfrm>
            <a:off x="4251960" y="3108960"/>
            <a:ext cx="3520440" cy="3063240"/>
          </a:xfrm>
          <a:prstGeom prst="roundRect">
            <a:avLst>
              <a:gd name="adj" fmla="val 3582"/>
            </a:avLst>
          </a:prstGeom>
          <a:solidFill>
            <a:srgbClr val="12201D"/>
          </a:solidFill>
          <a:ln w="12700">
            <a:solidFill>
              <a:srgbClr val="25403A"/>
            </a:solidFill>
            <a:prstDash val="solid"/>
          </a:ln>
        </p:spPr>
      </p:sp>
      <p:sp>
        <p:nvSpPr>
          <p:cNvPr id="25" name="Text 23"/>
          <p:cNvSpPr txBox="1"/>
          <p:nvPr/>
        </p:nvSpPr>
        <p:spPr>
          <a:xfrm>
            <a:off x="4480560" y="3246120"/>
            <a:ext cx="32004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WHO IT'S FOR</a:t>
            </a:r>
            <a:endParaRPr lang="en-US" sz="1150" dirty="0"/>
          </a:p>
        </p:txBody>
      </p:sp>
      <p:sp>
        <p:nvSpPr>
          <p:cNvPr id="26" name="Shape 24"/>
          <p:cNvSpPr/>
          <p:nvPr/>
        </p:nvSpPr>
        <p:spPr>
          <a:xfrm>
            <a:off x="4480560" y="3703320"/>
            <a:ext cx="146304" cy="146304"/>
          </a:xfrm>
          <a:prstGeom prst="ellipse">
            <a:avLst/>
          </a:prstGeom>
          <a:solidFill>
            <a:srgbClr val="22A07F"/>
          </a:solidFill>
          <a:ln w="12700">
            <a:solidFill>
              <a:srgbClr val="22A07F"/>
            </a:solidFill>
            <a:prstDash val="solid"/>
          </a:ln>
        </p:spPr>
      </p:sp>
      <p:sp>
        <p:nvSpPr>
          <p:cNvPr id="27" name="Text 25"/>
          <p:cNvSpPr txBox="1"/>
          <p:nvPr/>
        </p:nvSpPr>
        <p:spPr>
          <a:xfrm>
            <a:off x="4773168" y="3611880"/>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Investors, retail and professional</a:t>
            </a:r>
            <a:endParaRPr lang="en-US" sz="1350" dirty="0"/>
          </a:p>
        </p:txBody>
      </p:sp>
      <p:sp>
        <p:nvSpPr>
          <p:cNvPr id="28" name="Shape 26"/>
          <p:cNvSpPr/>
          <p:nvPr/>
        </p:nvSpPr>
        <p:spPr>
          <a:xfrm>
            <a:off x="4480560" y="4361688"/>
            <a:ext cx="146304" cy="146304"/>
          </a:xfrm>
          <a:prstGeom prst="ellipse">
            <a:avLst/>
          </a:prstGeom>
          <a:solidFill>
            <a:srgbClr val="22A07F"/>
          </a:solidFill>
          <a:ln w="12700">
            <a:solidFill>
              <a:srgbClr val="22A07F"/>
            </a:solidFill>
            <a:prstDash val="solid"/>
          </a:ln>
        </p:spPr>
      </p:sp>
      <p:sp>
        <p:nvSpPr>
          <p:cNvPr id="29" name="Text 27"/>
          <p:cNvSpPr txBox="1"/>
          <p:nvPr/>
        </p:nvSpPr>
        <p:spPr>
          <a:xfrm>
            <a:off x="4773168" y="4270248"/>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Businesses raising from them (AU · VN)</a:t>
            </a:r>
            <a:endParaRPr lang="en-US" sz="1350" dirty="0"/>
          </a:p>
        </p:txBody>
      </p:sp>
      <p:sp>
        <p:nvSpPr>
          <p:cNvPr id="30" name="Shape 28"/>
          <p:cNvSpPr/>
          <p:nvPr/>
        </p:nvSpPr>
        <p:spPr>
          <a:xfrm>
            <a:off x="4480560" y="5020056"/>
            <a:ext cx="146304" cy="146304"/>
          </a:xfrm>
          <a:prstGeom prst="ellipse">
            <a:avLst/>
          </a:prstGeom>
          <a:solidFill>
            <a:srgbClr val="22A07F"/>
          </a:solidFill>
          <a:ln w="12700">
            <a:solidFill>
              <a:srgbClr val="22A07F"/>
            </a:solidFill>
            <a:prstDash val="solid"/>
          </a:ln>
        </p:spPr>
      </p:sp>
      <p:sp>
        <p:nvSpPr>
          <p:cNvPr id="31" name="Text 29"/>
          <p:cNvSpPr txBox="1"/>
          <p:nvPr/>
        </p:nvSpPr>
        <p:spPr>
          <a:xfrm>
            <a:off x="4773168" y="4928616"/>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Accelerators, VCs, licensed partners</a:t>
            </a:r>
            <a:endParaRPr lang="en-US" sz="1350" dirty="0"/>
          </a:p>
        </p:txBody>
      </p:sp>
      <p:sp>
        <p:nvSpPr>
          <p:cNvPr id="32" name="Shape 30"/>
          <p:cNvSpPr/>
          <p:nvPr/>
        </p:nvSpPr>
        <p:spPr>
          <a:xfrm>
            <a:off x="7955280" y="1600200"/>
            <a:ext cx="3749040" cy="4572000"/>
          </a:xfrm>
          <a:prstGeom prst="roundRect">
            <a:avLst>
              <a:gd name="adj" fmla="val 2927"/>
            </a:avLst>
          </a:prstGeom>
          <a:solidFill>
            <a:srgbClr val="172A26"/>
          </a:solidFill>
          <a:ln w="12700">
            <a:solidFill>
              <a:srgbClr val="22A07F"/>
            </a:solidFill>
            <a:prstDash val="solid"/>
          </a:ln>
        </p:spPr>
      </p:sp>
      <p:pic>
        <p:nvPicPr>
          <p:cNvPr id="33" name="Image 0" descr="img/founder-qr.jpg">    </p:cNvPr>
          <p:cNvPicPr>
            <a:picLocks noChangeAspect="1"/>
          </p:cNvPicPr>
          <p:nvPr/>
        </p:nvPicPr>
        <p:blipFill>
          <a:blip r:embed="rId1"/>
          <a:stretch>
            <a:fillRect/>
          </a:stretch>
        </p:blipFill>
        <p:spPr>
          <a:xfrm>
            <a:off x="8092440" y="1737360"/>
            <a:ext cx="2514600" cy="2141339"/>
          </a:xfrm>
          <a:prstGeom prst="rect">
            <a:avLst/>
          </a:prstGeom>
        </p:spPr>
      </p:pic>
      <p:sp>
        <p:nvSpPr>
          <p:cNvPr id="34" name="Text 31"/>
          <p:cNvSpPr txBox="1"/>
          <p:nvPr/>
        </p:nvSpPr>
        <p:spPr>
          <a:xfrm>
            <a:off x="8092440" y="3915275"/>
            <a:ext cx="2514600" cy="256032"/>
          </a:xfrm>
          <a:prstGeom prst="rect">
            <a:avLst/>
          </a:prstGeom>
          <a:noFill/>
          <a:ln/>
        </p:spPr>
        <p:txBody>
          <a:bodyPr wrap="square" lIns="0" tIns="0" rIns="0" bIns="0" rtlCol="0" anchor="ctr"/>
          <a:lstStyle/>
          <a:p>
            <a:pPr algn="ctr" indent="0" marL="0">
              <a:buNone/>
            </a:pPr>
            <a:r>
              <a:rPr lang="en-US" sz="1100" b="1" dirty="0">
                <a:solidFill>
                  <a:srgbClr val="F2F7F5"/>
                </a:solidFill>
                <a:latin typeface="Calibri" pitchFamily="34" charset="0"/>
                <a:ea typeface="Calibri" pitchFamily="34" charset="-122"/>
                <a:cs typeface="Calibri" pitchFamily="34" charset="-120"/>
              </a:rPr>
              <a:t>Connect with the founder</a:t>
            </a:r>
            <a:endParaRPr lang="en-US" sz="1100" dirty="0"/>
          </a:p>
        </p:txBody>
      </p:sp>
      <p:pic>
        <p:nvPicPr>
          <p:cNvPr id="35" name="Image 1" descr="preencoded.png">    </p:cNvPr>
          <p:cNvPicPr>
            <a:picLocks noChangeAspect="1"/>
          </p:cNvPicPr>
          <p:nvPr/>
        </p:nvPicPr>
        <p:blipFill>
          <a:blip r:embed="rId2"/>
          <a:stretch>
            <a:fillRect/>
          </a:stretch>
        </p:blipFill>
        <p:spPr>
          <a:xfrm>
            <a:off x="10716768" y="1783080"/>
            <a:ext cx="868680" cy="868680"/>
          </a:xfrm>
          <a:prstGeom prst="rect">
            <a:avLst/>
          </a:prstGeom>
        </p:spPr>
      </p:pic>
      <p:sp>
        <p:nvSpPr>
          <p:cNvPr id="36" name="Text 32"/>
          <p:cNvSpPr txBox="1"/>
          <p:nvPr/>
        </p:nvSpPr>
        <p:spPr>
          <a:xfrm>
            <a:off x="10625328" y="2679192"/>
            <a:ext cx="1051560" cy="237744"/>
          </a:xfrm>
          <a:prstGeom prst="rect">
            <a:avLst/>
          </a:prstGeom>
          <a:noFill/>
          <a:ln/>
        </p:spPr>
        <p:txBody>
          <a:bodyPr wrap="square" lIns="0" tIns="0" rIns="0" bIns="0" rtlCol="0" anchor="ctr"/>
          <a:lstStyle/>
          <a:p>
            <a:pPr algn="ctr" indent="0" marL="0">
              <a:buNone/>
            </a:pPr>
            <a:r>
              <a:rPr lang="en-US" sz="1050" b="1" dirty="0">
                <a:solidFill>
                  <a:srgbClr val="F2F7F5"/>
                </a:solidFill>
                <a:latin typeface="Calibri" pitchFamily="34" charset="0"/>
                <a:ea typeface="Calibri" pitchFamily="34" charset="-122"/>
                <a:cs typeface="Calibri" pitchFamily="34" charset="-120"/>
              </a:rPr>
              <a:t>Try it now</a:t>
            </a:r>
            <a:endParaRPr lang="en-US" sz="1050" dirty="0"/>
          </a:p>
        </p:txBody>
      </p:sp>
      <p:sp>
        <p:nvSpPr>
          <p:cNvPr id="37" name="Text 33"/>
          <p:cNvSpPr txBox="1"/>
          <p:nvPr/>
        </p:nvSpPr>
        <p:spPr>
          <a:xfrm>
            <a:off x="10625328" y="2898648"/>
            <a:ext cx="1051560" cy="219456"/>
          </a:xfrm>
          <a:prstGeom prst="rect">
            <a:avLst/>
          </a:prstGeom>
          <a:noFill/>
          <a:ln/>
        </p:spPr>
        <p:txBody>
          <a:bodyPr wrap="square" lIns="0" tIns="0" rIns="0" bIns="0" rtlCol="0" anchor="ctr"/>
          <a:lstStyle/>
          <a:p>
            <a:pPr algn="ctr" indent="0" marL="0">
              <a:buNone/>
            </a:pPr>
            <a:r>
              <a:rPr lang="en-US" sz="900" dirty="0">
                <a:solidFill>
                  <a:srgbClr val="22A07F"/>
                </a:solidFill>
                <a:latin typeface="Calibri" pitchFamily="34" charset="0"/>
                <a:ea typeface="Calibri" pitchFamily="34" charset="-122"/>
                <a:cs typeface="Calibri" pitchFamily="34" charset="-120"/>
              </a:rPr>
              <a:t>eth.blockid.au</a:t>
            </a:r>
            <a:endParaRPr lang="en-US" sz="900" dirty="0"/>
          </a:p>
        </p:txBody>
      </p:sp>
      <p:sp>
        <p:nvSpPr>
          <p:cNvPr id="38" name="Text 34"/>
          <p:cNvSpPr txBox="1"/>
          <p:nvPr/>
        </p:nvSpPr>
        <p:spPr>
          <a:xfrm>
            <a:off x="8183880" y="4315968"/>
            <a:ext cx="3291840" cy="320040"/>
          </a:xfrm>
          <a:prstGeom prst="rect">
            <a:avLst/>
          </a:prstGeom>
          <a:noFill/>
          <a:ln/>
        </p:spPr>
        <p:txBody>
          <a:bodyPr wrap="square" lIns="0" tIns="0" rIns="0" bIns="0" rtlCol="0" anchor="ctr"/>
          <a:lstStyle/>
          <a:p>
            <a:pPr indent="0" marL="0">
              <a:buNone/>
            </a:pPr>
            <a:r>
              <a:rPr lang="en-US" sz="1600" b="1" dirty="0">
                <a:solidFill>
                  <a:srgbClr val="7FE0C2"/>
                </a:solidFill>
                <a:latin typeface="Arial" pitchFamily="34" charset="0"/>
                <a:ea typeface="Arial" pitchFamily="34" charset="-122"/>
                <a:cs typeface="Arial" pitchFamily="34" charset="-120"/>
              </a:rPr>
              <a:t>We're looking for</a:t>
            </a:r>
            <a:endParaRPr lang="en-US" sz="1600" dirty="0"/>
          </a:p>
        </p:txBody>
      </p:sp>
      <p:sp>
        <p:nvSpPr>
          <p:cNvPr id="39" name="Text 35"/>
          <p:cNvSpPr txBox="1"/>
          <p:nvPr/>
        </p:nvSpPr>
        <p:spPr>
          <a:xfrm>
            <a:off x="8183880" y="4636008"/>
            <a:ext cx="3291840" cy="64008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Pilot businesses · investor communities · licensed partners</a:t>
            </a:r>
            <a:endParaRPr lang="en-US" sz="1350" dirty="0"/>
          </a:p>
        </p:txBody>
      </p:sp>
      <p:sp>
        <p:nvSpPr>
          <p:cNvPr id="40" name="Text 36"/>
          <p:cNvSpPr txBox="1"/>
          <p:nvPr/>
        </p:nvSpPr>
        <p:spPr>
          <a:xfrm>
            <a:off x="8183880" y="5349240"/>
            <a:ext cx="3291840" cy="320040"/>
          </a:xfrm>
          <a:prstGeom prst="rect">
            <a:avLst/>
          </a:prstGeom>
          <a:noFill/>
          <a:ln/>
        </p:spPr>
        <p:txBody>
          <a:bodyPr wrap="square" lIns="0" tIns="0" rIns="0" bIns="0" rtlCol="0" anchor="ctr"/>
          <a:lstStyle/>
          <a:p>
            <a:pPr indent="0" marL="0">
              <a:buNone/>
            </a:pPr>
            <a:r>
              <a:rPr lang="en-US" sz="1300" dirty="0">
                <a:solidFill>
                  <a:srgbClr val="A9BDB7"/>
                </a:solidFill>
                <a:latin typeface="Calibri" pitchFamily="34" charset="0"/>
                <a:ea typeface="Calibri" pitchFamily="34" charset="-122"/>
                <a:cs typeface="Calibri" pitchFamily="34" charset="-120"/>
              </a:rPr>
              <a:t>Long Do · info@blockid.au</a:t>
            </a:r>
            <a:endParaRPr lang="en-US" sz="1300" dirty="0"/>
          </a:p>
        </p:txBody>
      </p:sp>
      <p:sp>
        <p:nvSpPr>
          <p:cNvPr id="41" name="Text 37"/>
          <p:cNvSpPr txBox="1"/>
          <p:nvPr/>
        </p:nvSpPr>
        <p:spPr>
          <a:xfrm>
            <a:off x="8183880" y="5641848"/>
            <a:ext cx="3291840" cy="320040"/>
          </a:xfrm>
          <a:prstGeom prst="rect">
            <a:avLst/>
          </a:prstGeom>
          <a:noFill/>
          <a:ln/>
        </p:spPr>
        <p:txBody>
          <a:bodyPr wrap="square" lIns="0" tIns="0" rIns="0" bIns="0" rtlCol="0" anchor="ctr"/>
          <a:lstStyle/>
          <a:p>
            <a:pPr indent="0" marL="0">
              <a:buNone/>
            </a:pPr>
            <a:r>
              <a:rPr lang="en-US" sz="1150" dirty="0">
                <a:solidFill>
                  <a:srgbClr val="7E948F"/>
                </a:solidFill>
                <a:latin typeface="Calibri" pitchFamily="34" charset="0"/>
                <a:ea typeface="Calibri" pitchFamily="34" charset="-122"/>
                <a:cs typeface="Calibri" pitchFamily="34" charset="-120"/>
              </a:rPr>
              <a:t>linkedin.com/in/dovanlong</a:t>
            </a:r>
            <a:endParaRPr lang="en-US" sz="1150" dirty="0"/>
          </a:p>
        </p:txBody>
      </p:sp>
      <p:sp>
        <p:nvSpPr>
          <p:cNvPr id="42" name="Text 38"/>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BlockID Business Passport — 3-minute pitch</dc:title>
  <dc:subject>PptxGenJS Presentation</dc:subject>
  <dc:creator>Long Do — Auschain Pty Ltd</dc:creator>
  <cp:lastModifiedBy>Long Do — Auschain Pty Ltd</cp:lastModifiedBy>
  <cp:revision>1</cp:revision>
  <dcterms:created xsi:type="dcterms:W3CDTF">2026-09-27T05:46:02Z</dcterms:created>
  <dcterms:modified xsi:type="dcterms:W3CDTF">2026-09-27T05:46:02Z</dcterms:modified>
</cp:coreProperties>
</file>