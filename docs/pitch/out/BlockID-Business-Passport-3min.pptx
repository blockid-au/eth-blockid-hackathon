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 trillion</c:v>
                </c:pt>
              </c:strCache>
            </c:strRef>
          </c:tx>
          <c:spPr>
            <a:solidFill>
              <a:srgbClr val="22A07F"/>
            </a:solidFill>
            <a:effectLst/>
          </c:spPr>
          <c:invertIfNegative val="0"/>
          <c:dLbls>
            <c:numFmt formatCode="&quot;$&quot;0.0#&quot;T&quot;" sourceLinked="0"/>
            <c:txPr>
              <a:bodyPr/>
              <a:lstStyle/>
              <a:p>
                <a:pPr>
                  <a:defRPr b="1" i="0" strike="noStrike" sz="1200" u="none">
                    <a:solidFill>
                      <a:srgbClr val="F2F7F5"/>
                    </a:solidFill>
                    <a:latin typeface="Arial"/>
                  </a:defRPr>
                </a:pPr>
              </a:p>
            </c:txPr>
            <c:showLegendKey val="0"/>
            <c:showVal val="1"/>
            <c:showCatName val="0"/>
            <c:showSerName val="0"/>
            <c:showPercent val="0"/>
            <c:showBubbleSize val="0"/>
            <c:showLeaderLines val="0"/>
          </c:dLbls>
          <c:cat>
            <c:multiLvlStrRef>
              <c:f>Sheet1!$A$2:$A$5</c:f>
              <c:multiLvlStrCache>
                <c:ptCount val="4"/>
                <c:lvl>
                  <c:pt idx="0">
                    <c:v>Global venture capital invested, 2025</c:v>
                  </c:pt>
                  <c:pt idx="1">
                    <c:v>Company equity tracked on Carta today</c:v>
                  </c:pt>
                  <c:pt idx="2">
                    <c:v>Tokenised assets by 2030 (base case)</c:v>
                  </c:pt>
                  <c:pt idx="3">
                    <c:v>Alternative assets under management, 2030</c:v>
                  </c:pt>
                </c:lvl>
              </c:multiLvlStrCache>
            </c:multiLvlStrRef>
          </c:cat>
          <c:val>
            <c:numRef>
              <c:f>Sheet1!$B$2:$B$5</c:f>
              <c:numCache>
                <c:formatCode>General</c:formatCode>
                <c:ptCount val="4"/>
                <c:pt idx="0">
                  <c:v>0.43</c:v>
                </c:pt>
                <c:pt idx="1">
                  <c:v>4.5</c:v>
                </c:pt>
                <c:pt idx="2">
                  <c:v>5.5</c:v>
                </c:pt>
                <c:pt idx="3">
                  <c:v>32</c:v>
                </c:pt>
              </c:numCache>
            </c:numRef>
          </c:val>
        </c:ser>
        <c:dLbls>
          <c:numFmt formatCode="&quot;$&quot;0.0#&quot;T&quot;" sourceLinked="0"/>
          <c:txPr>
            <a:bodyPr/>
            <a:lstStyle/>
            <a:p>
              <a:pPr>
                <a:defRPr b="1" i="0" strike="noStrike" sz="1200" u="none">
                  <a:solidFill>
                    <a:srgbClr val="F2F7F5"/>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A9BDB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201D"/>
        </a:solidFill>
        <a:ln>
          <a:noFill/>
        </a:ln>
        <a:effectLst/>
      </c:spPr>
    </c:plotArea>
    <c:plotVisOnly val="1"/>
    <c:dispBlanksAs val="span"/>
  </c:chart>
  <c:spPr>
    <a:solidFill>
      <a:srgbClr val="12201D"/>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of NAV</c:v>
                </c:pt>
              </c:strCache>
            </c:strRef>
          </c:tx>
          <c:spPr>
            <a:solidFill>
              <a:srgbClr val="22A07F"/>
            </a:solidFill>
            <a:effectLst/>
          </c:spPr>
          <c:invertIfNegative val="0"/>
          <c:dLbls>
            <c:numFmt formatCode="0&quot;%&quot;" sourceLinked="0"/>
            <c:txPr>
              <a:bodyPr/>
              <a:lstStyle/>
              <a:p>
                <a:pPr>
                  <a:defRPr b="1" i="0" strike="noStrike" sz="1200" u="none">
                    <a:solidFill>
                      <a:srgbClr val="F2F7F5"/>
                    </a:solidFill>
                    <a:latin typeface="Arial"/>
                  </a:defRPr>
                </a:pPr>
              </a:p>
            </c:txPr>
            <c:showLegendKey val="0"/>
            <c:showVal val="1"/>
            <c:showCatName val="0"/>
            <c:showSerName val="0"/>
            <c:showPercent val="0"/>
            <c:showBubbleSize val="0"/>
            <c:showLeaderLines val="0"/>
          </c:dLbls>
          <c:cat>
            <c:multiLvlStrRef>
              <c:f>Sheet1!$A$2:$A$3</c:f>
              <c:multiLvlStrCache>
                <c:ptCount val="2"/>
                <c:lvl>
                  <c:pt idx="0">
                    <c:v>2014–17 average</c:v>
                  </c:pt>
                  <c:pt idx="1">
                    <c:v>2024</c:v>
                  </c:pt>
                </c:lvl>
              </c:multiLvlStrCache>
            </c:multiLvlStrRef>
          </c:cat>
          <c:val>
            <c:numRef>
              <c:f>Sheet1!$B$2:$B$3</c:f>
              <c:numCache>
                <c:formatCode>General</c:formatCode>
                <c:ptCount val="2"/>
                <c:pt idx="0">
                  <c:v>29</c:v>
                </c:pt>
                <c:pt idx="1">
                  <c:v>11</c:v>
                </c:pt>
              </c:numCache>
            </c:numRef>
          </c:val>
        </c:ser>
        <c:dLbls>
          <c:numFmt formatCode="0&quot;%&quot;" sourceLinked="0"/>
          <c:txPr>
            <a:bodyPr/>
            <a:lstStyle/>
            <a:p>
              <a:pPr>
                <a:defRPr b="1" i="0" strike="noStrike" sz="1200" u="none">
                  <a:solidFill>
                    <a:srgbClr val="F2F7F5"/>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9BDB7"/>
                </a:solidFill>
                <a:latin typeface="Calibri"/>
              </a:defRPr>
            </a:pPr>
            <a:endParaRPr lang="en-US"/>
          </a:p>
        </c:txPr>
        <c:crossAx val="2094734552"/>
        <c:crosses val="autoZero"/>
        <c:auto val="1"/>
        <c:lblAlgn val="ctr"/>
        <c:noMultiLvlLbl val="1"/>
      </c:catAx>
      <c:valAx>
        <c:axId val="2094734552"/>
        <c:scaling>
          <c:orientation val="minMax"/>
          <c:max val="35"/>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201D"/>
        </a:solidFill>
        <a:ln>
          <a:noFill/>
        </a:ln>
        <a:effectLst/>
      </c:spPr>
    </c:plotArea>
    <c:plotVisOnly val="1"/>
    <c:dispBlanksAs val="span"/>
  </c:chart>
  <c:spPr>
    <a:solidFill>
      <a:srgbClr val="12201D"/>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 billion</c:v>
                </c:pt>
              </c:strCache>
            </c:strRef>
          </c:tx>
          <c:spPr>
            <a:solidFill>
              <a:srgbClr val="22A07F"/>
            </a:solidFill>
            <a:effectLst/>
          </c:spPr>
          <c:invertIfNegative val="0"/>
          <c:dLbls>
            <c:numFmt formatCode="&quot;$&quot;0.0&quot;B&quot;" sourceLinked="0"/>
            <c:txPr>
              <a:bodyPr/>
              <a:lstStyle/>
              <a:p>
                <a:pPr>
                  <a:defRPr b="1" i="0" strike="noStrike" sz="1200" u="none">
                    <a:solidFill>
                      <a:srgbClr val="F2F7F5"/>
                    </a:solidFill>
                    <a:latin typeface="Arial"/>
                  </a:defRPr>
                </a:pPr>
              </a:p>
            </c:txPr>
            <c:showLegendKey val="0"/>
            <c:showVal val="1"/>
            <c:showCatName val="0"/>
            <c:showSerName val="0"/>
            <c:showPercent val="0"/>
            <c:showBubbleSize val="0"/>
            <c:showLeaderLines val="0"/>
          </c:dLbls>
          <c:cat>
            <c:multiLvlStrRef>
              <c:f>Sheet1!$A$2:$A$6</c:f>
              <c:multiLvlStrCache>
                <c:ptCount val="5"/>
                <c:lvl>
                  <c:pt idx="0">
                    <c:v>Mar 2025</c:v>
                  </c:pt>
                  <c:pt idx="1">
                    <c:v>Jan 2026</c:v>
                  </c:pt>
                  <c:pt idx="2">
                    <c:v>Mar 2026</c:v>
                  </c:pt>
                  <c:pt idx="3">
                    <c:v>May 2026</c:v>
                  </c:pt>
                  <c:pt idx="4">
                    <c:v>Oct 2026</c:v>
                  </c:pt>
                </c:lvl>
              </c:multiLvlStrCache>
            </c:multiLvlStrRef>
          </c:cat>
          <c:val>
            <c:numRef>
              <c:f>Sheet1!$B$2:$B$6</c:f>
              <c:numCache>
                <c:formatCode>General</c:formatCode>
                <c:ptCount val="5"/>
                <c:pt idx="0">
                  <c:v>6.6</c:v>
                </c:pt>
                <c:pt idx="1">
                  <c:v>21</c:v>
                </c:pt>
                <c:pt idx="2">
                  <c:v>26.4</c:v>
                </c:pt>
                <c:pt idx="3">
                  <c:v>31.4</c:v>
                </c:pt>
                <c:pt idx="4">
                  <c:v>38.7</c:v>
                </c:pt>
              </c:numCache>
            </c:numRef>
          </c:val>
        </c:ser>
        <c:dLbls>
          <c:numFmt formatCode="&quot;$&quot;0.0&quot;B&quot;" sourceLinked="0"/>
          <c:txPr>
            <a:bodyPr/>
            <a:lstStyle/>
            <a:p>
              <a:pPr>
                <a:defRPr b="1" i="0" strike="noStrike" sz="1200" u="none">
                  <a:solidFill>
                    <a:srgbClr val="F2F7F5"/>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9BDB7"/>
                </a:solidFill>
                <a:latin typeface="Calibri"/>
              </a:defRPr>
            </a:pPr>
            <a:endParaRPr lang="en-US"/>
          </a:p>
        </c:txPr>
        <c:crossAx val="2094734552"/>
        <c:crosses val="autoZero"/>
        <c:auto val="1"/>
        <c:lblAlgn val="ctr"/>
        <c:noMultiLvlLbl val="1"/>
      </c:catAx>
      <c:valAx>
        <c:axId val="2094734552"/>
        <c:scaling>
          <c:orientation val="minMax"/>
          <c:max val="45"/>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201D"/>
        </a:solidFill>
        <a:ln>
          <a:noFill/>
        </a:ln>
        <a:effectLst/>
      </c:spPr>
    </c:plotArea>
    <c:plotVisOnly val="1"/>
    <c:dispBlanksAs val="span"/>
  </c:chart>
  <c:spPr>
    <a:solidFill>
      <a:srgbClr val="12201D"/>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[0:00–0:12] Know the business you invest in. BlockID Business Passport gives every shareholder, large or small, a live view of the business they own: checked updates and valuations, a share register on blockchain as proof of ownership, and dividends paid straight to their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[0:12–0:24] Today investors lose sight of a business the day they invest. The numbers are hard to trust, ownership sits in a spreadsheet, so a stake can shrink without notice, and dividends are slow or never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[0:24–0:42] The need is large. Alternative assets are heading to thirty-two trillion dollars by 2030 (Preqin), and venture investors put in four hundred and twenty-five billion in 2025 (Crunchbase). Yet in 2024 private equity paid back just eleven percent of its value, a ten-year low (Bain). Australia has 2.8 million businesses and Vietnam over a million, and individuals hold half of global wealth but only sixteen percent of alternatives. Investors need trusted values, regular updates and dividends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[0:42–0:52] So we built one passport per business. Every investor can understand it, follow it, own it, get paid, and check it for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[0:52–1:05] Understand it. Paste a website and get a plain report in minutes: a grade from A to E and a low, mid and high value. AI agents do the research but hold no keys; every figure links to its source, and a person approves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[1:05–1:15] Own it. Every holder and share count sits in one share register on blockchain, copied to Ethereum and HashKey Chain. New shares need a person's approval, and investors see the dilution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[1:15–1:27] Follow it and get paid. The business shares its numbers on a schedule; a person approves the update and every investor gets it at the same time. Dividends go to every wallet, with no fees for 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[1:27–1:37] Check it. Don't trust us. Your browser hashes the report and compares it with three blockchains. Change one number and it turns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[1:37–1:57] What does each side get? Investors get a checked value, the same update at the same time, proof of ownership and dividends on time. In return the business keeps a live share register, which Australian and Vietnamese law already require, reports on schedule (ASIC RG 261 for crowd-funded companies), and gets a person to approve every new share and dividend. With A$838 million lost to investment scams in Australia in 2025, checkable records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[1:57–2:15] This also prepares for tokenised assets. Tokenised real-world assets on-chain grew from about seven to thirty-nine billion dollars in nineteen months (rwa.xyz), and Citi expects five and a half trillion by 2030. New rules in Europe, Vietnam and Australia require proper custody. In BlockID, keys sit only in an isolated issuer, every holder is verified, every record is anchored on three chains, and a licensed custodian can plug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[2:15–2:30] Under the hood, only approved actions reach the chain. AI runs with no keys, an admin wallet signs one approval, and only then does the isolated issuer act. Our AgentProvenance contract on HashKey Chain records who proposed and who approved. Agents propose. Humans approve. Chains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[2:30–2:45] Who builds it? Founder Do Van Long and co-founder Truong Quoc Tuan are both former CTOs of major Vietnamese corporations and hold Australia's Global Talent visa. A strong tech team in Vietnam and a business team in Sydney built this whole system in house, ready to grow globally.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[2:45–3:00] The whole flow works on testnet today: fourteen sample listings and forty-two token contracts on three chains, with no real users yet. Next: pilot businesses in Australia and Vietnam, investor communities and licensed custody partners. Businesses pay a listing fee, a register subscription and small transfer and dividend fees. Try it at eth.blockid.au.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3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365760"/>
            <a:ext cx="822960" cy="822960"/>
          </a:xfrm>
          <a:prstGeom prst="rect">
            <a:avLst/>
          </a:prstGeom>
        </p:spPr>
      </p:pic>
      <p:sp>
        <p:nvSpPr>
          <p:cNvPr id="3" name="Text 0"/>
          <p:cNvSpPr txBox="1"/>
          <p:nvPr/>
        </p:nvSpPr>
        <p:spPr>
          <a:xfrm>
            <a:off x="1371600" y="548640"/>
            <a:ext cx="5486400" cy="457200"/>
          </a:xfrm>
          <a:prstGeom prst="rect">
            <a:avLst/>
          </a:prstGeom>
          <a:noFill/>
          <a:ln/>
        </p:spPr>
        <p:txBody>
          <a:bodyPr wrap="square" lIns="0" tIns="0" rIns="0" bIns="0" rtlCol="0" anchor="ctr"/>
          <a:lstStyle/>
          <a:p>
            <a:pPr indent="0" marL="0">
              <a:buNone/>
            </a:pPr>
            <a:r>
              <a:rPr lang="en-US" sz="2000" b="1" dirty="0">
                <a:solidFill>
                  <a:srgbClr val="F2F7F5"/>
                </a:solidFill>
                <a:latin typeface="Arial" pitchFamily="34" charset="0"/>
                <a:ea typeface="Arial" pitchFamily="34" charset="-122"/>
                <a:cs typeface="Arial" pitchFamily="34" charset="-120"/>
              </a:rPr>
              <a:t>BlockID Business Passport</a:t>
            </a:r>
            <a:endParaRPr lang="en-US" sz="2000" dirty="0"/>
          </a:p>
        </p:txBody>
      </p:sp>
      <p:sp>
        <p:nvSpPr>
          <p:cNvPr id="4" name="Text 1"/>
          <p:cNvSpPr txBox="1"/>
          <p:nvPr/>
        </p:nvSpPr>
        <p:spPr>
          <a:xfrm>
            <a:off x="502920" y="1600200"/>
            <a:ext cx="5669280" cy="1737360"/>
          </a:xfrm>
          <a:prstGeom prst="rect">
            <a:avLst/>
          </a:prstGeom>
          <a:noFill/>
          <a:ln/>
        </p:spPr>
        <p:txBody>
          <a:bodyPr wrap="square" lIns="0" tIns="0" rIns="0" bIns="0" rtlCol="0" anchor="ctr"/>
          <a:lstStyle/>
          <a:p>
            <a:pPr indent="0" marL="0">
              <a:buNone/>
            </a:pPr>
            <a:r>
              <a:rPr lang="en-US" sz="4600" b="1" dirty="0">
                <a:solidFill>
                  <a:srgbClr val="F2F7F5"/>
                </a:solidFill>
                <a:latin typeface="Arial" pitchFamily="34" charset="0"/>
                <a:ea typeface="Arial" pitchFamily="34" charset="-122"/>
                <a:cs typeface="Arial" pitchFamily="34" charset="-120"/>
              </a:rPr>
              <a:t>Know the business</a:t>
            </a:r>
            <a:endParaRPr lang="en-US" sz="4600" dirty="0"/>
          </a:p>
          <a:p>
            <a:pPr indent="0" marL="0">
              <a:buNone/>
            </a:pPr>
            <a:r>
              <a:rPr lang="en-US" sz="4600" b="1" dirty="0">
                <a:solidFill>
                  <a:srgbClr val="7FE0C2"/>
                </a:solidFill>
                <a:latin typeface="Arial" pitchFamily="34" charset="0"/>
                <a:ea typeface="Arial" pitchFamily="34" charset="-122"/>
                <a:cs typeface="Arial" pitchFamily="34" charset="-120"/>
              </a:rPr>
              <a:t>you invest in.</a:t>
            </a:r>
            <a:endParaRPr lang="en-US" sz="4600" dirty="0"/>
          </a:p>
        </p:txBody>
      </p:sp>
      <p:sp>
        <p:nvSpPr>
          <p:cNvPr id="5" name="Text 2"/>
          <p:cNvSpPr txBox="1"/>
          <p:nvPr/>
        </p:nvSpPr>
        <p:spPr>
          <a:xfrm>
            <a:off x="502920" y="3520440"/>
            <a:ext cx="5394960" cy="1737360"/>
          </a:xfrm>
          <a:prstGeom prst="rect">
            <a:avLst/>
          </a:prstGeom>
          <a:noFill/>
          <a:ln/>
        </p:spPr>
        <p:txBody>
          <a:bodyPr wrap="square" lIns="0" tIns="0" rIns="0" bIns="0" rtlCol="0" anchor="t"/>
          <a:lstStyle/>
          <a:p>
            <a:pPr indent="0" marL="0">
              <a:buNone/>
            </a:pPr>
            <a:r>
              <a:rPr lang="en-US" sz="1700" dirty="0">
                <a:solidFill>
                  <a:srgbClr val="A9BDB7"/>
                </a:solidFill>
                <a:latin typeface="Calibri" pitchFamily="34" charset="0"/>
                <a:ea typeface="Calibri" pitchFamily="34" charset="-122"/>
                <a:cs typeface="Calibri" pitchFamily="34" charset="-120"/>
              </a:rPr>
              <a:t>BlockID Business Passport gives every shareholder, large or small, a live view of the business they own: AI-analysed, human-approved updates and valuations, an on-chain share register as proof of ownership, and dividends paid straight to their wallet.</a:t>
            </a:r>
            <a:endParaRPr lang="en-US" sz="1700" dirty="0"/>
          </a:p>
        </p:txBody>
      </p:sp>
      <p:sp>
        <p:nvSpPr>
          <p:cNvPr id="6" name="Shape 3"/>
          <p:cNvSpPr/>
          <p:nvPr/>
        </p:nvSpPr>
        <p:spPr>
          <a:xfrm>
            <a:off x="502920" y="5440680"/>
            <a:ext cx="5394960" cy="548640"/>
          </a:xfrm>
          <a:prstGeom prst="roundRect">
            <a:avLst>
              <a:gd name="adj" fmla="val 20000"/>
            </a:avLst>
          </a:prstGeom>
          <a:solidFill>
            <a:srgbClr val="172A26"/>
          </a:solidFill>
          <a:ln w="12700">
            <a:solidFill>
              <a:srgbClr val="22A07F"/>
            </a:solidFill>
            <a:prstDash val="solid"/>
          </a:ln>
        </p:spPr>
      </p:sp>
      <p:sp>
        <p:nvSpPr>
          <p:cNvPr id="7" name="Text 4"/>
          <p:cNvSpPr txBox="1"/>
          <p:nvPr/>
        </p:nvSpPr>
        <p:spPr>
          <a:xfrm>
            <a:off x="502920" y="5440680"/>
            <a:ext cx="5394960" cy="548640"/>
          </a:xfrm>
          <a:prstGeom prst="rect">
            <a:avLst/>
          </a:prstGeom>
          <a:noFill/>
          <a:ln/>
        </p:spPr>
        <p:txBody>
          <a:bodyPr wrap="square" lIns="0" tIns="0" rIns="0" bIns="0" rtlCol="0" anchor="ctr"/>
          <a:lstStyle/>
          <a:p>
            <a:pPr algn="ctr" indent="0" marL="0">
              <a:buNone/>
            </a:pPr>
            <a:r>
              <a:rPr lang="en-US" sz="1500" b="1" dirty="0">
                <a:solidFill>
                  <a:srgbClr val="7FE0C2"/>
                </a:solidFill>
                <a:latin typeface="Calibri" pitchFamily="34" charset="0"/>
                <a:ea typeface="Calibri" pitchFamily="34" charset="-122"/>
                <a:cs typeface="Calibri" pitchFamily="34" charset="-120"/>
              </a:rPr>
              <a:t>Understand it  ·  Follow it  ·  Own it  ·  Get paid  ·  Check it</a:t>
            </a:r>
            <a:endParaRPr lang="en-US" sz="1500" dirty="0"/>
          </a:p>
        </p:txBody>
      </p:sp>
      <p:sp>
        <p:nvSpPr>
          <p:cNvPr id="8" name="Shape 5"/>
          <p:cNvSpPr/>
          <p:nvPr/>
        </p:nvSpPr>
        <p:spPr>
          <a:xfrm>
            <a:off x="6227064" y="1335024"/>
            <a:ext cx="5330952" cy="3633597"/>
          </a:xfrm>
          <a:prstGeom prst="roundRect">
            <a:avLst>
              <a:gd name="adj" fmla="val 1762"/>
            </a:avLst>
          </a:prstGeom>
          <a:solidFill>
            <a:srgbClr val="D9DFDD"/>
          </a:solidFill>
          <a:ln w="12700">
            <a:solidFill>
              <a:srgbClr val="D9DFDD"/>
            </a:solidFill>
            <a:prstDash val="solid"/>
          </a:ln>
          <a:effectLst>
            <a:outerShdw sx="100000" sy="100000" kx="0" ky="0" algn="bl" rotWithShape="0" blurRad="203200" dist="76200" dir="5400000">
              <a:srgbClr val="000000">
                <a:alpha val="55000"/>
              </a:srgbClr>
            </a:outerShdw>
          </a:effectLst>
        </p:spPr>
      </p:sp>
      <p:sp>
        <p:nvSpPr>
          <p:cNvPr id="9" name="Shape 6"/>
          <p:cNvSpPr/>
          <p:nvPr/>
        </p:nvSpPr>
        <p:spPr>
          <a:xfrm>
            <a:off x="6263640" y="1371600"/>
            <a:ext cx="5257800" cy="274320"/>
          </a:xfrm>
          <a:prstGeom prst="rect">
            <a:avLst/>
          </a:prstGeom>
          <a:solidFill>
            <a:srgbClr val="ECEFEE"/>
          </a:solidFill>
          <a:ln w="12700">
            <a:solidFill>
              <a:srgbClr val="ECEFEE"/>
            </a:solidFill>
            <a:prstDash val="solid"/>
          </a:ln>
        </p:spPr>
      </p:sp>
      <p:sp>
        <p:nvSpPr>
          <p:cNvPr id="10" name="Shape 7"/>
          <p:cNvSpPr/>
          <p:nvPr/>
        </p:nvSpPr>
        <p:spPr>
          <a:xfrm>
            <a:off x="6373368" y="1458468"/>
            <a:ext cx="100584" cy="100584"/>
          </a:xfrm>
          <a:prstGeom prst="ellipse">
            <a:avLst/>
          </a:prstGeom>
          <a:solidFill>
            <a:srgbClr val="FF5F57"/>
          </a:solidFill>
          <a:ln w="12700">
            <a:solidFill>
              <a:srgbClr val="FF5F57"/>
            </a:solidFill>
            <a:prstDash val="solid"/>
          </a:ln>
        </p:spPr>
      </p:sp>
      <p:sp>
        <p:nvSpPr>
          <p:cNvPr id="11" name="Shape 8"/>
          <p:cNvSpPr/>
          <p:nvPr/>
        </p:nvSpPr>
        <p:spPr>
          <a:xfrm>
            <a:off x="6528816" y="1458468"/>
            <a:ext cx="100584" cy="100584"/>
          </a:xfrm>
          <a:prstGeom prst="ellipse">
            <a:avLst/>
          </a:prstGeom>
          <a:solidFill>
            <a:srgbClr val="FEBC2E"/>
          </a:solidFill>
          <a:ln w="12700">
            <a:solidFill>
              <a:srgbClr val="FEBC2E"/>
            </a:solidFill>
            <a:prstDash val="solid"/>
          </a:ln>
        </p:spPr>
      </p:sp>
      <p:sp>
        <p:nvSpPr>
          <p:cNvPr id="12" name="Shape 9"/>
          <p:cNvSpPr/>
          <p:nvPr/>
        </p:nvSpPr>
        <p:spPr>
          <a:xfrm>
            <a:off x="6684264" y="1458468"/>
            <a:ext cx="100584" cy="100584"/>
          </a:xfrm>
          <a:prstGeom prst="ellipse">
            <a:avLst/>
          </a:prstGeom>
          <a:solidFill>
            <a:srgbClr val="28C840"/>
          </a:solidFill>
          <a:ln w="12700">
            <a:solidFill>
              <a:srgbClr val="28C840"/>
            </a:solidFill>
            <a:prstDash val="solid"/>
          </a:ln>
        </p:spPr>
      </p:sp>
      <p:sp>
        <p:nvSpPr>
          <p:cNvPr id="13" name="Shape 10"/>
          <p:cNvSpPr/>
          <p:nvPr/>
        </p:nvSpPr>
        <p:spPr>
          <a:xfrm>
            <a:off x="6903720" y="1417320"/>
            <a:ext cx="3840480" cy="182880"/>
          </a:xfrm>
          <a:prstGeom prst="roundRect">
            <a:avLst>
              <a:gd name="adj" fmla="val 25000"/>
            </a:avLst>
          </a:prstGeom>
          <a:solidFill>
            <a:srgbClr val="FFFFFF"/>
          </a:solidFill>
          <a:ln w="12700">
            <a:solidFill>
              <a:srgbClr val="D9DFDD"/>
            </a:solidFill>
            <a:prstDash val="solid"/>
          </a:ln>
        </p:spPr>
      </p:sp>
      <p:sp>
        <p:nvSpPr>
          <p:cNvPr id="14" name="Text 11"/>
          <p:cNvSpPr txBox="1"/>
          <p:nvPr/>
        </p:nvSpPr>
        <p:spPr>
          <a:xfrm>
            <a:off x="6995160" y="1417320"/>
            <a:ext cx="3657600" cy="182880"/>
          </a:xfrm>
          <a:prstGeom prst="rect">
            <a:avLst/>
          </a:prstGeom>
          <a:noFill/>
          <a:ln/>
        </p:spPr>
        <p:txBody>
          <a:bodyPr wrap="square" lIns="0" tIns="0" rIns="0" bIns="0" rtlCol="0" anchor="ctr"/>
          <a:lstStyle/>
          <a:p>
            <a:pPr indent="0" marL="0">
              <a:buNone/>
            </a:pPr>
            <a:r>
              <a:rPr lang="en-US" sz="850" dirty="0">
                <a:solidFill>
                  <a:srgbClr val="4A5A56"/>
                </a:solidFill>
                <a:latin typeface="Calibri" pitchFamily="34" charset="0"/>
                <a:ea typeface="Calibri" pitchFamily="34" charset="-122"/>
                <a:cs typeface="Calibri" pitchFamily="34" charset="-120"/>
              </a:rPr>
              <a:t>eth.blockid.au/i  ·  demo investor account</a:t>
            </a:r>
            <a:endParaRPr lang="en-US" sz="850" dirty="0"/>
          </a:p>
        </p:txBody>
      </p:sp>
      <p:pic>
        <p:nvPicPr>
          <p:cNvPr id="15" name="Image 1" descr="preencoded.png">    </p:cNvPr>
          <p:cNvPicPr>
            <a:picLocks noChangeAspect="1"/>
          </p:cNvPicPr>
          <p:nvPr/>
        </p:nvPicPr>
        <p:blipFill>
          <a:blip r:embed="rId2"/>
          <a:stretch>
            <a:fillRect/>
          </a:stretch>
        </p:blipFill>
        <p:spPr>
          <a:xfrm>
            <a:off x="6263640" y="1645920"/>
            <a:ext cx="5257800" cy="3286125"/>
          </a:xfrm>
          <a:prstGeom prst="rect">
            <a:avLst/>
          </a:prstGeom>
        </p:spPr>
      </p:pic>
      <p:sp>
        <p:nvSpPr>
          <p:cNvPr id="16" name="Shape 12"/>
          <p:cNvSpPr/>
          <p:nvPr/>
        </p:nvSpPr>
        <p:spPr>
          <a:xfrm>
            <a:off x="6035040" y="5160645"/>
            <a:ext cx="1819656" cy="960120"/>
          </a:xfrm>
          <a:prstGeom prst="roundRect">
            <a:avLst>
              <a:gd name="adj" fmla="val 11429"/>
            </a:avLst>
          </a:prstGeom>
          <a:solidFill>
            <a:srgbClr val="12201D"/>
          </a:solidFill>
          <a:ln w="12700">
            <a:solidFill>
              <a:srgbClr val="25403A"/>
            </a:solidFill>
            <a:prstDash val="solid"/>
          </a:ln>
        </p:spPr>
      </p:sp>
      <p:sp>
        <p:nvSpPr>
          <p:cNvPr id="17" name="Text 13"/>
          <p:cNvSpPr txBox="1"/>
          <p:nvPr/>
        </p:nvSpPr>
        <p:spPr>
          <a:xfrm>
            <a:off x="6172200" y="5233797"/>
            <a:ext cx="1554480" cy="457200"/>
          </a:xfrm>
          <a:prstGeom prst="rect">
            <a:avLst/>
          </a:prstGeom>
          <a:noFill/>
          <a:ln/>
        </p:spPr>
        <p:txBody>
          <a:bodyPr wrap="square" lIns="0" tIns="0" rIns="0" bIns="0" rtlCol="0" anchor="ctr"/>
          <a:lstStyle/>
          <a:p>
            <a:pPr indent="0" marL="0">
              <a:buNone/>
            </a:pPr>
            <a:r>
              <a:rPr lang="en-US" sz="2200" b="1" dirty="0">
                <a:solidFill>
                  <a:srgbClr val="22A07F"/>
                </a:solidFill>
                <a:latin typeface="Arial" pitchFamily="34" charset="0"/>
                <a:ea typeface="Arial" pitchFamily="34" charset="-122"/>
                <a:cs typeface="Arial" pitchFamily="34" charset="-120"/>
              </a:rPr>
              <a:t>14</a:t>
            </a:r>
            <a:endParaRPr lang="en-US" sz="2200" dirty="0"/>
          </a:p>
        </p:txBody>
      </p:sp>
      <p:sp>
        <p:nvSpPr>
          <p:cNvPr id="18" name="Text 14"/>
          <p:cNvSpPr txBox="1"/>
          <p:nvPr/>
        </p:nvSpPr>
        <p:spPr>
          <a:xfrm>
            <a:off x="6172200" y="5690997"/>
            <a:ext cx="1600200" cy="365760"/>
          </a:xfrm>
          <a:prstGeom prst="rect">
            <a:avLst/>
          </a:prstGeom>
          <a:noFill/>
          <a:ln/>
        </p:spPr>
        <p:txBody>
          <a:bodyPr wrap="square" lIns="0" tIns="0" rIns="0" bIns="0" rtlCol="0" anchor="ctr"/>
          <a:lstStyle/>
          <a:p>
            <a:pPr indent="0" marL="0">
              <a:buNone/>
            </a:pPr>
            <a:r>
              <a:rPr lang="en-US" sz="1100" dirty="0">
                <a:solidFill>
                  <a:srgbClr val="A9BDB7"/>
                </a:solidFill>
                <a:latin typeface="Calibri" pitchFamily="34" charset="0"/>
                <a:ea typeface="Calibri" pitchFamily="34" charset="-122"/>
                <a:cs typeface="Calibri" pitchFamily="34" charset="-120"/>
              </a:rPr>
              <a:t>sample listings (demo data)</a:t>
            </a:r>
            <a:endParaRPr lang="en-US" sz="1100" dirty="0"/>
          </a:p>
        </p:txBody>
      </p:sp>
      <p:sp>
        <p:nvSpPr>
          <p:cNvPr id="19" name="Shape 15"/>
          <p:cNvSpPr/>
          <p:nvPr/>
        </p:nvSpPr>
        <p:spPr>
          <a:xfrm>
            <a:off x="7982712" y="5160645"/>
            <a:ext cx="1819656" cy="960120"/>
          </a:xfrm>
          <a:prstGeom prst="roundRect">
            <a:avLst>
              <a:gd name="adj" fmla="val 11429"/>
            </a:avLst>
          </a:prstGeom>
          <a:solidFill>
            <a:srgbClr val="12201D"/>
          </a:solidFill>
          <a:ln w="12700">
            <a:solidFill>
              <a:srgbClr val="25403A"/>
            </a:solidFill>
            <a:prstDash val="solid"/>
          </a:ln>
        </p:spPr>
      </p:sp>
      <p:sp>
        <p:nvSpPr>
          <p:cNvPr id="20" name="Text 16"/>
          <p:cNvSpPr txBox="1"/>
          <p:nvPr/>
        </p:nvSpPr>
        <p:spPr>
          <a:xfrm>
            <a:off x="8119872" y="5233797"/>
            <a:ext cx="1554480" cy="457200"/>
          </a:xfrm>
          <a:prstGeom prst="rect">
            <a:avLst/>
          </a:prstGeom>
          <a:noFill/>
          <a:ln/>
        </p:spPr>
        <p:txBody>
          <a:bodyPr wrap="square" lIns="0" tIns="0" rIns="0" bIns="0" rtlCol="0" anchor="ctr"/>
          <a:lstStyle/>
          <a:p>
            <a:pPr indent="0" marL="0">
              <a:buNone/>
            </a:pPr>
            <a:r>
              <a:rPr lang="en-US" sz="2200" b="1" dirty="0">
                <a:solidFill>
                  <a:srgbClr val="E3A83A"/>
                </a:solidFill>
                <a:latin typeface="Arial" pitchFamily="34" charset="0"/>
                <a:ea typeface="Arial" pitchFamily="34" charset="-122"/>
                <a:cs typeface="Arial" pitchFamily="34" charset="-120"/>
              </a:rPr>
              <a:t>42</a:t>
            </a:r>
            <a:endParaRPr lang="en-US" sz="2200" dirty="0"/>
          </a:p>
        </p:txBody>
      </p:sp>
      <p:sp>
        <p:nvSpPr>
          <p:cNvPr id="21" name="Text 17"/>
          <p:cNvSpPr txBox="1"/>
          <p:nvPr/>
        </p:nvSpPr>
        <p:spPr>
          <a:xfrm>
            <a:off x="8119872" y="5690997"/>
            <a:ext cx="1600200" cy="365760"/>
          </a:xfrm>
          <a:prstGeom prst="rect">
            <a:avLst/>
          </a:prstGeom>
          <a:noFill/>
          <a:ln/>
        </p:spPr>
        <p:txBody>
          <a:bodyPr wrap="square" lIns="0" tIns="0" rIns="0" bIns="0" rtlCol="0" anchor="ctr"/>
          <a:lstStyle/>
          <a:p>
            <a:pPr indent="0" marL="0">
              <a:buNone/>
            </a:pPr>
            <a:r>
              <a:rPr lang="en-US" sz="1100" dirty="0">
                <a:solidFill>
                  <a:srgbClr val="A9BDB7"/>
                </a:solidFill>
                <a:latin typeface="Calibri" pitchFamily="34" charset="0"/>
                <a:ea typeface="Calibri" pitchFamily="34" charset="-122"/>
                <a:cs typeface="Calibri" pitchFamily="34" charset="-120"/>
              </a:rPr>
              <a:t>share records on blockchain</a:t>
            </a:r>
            <a:endParaRPr lang="en-US" sz="1100" dirty="0"/>
          </a:p>
        </p:txBody>
      </p:sp>
      <p:sp>
        <p:nvSpPr>
          <p:cNvPr id="22" name="Shape 18"/>
          <p:cNvSpPr/>
          <p:nvPr/>
        </p:nvSpPr>
        <p:spPr>
          <a:xfrm>
            <a:off x="9930384" y="5160645"/>
            <a:ext cx="1819656" cy="960120"/>
          </a:xfrm>
          <a:prstGeom prst="roundRect">
            <a:avLst>
              <a:gd name="adj" fmla="val 11429"/>
            </a:avLst>
          </a:prstGeom>
          <a:solidFill>
            <a:srgbClr val="12201D"/>
          </a:solidFill>
          <a:ln w="12700">
            <a:solidFill>
              <a:srgbClr val="25403A"/>
            </a:solidFill>
            <a:prstDash val="solid"/>
          </a:ln>
        </p:spPr>
      </p:sp>
      <p:sp>
        <p:nvSpPr>
          <p:cNvPr id="23" name="Text 19"/>
          <p:cNvSpPr txBox="1"/>
          <p:nvPr/>
        </p:nvSpPr>
        <p:spPr>
          <a:xfrm>
            <a:off x="10067544" y="5233797"/>
            <a:ext cx="1554480" cy="457200"/>
          </a:xfrm>
          <a:prstGeom prst="rect">
            <a:avLst/>
          </a:prstGeom>
          <a:noFill/>
          <a:ln/>
        </p:spPr>
        <p:txBody>
          <a:bodyPr wrap="square" lIns="0" tIns="0" rIns="0" bIns="0" rtlCol="0" anchor="ctr"/>
          <a:lstStyle/>
          <a:p>
            <a:pPr indent="0" marL="0">
              <a:buNone/>
            </a:pPr>
            <a:r>
              <a:rPr lang="en-US" sz="2200" b="1" dirty="0">
                <a:solidFill>
                  <a:srgbClr val="22A07F"/>
                </a:solidFill>
                <a:latin typeface="Arial" pitchFamily="34" charset="0"/>
                <a:ea typeface="Arial" pitchFamily="34" charset="-122"/>
                <a:cs typeface="Arial" pitchFamily="34" charset="-120"/>
              </a:rPr>
              <a:t>3</a:t>
            </a:r>
            <a:endParaRPr lang="en-US" sz="2200" dirty="0"/>
          </a:p>
        </p:txBody>
      </p:sp>
      <p:sp>
        <p:nvSpPr>
          <p:cNvPr id="24" name="Text 20"/>
          <p:cNvSpPr txBox="1"/>
          <p:nvPr/>
        </p:nvSpPr>
        <p:spPr>
          <a:xfrm>
            <a:off x="10067544" y="5690997"/>
            <a:ext cx="1600200" cy="365760"/>
          </a:xfrm>
          <a:prstGeom prst="rect">
            <a:avLst/>
          </a:prstGeom>
          <a:noFill/>
          <a:ln/>
        </p:spPr>
        <p:txBody>
          <a:bodyPr wrap="square" lIns="0" tIns="0" rIns="0" bIns="0" rtlCol="0" anchor="ctr"/>
          <a:lstStyle/>
          <a:p>
            <a:pPr indent="0" marL="0">
              <a:buNone/>
            </a:pPr>
            <a:r>
              <a:rPr lang="en-US" sz="1100" dirty="0">
                <a:solidFill>
                  <a:srgbClr val="A9BDB7"/>
                </a:solidFill>
                <a:latin typeface="Calibri" pitchFamily="34" charset="0"/>
                <a:ea typeface="Calibri" pitchFamily="34" charset="-122"/>
                <a:cs typeface="Calibri" pitchFamily="34" charset="-120"/>
              </a:rPr>
              <a:t>blockchains, every record checkable</a:t>
            </a:r>
            <a:endParaRPr lang="en-US" sz="1100" dirty="0"/>
          </a:p>
        </p:txBody>
      </p:sp>
      <p:sp>
        <p:nvSpPr>
          <p:cNvPr id="25" name="Text 21"/>
          <p:cNvSpPr txBox="1"/>
          <p:nvPr/>
        </p:nvSpPr>
        <p:spPr>
          <a:xfrm>
            <a:off x="6035040" y="6257925"/>
            <a:ext cx="5715000" cy="320040"/>
          </a:xfrm>
          <a:prstGeom prst="rect">
            <a:avLst/>
          </a:prstGeom>
          <a:noFill/>
          <a:ln/>
        </p:spPr>
        <p:txBody>
          <a:bodyPr wrap="square" lIns="0" tIns="0" rIns="0" bIns="0" rtlCol="0" anchor="ctr"/>
          <a:lstStyle/>
          <a:p>
            <a:pPr algn="ctr" indent="0" marL="0">
              <a:buNone/>
            </a:pPr>
            <a:r>
              <a:rPr lang="en-US" sz="1300" i="1" dirty="0">
                <a:solidFill>
                  <a:srgbClr val="7E948F"/>
                </a:solidFill>
                <a:latin typeface="Calibri" pitchFamily="34" charset="0"/>
                <a:ea typeface="Calibri" pitchFamily="34" charset="-122"/>
                <a:cs typeface="Calibri" pitchFamily="34" charset="-120"/>
              </a:rPr>
              <a:t>Working end to end on testnet at eth.blockid.au</a:t>
            </a:r>
            <a:endParaRPr lang="en-US" sz="1300" dirty="0"/>
          </a:p>
        </p:txBody>
      </p:sp>
      <p:sp>
        <p:nvSpPr>
          <p:cNvPr id="26" name="Text 22"/>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E4675A"/>
                </a:solidFill>
                <a:latin typeface="Calibri" pitchFamily="34" charset="0"/>
                <a:ea typeface="Calibri" pitchFamily="34" charset="-122"/>
                <a:cs typeface="Calibri" pitchFamily="34" charset="-120"/>
              </a:rPr>
              <a:t>2 / 13   ·   THE PROBLEM</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Investing in a business is hard to follow.</a:t>
            </a:r>
            <a:endParaRPr lang="en-US" sz="3000" dirty="0"/>
          </a:p>
        </p:txBody>
      </p:sp>
      <p:sp>
        <p:nvSpPr>
          <p:cNvPr id="4" name="Shape 2"/>
          <p:cNvSpPr/>
          <p:nvPr/>
        </p:nvSpPr>
        <p:spPr>
          <a:xfrm>
            <a:off x="502920" y="1783080"/>
            <a:ext cx="2651760" cy="3566160"/>
          </a:xfrm>
          <a:prstGeom prst="roundRect">
            <a:avLst>
              <a:gd name="adj" fmla="val 4138"/>
            </a:avLst>
          </a:prstGeom>
          <a:solidFill>
            <a:srgbClr val="12201D"/>
          </a:solidFill>
          <a:ln w="12700">
            <a:solidFill>
              <a:srgbClr val="25403A"/>
            </a:solidFill>
            <a:prstDash val="solid"/>
          </a:ln>
        </p:spPr>
      </p:sp>
      <p:sp>
        <p:nvSpPr>
          <p:cNvPr id="5" name="Shape 3"/>
          <p:cNvSpPr/>
          <p:nvPr/>
        </p:nvSpPr>
        <p:spPr>
          <a:xfrm>
            <a:off x="777240" y="2057400"/>
            <a:ext cx="731520" cy="731520"/>
          </a:xfrm>
          <a:prstGeom prst="ellipse">
            <a:avLst/>
          </a:prstGeom>
          <a:solidFill>
            <a:srgbClr val="E4675A"/>
          </a:solidFill>
          <a:ln w="12700">
            <a:solidFill>
              <a:srgbClr val="E4675A"/>
            </a:solidFill>
            <a:prstDash val="solid"/>
          </a:ln>
        </p:spPr>
      </p:sp>
      <p:pic>
        <p:nvPicPr>
          <p:cNvPr id="6" name="Image 0" descr="preencoded.png">    </p:cNvPr>
          <p:cNvPicPr>
            <a:picLocks noChangeAspect="1"/>
          </p:cNvPicPr>
          <p:nvPr/>
        </p:nvPicPr>
        <p:blipFill>
          <a:blip r:embed="rId1"/>
          <a:stretch>
            <a:fillRect/>
          </a:stretch>
        </p:blipFill>
        <p:spPr>
          <a:xfrm>
            <a:off x="960120" y="2240280"/>
            <a:ext cx="365760" cy="365760"/>
          </a:xfrm>
          <a:prstGeom prst="rect">
            <a:avLst/>
          </a:prstGeom>
        </p:spPr>
      </p:pic>
      <p:sp>
        <p:nvSpPr>
          <p:cNvPr id="7" name="Text 4"/>
          <p:cNvSpPr txBox="1"/>
          <p:nvPr/>
        </p:nvSpPr>
        <p:spPr>
          <a:xfrm>
            <a:off x="77724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You don't really understand the business</a:t>
            </a:r>
            <a:endParaRPr lang="en-US" sz="1800" dirty="0"/>
          </a:p>
        </p:txBody>
      </p:sp>
      <p:sp>
        <p:nvSpPr>
          <p:cNvPr id="8" name="Text 5"/>
          <p:cNvSpPr txBox="1"/>
          <p:nvPr/>
        </p:nvSpPr>
        <p:spPr>
          <a:xfrm>
            <a:off x="77724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Reports are long, late or missing. The numbers are hard to compare.</a:t>
            </a:r>
            <a:endParaRPr lang="en-US" sz="1400" dirty="0"/>
          </a:p>
        </p:txBody>
      </p:sp>
      <p:sp>
        <p:nvSpPr>
          <p:cNvPr id="9" name="Shape 6"/>
          <p:cNvSpPr/>
          <p:nvPr/>
        </p:nvSpPr>
        <p:spPr>
          <a:xfrm>
            <a:off x="3337560" y="1783080"/>
            <a:ext cx="2651760" cy="3566160"/>
          </a:xfrm>
          <a:prstGeom prst="roundRect">
            <a:avLst>
              <a:gd name="adj" fmla="val 4138"/>
            </a:avLst>
          </a:prstGeom>
          <a:solidFill>
            <a:srgbClr val="12201D"/>
          </a:solidFill>
          <a:ln w="12700">
            <a:solidFill>
              <a:srgbClr val="25403A"/>
            </a:solidFill>
            <a:prstDash val="solid"/>
          </a:ln>
        </p:spPr>
      </p:sp>
      <p:sp>
        <p:nvSpPr>
          <p:cNvPr id="10" name="Shape 7"/>
          <p:cNvSpPr/>
          <p:nvPr/>
        </p:nvSpPr>
        <p:spPr>
          <a:xfrm>
            <a:off x="3611880" y="2057400"/>
            <a:ext cx="731520" cy="731520"/>
          </a:xfrm>
          <a:prstGeom prst="ellipse">
            <a:avLst/>
          </a:prstGeom>
          <a:solidFill>
            <a:srgbClr val="E4675A"/>
          </a:solidFill>
          <a:ln w="12700">
            <a:solidFill>
              <a:srgbClr val="E4675A"/>
            </a:solidFill>
            <a:prstDash val="solid"/>
          </a:ln>
        </p:spPr>
      </p:sp>
      <p:pic>
        <p:nvPicPr>
          <p:cNvPr id="11" name="Image 1" descr="preencoded.png">    </p:cNvPr>
          <p:cNvPicPr>
            <a:picLocks noChangeAspect="1"/>
          </p:cNvPicPr>
          <p:nvPr/>
        </p:nvPicPr>
        <p:blipFill>
          <a:blip r:embed="rId2"/>
          <a:stretch>
            <a:fillRect/>
          </a:stretch>
        </p:blipFill>
        <p:spPr>
          <a:xfrm>
            <a:off x="3794760" y="2240280"/>
            <a:ext cx="365760" cy="365760"/>
          </a:xfrm>
          <a:prstGeom prst="rect">
            <a:avLst/>
          </a:prstGeom>
        </p:spPr>
      </p:pic>
      <p:sp>
        <p:nvSpPr>
          <p:cNvPr id="12" name="Text 8"/>
          <p:cNvSpPr txBox="1"/>
          <p:nvPr/>
        </p:nvSpPr>
        <p:spPr>
          <a:xfrm>
            <a:off x="361188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You lose sight of it after you invest</a:t>
            </a:r>
            <a:endParaRPr lang="en-US" sz="1800" dirty="0"/>
          </a:p>
        </p:txBody>
      </p:sp>
      <p:sp>
        <p:nvSpPr>
          <p:cNvPr id="13" name="Text 9"/>
          <p:cNvSpPr txBox="1"/>
          <p:nvPr/>
        </p:nvSpPr>
        <p:spPr>
          <a:xfrm>
            <a:off x="361188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Sales, profit and new share sales happen without you seeing them.</a:t>
            </a:r>
            <a:endParaRPr lang="en-US" sz="1400" dirty="0"/>
          </a:p>
        </p:txBody>
      </p:sp>
      <p:sp>
        <p:nvSpPr>
          <p:cNvPr id="14" name="Shape 10"/>
          <p:cNvSpPr/>
          <p:nvPr/>
        </p:nvSpPr>
        <p:spPr>
          <a:xfrm>
            <a:off x="6172200" y="1783080"/>
            <a:ext cx="2651760" cy="3566160"/>
          </a:xfrm>
          <a:prstGeom prst="roundRect">
            <a:avLst>
              <a:gd name="adj" fmla="val 4138"/>
            </a:avLst>
          </a:prstGeom>
          <a:solidFill>
            <a:srgbClr val="12201D"/>
          </a:solidFill>
          <a:ln w="12700">
            <a:solidFill>
              <a:srgbClr val="25403A"/>
            </a:solidFill>
            <a:prstDash val="solid"/>
          </a:ln>
        </p:spPr>
      </p:sp>
      <p:sp>
        <p:nvSpPr>
          <p:cNvPr id="15" name="Shape 11"/>
          <p:cNvSpPr/>
          <p:nvPr/>
        </p:nvSpPr>
        <p:spPr>
          <a:xfrm>
            <a:off x="6446520" y="2057400"/>
            <a:ext cx="731520" cy="731520"/>
          </a:xfrm>
          <a:prstGeom prst="ellipse">
            <a:avLst/>
          </a:prstGeom>
          <a:solidFill>
            <a:srgbClr val="E4675A"/>
          </a:solidFill>
          <a:ln w="12700">
            <a:solidFill>
              <a:srgbClr val="E4675A"/>
            </a:solidFill>
            <a:prstDash val="solid"/>
          </a:ln>
        </p:spPr>
      </p:sp>
      <p:pic>
        <p:nvPicPr>
          <p:cNvPr id="16" name="Image 2" descr="preencoded.png">    </p:cNvPr>
          <p:cNvPicPr>
            <a:picLocks noChangeAspect="1"/>
          </p:cNvPicPr>
          <p:nvPr/>
        </p:nvPicPr>
        <p:blipFill>
          <a:blip r:embed="rId3"/>
          <a:stretch>
            <a:fillRect/>
          </a:stretch>
        </p:blipFill>
        <p:spPr>
          <a:xfrm>
            <a:off x="6629400" y="2240280"/>
            <a:ext cx="365760" cy="365760"/>
          </a:xfrm>
          <a:prstGeom prst="rect">
            <a:avLst/>
          </a:prstGeom>
        </p:spPr>
      </p:pic>
      <p:sp>
        <p:nvSpPr>
          <p:cNvPr id="17" name="Text 12"/>
          <p:cNvSpPr txBox="1"/>
          <p:nvPr/>
        </p:nvSpPr>
        <p:spPr>
          <a:xfrm>
            <a:off x="644652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You're not sure what you own</a:t>
            </a:r>
            <a:endParaRPr lang="en-US" sz="1800" dirty="0"/>
          </a:p>
        </p:txBody>
      </p:sp>
      <p:sp>
        <p:nvSpPr>
          <p:cNvPr id="18" name="Text 13"/>
          <p:cNvSpPr txBox="1"/>
          <p:nvPr/>
        </p:nvSpPr>
        <p:spPr>
          <a:xfrm>
            <a:off x="644652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Ownership sits in a spreadsheet. Your stake can shrink and no one tells you.</a:t>
            </a:r>
            <a:endParaRPr lang="en-US" sz="1400" dirty="0"/>
          </a:p>
        </p:txBody>
      </p:sp>
      <p:sp>
        <p:nvSpPr>
          <p:cNvPr id="19" name="Shape 14"/>
          <p:cNvSpPr/>
          <p:nvPr/>
        </p:nvSpPr>
        <p:spPr>
          <a:xfrm>
            <a:off x="9006840" y="1783080"/>
            <a:ext cx="2651760" cy="3566160"/>
          </a:xfrm>
          <a:prstGeom prst="roundRect">
            <a:avLst>
              <a:gd name="adj" fmla="val 4138"/>
            </a:avLst>
          </a:prstGeom>
          <a:solidFill>
            <a:srgbClr val="12201D"/>
          </a:solidFill>
          <a:ln w="12700">
            <a:solidFill>
              <a:srgbClr val="25403A"/>
            </a:solidFill>
            <a:prstDash val="solid"/>
          </a:ln>
        </p:spPr>
      </p:sp>
      <p:sp>
        <p:nvSpPr>
          <p:cNvPr id="20" name="Shape 15"/>
          <p:cNvSpPr/>
          <p:nvPr/>
        </p:nvSpPr>
        <p:spPr>
          <a:xfrm>
            <a:off x="9281160" y="2057400"/>
            <a:ext cx="731520" cy="731520"/>
          </a:xfrm>
          <a:prstGeom prst="ellipse">
            <a:avLst/>
          </a:prstGeom>
          <a:solidFill>
            <a:srgbClr val="E4675A"/>
          </a:solidFill>
          <a:ln w="12700">
            <a:solidFill>
              <a:srgbClr val="E4675A"/>
            </a:solidFill>
            <a:prstDash val="solid"/>
          </a:ln>
        </p:spPr>
      </p:sp>
      <p:pic>
        <p:nvPicPr>
          <p:cNvPr id="21" name="Image 3" descr="preencoded.png">    </p:cNvPr>
          <p:cNvPicPr>
            <a:picLocks noChangeAspect="1"/>
          </p:cNvPicPr>
          <p:nvPr/>
        </p:nvPicPr>
        <p:blipFill>
          <a:blip r:embed="rId4"/>
          <a:stretch>
            <a:fillRect/>
          </a:stretch>
        </p:blipFill>
        <p:spPr>
          <a:xfrm>
            <a:off x="9464040" y="2240280"/>
            <a:ext cx="365760" cy="365760"/>
          </a:xfrm>
          <a:prstGeom prst="rect">
            <a:avLst/>
          </a:prstGeom>
        </p:spPr>
      </p:pic>
      <p:sp>
        <p:nvSpPr>
          <p:cNvPr id="22" name="Text 16"/>
          <p:cNvSpPr txBox="1"/>
          <p:nvPr/>
        </p:nvSpPr>
        <p:spPr>
          <a:xfrm>
            <a:off x="928116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Dividends are slow, or never arrive</a:t>
            </a:r>
            <a:endParaRPr lang="en-US" sz="1800" dirty="0"/>
          </a:p>
        </p:txBody>
      </p:sp>
      <p:sp>
        <p:nvSpPr>
          <p:cNvPr id="23" name="Text 17"/>
          <p:cNvSpPr txBox="1"/>
          <p:nvPr/>
        </p:nvSpPr>
        <p:spPr>
          <a:xfrm>
            <a:off x="928116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Paperwork and bank transfers, if they happen at all.</a:t>
            </a:r>
            <a:endParaRPr lang="en-US" sz="1400" dirty="0"/>
          </a:p>
        </p:txBody>
      </p:sp>
      <p:sp>
        <p:nvSpPr>
          <p:cNvPr id="24" name="Text 18"/>
          <p:cNvSpPr txBox="1"/>
          <p:nvPr/>
        </p:nvSpPr>
        <p:spPr>
          <a:xfrm>
            <a:off x="502920" y="5669280"/>
            <a:ext cx="11155680" cy="457200"/>
          </a:xfrm>
          <a:prstGeom prst="rect">
            <a:avLst/>
          </a:prstGeom>
          <a:noFill/>
          <a:ln/>
        </p:spPr>
        <p:txBody>
          <a:bodyPr wrap="square" lIns="0" tIns="0" rIns="0" bIns="0" rtlCol="0" anchor="ctr"/>
          <a:lstStyle/>
          <a:p>
            <a:pPr indent="0" marL="0">
              <a:buNone/>
            </a:pPr>
            <a:r>
              <a:rPr lang="en-US" sz="1800" b="1" dirty="0">
                <a:solidFill>
                  <a:srgbClr val="E3A83A"/>
                </a:solidFill>
                <a:latin typeface="Calibri" pitchFamily="34" charset="0"/>
                <a:ea typeface="Calibri" pitchFamily="34" charset="-122"/>
                <a:cs typeface="Calibri" pitchFamily="34" charset="-120"/>
              </a:rPr>
              <a:t>Big or small, most investors in a business face the same four gaps.</a:t>
            </a:r>
            <a:endParaRPr lang="en-US" sz="1800" dirty="0"/>
          </a:p>
        </p:txBody>
      </p:sp>
      <p:sp>
        <p:nvSpPr>
          <p:cNvPr id="25" name="Text 1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3 / 13   ·   THE MARKET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Trillions in private businesses. Investors still can't see inside.</a:t>
            </a:r>
            <a:endParaRPr lang="en-US" sz="3000" dirty="0"/>
          </a:p>
        </p:txBody>
      </p:sp>
      <p:sp>
        <p:nvSpPr>
          <p:cNvPr id="4" name="Shape 2"/>
          <p:cNvSpPr/>
          <p:nvPr/>
        </p:nvSpPr>
        <p:spPr>
          <a:xfrm>
            <a:off x="502920" y="1554480"/>
            <a:ext cx="6629400" cy="4526280"/>
          </a:xfrm>
          <a:prstGeom prst="roundRect">
            <a:avLst>
              <a:gd name="adj" fmla="val 2424"/>
            </a:avLst>
          </a:prstGeom>
          <a:solidFill>
            <a:srgbClr val="12201D"/>
          </a:solidFill>
          <a:ln w="12700">
            <a:solidFill>
              <a:srgbClr val="25403A"/>
            </a:solidFill>
            <a:prstDash val="solid"/>
          </a:ln>
        </p:spPr>
      </p:sp>
      <p:sp>
        <p:nvSpPr>
          <p:cNvPr id="5" name="Text 3"/>
          <p:cNvSpPr txBox="1"/>
          <p:nvPr/>
        </p:nvSpPr>
        <p:spPr>
          <a:xfrm>
            <a:off x="731520" y="1664208"/>
            <a:ext cx="6217920" cy="320040"/>
          </a:xfrm>
          <a:prstGeom prst="rect">
            <a:avLst/>
          </a:prstGeom>
          <a:noFill/>
          <a:ln/>
        </p:spPr>
        <p:txBody>
          <a:bodyPr wrap="square" lIns="0" tIns="0" rIns="0" bIns="0" rtlCol="0" anchor="ctr"/>
          <a:lstStyle/>
          <a:p>
            <a:pPr indent="0" marL="0">
              <a:buNone/>
            </a:pPr>
            <a:r>
              <a:rPr lang="en-US" sz="1400" b="1" dirty="0">
                <a:solidFill>
                  <a:srgbClr val="F2F7F5"/>
                </a:solidFill>
                <a:latin typeface="Arial" pitchFamily="34" charset="0"/>
                <a:ea typeface="Arial" pitchFamily="34" charset="-122"/>
                <a:cs typeface="Arial" pitchFamily="34" charset="-120"/>
              </a:rPr>
              <a:t>How big is it? (US$ trillion)</a:t>
            </a:r>
            <a:endParaRPr lang="en-US" sz="1400" dirty="0"/>
          </a:p>
        </p:txBody>
      </p:sp>
      <p:graphicFrame>
        <p:nvGraphicFramePr>
          <p:cNvPr id="6" name="Chart 0" descr=""/>
          <p:cNvGraphicFramePr/>
          <p:nvPr/>
        </p:nvGraphicFramePr>
        <p:xfrm>
          <a:off x="640080" y="2057400"/>
          <a:ext cx="6355080" cy="34290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31520" y="5559552"/>
            <a:ext cx="6217920" cy="411480"/>
          </a:xfrm>
          <a:prstGeom prst="rect">
            <a:avLst/>
          </a:prstGeom>
          <a:noFill/>
          <a:ln/>
        </p:spPr>
        <p:txBody>
          <a:bodyPr wrap="square" lIns="0" tIns="0" rIns="0" bIns="0" rtlCol="0" anchor="t"/>
          <a:lstStyle/>
          <a:p>
            <a:pPr indent="0" marL="0">
              <a:buNone/>
            </a:pPr>
            <a:r>
              <a:rPr lang="en-US" sz="850" dirty="0">
                <a:solidFill>
                  <a:srgbClr val="7E948F"/>
                </a:solidFill>
                <a:latin typeface="Calibri" pitchFamily="34" charset="0"/>
                <a:ea typeface="Calibri" pitchFamily="34" charset="-122"/>
                <a:cs typeface="Calibri" pitchFamily="34" charset="-120"/>
              </a:rPr>
              <a:t>Sources: Crunchbase, Jan 2026 ($425B VC in 2025) · Carta.com, 2026 ($4.5T+ on platform) · Citi GPS, Jun 2026 ($5.5T base case) · Preqin, Oct 2025 ($32T by 2030).</a:t>
            </a:r>
            <a:endParaRPr lang="en-US" sz="850" dirty="0"/>
          </a:p>
        </p:txBody>
      </p:sp>
      <p:sp>
        <p:nvSpPr>
          <p:cNvPr id="8" name="Shape 5"/>
          <p:cNvSpPr/>
          <p:nvPr/>
        </p:nvSpPr>
        <p:spPr>
          <a:xfrm>
            <a:off x="7315200" y="1554480"/>
            <a:ext cx="4389120" cy="1417320"/>
          </a:xfrm>
          <a:prstGeom prst="roundRect">
            <a:avLst>
              <a:gd name="adj" fmla="val 7742"/>
            </a:avLst>
          </a:prstGeom>
          <a:solidFill>
            <a:srgbClr val="12201D"/>
          </a:solidFill>
          <a:ln w="12700">
            <a:solidFill>
              <a:srgbClr val="25403A"/>
            </a:solidFill>
            <a:prstDash val="solid"/>
          </a:ln>
        </p:spPr>
      </p:sp>
      <p:sp>
        <p:nvSpPr>
          <p:cNvPr id="9" name="Text 6"/>
          <p:cNvSpPr txBox="1"/>
          <p:nvPr/>
        </p:nvSpPr>
        <p:spPr>
          <a:xfrm>
            <a:off x="7498080" y="1664208"/>
            <a:ext cx="4023360" cy="548640"/>
          </a:xfrm>
          <a:prstGeom prst="rect">
            <a:avLst/>
          </a:prstGeom>
          <a:noFill/>
          <a:ln/>
        </p:spPr>
        <p:txBody>
          <a:bodyPr wrap="square" lIns="0" tIns="0" rIns="0" bIns="0" rtlCol="0" anchor="ctr"/>
          <a:lstStyle/>
          <a:p>
            <a:pPr indent="0" marL="0">
              <a:buNone/>
            </a:pPr>
            <a:r>
              <a:rPr lang="en-US" sz="2600" b="1" dirty="0">
                <a:solidFill>
                  <a:srgbClr val="E4675A"/>
                </a:solidFill>
                <a:latin typeface="Arial" pitchFamily="34" charset="0"/>
                <a:ea typeface="Arial" pitchFamily="34" charset="-122"/>
                <a:cs typeface="Arial" pitchFamily="34" charset="-120"/>
              </a:rPr>
              <a:t>11%</a:t>
            </a:r>
            <a:endParaRPr lang="en-US" sz="2600" dirty="0"/>
          </a:p>
        </p:txBody>
      </p:sp>
      <p:sp>
        <p:nvSpPr>
          <p:cNvPr id="10" name="Text 7"/>
          <p:cNvSpPr txBox="1"/>
          <p:nvPr/>
        </p:nvSpPr>
        <p:spPr>
          <a:xfrm>
            <a:off x="7498080" y="2212848"/>
            <a:ext cx="4023360" cy="685800"/>
          </a:xfrm>
          <a:prstGeom prst="rect">
            <a:avLst/>
          </a:prstGeom>
          <a:noFill/>
          <a:ln/>
        </p:spPr>
        <p:txBody>
          <a:bodyPr wrap="square" lIns="0" tIns="0" rIns="0" bIns="0" rtlCol="0" anchor="t"/>
          <a:lstStyle/>
          <a:p>
            <a:pPr indent="0" marL="0">
              <a:buNone/>
            </a:pPr>
            <a:r>
              <a:rPr lang="en-US" sz="1150" dirty="0">
                <a:solidFill>
                  <a:srgbClr val="A9BDB7"/>
                </a:solidFill>
                <a:latin typeface="Calibri" pitchFamily="34" charset="0"/>
                <a:ea typeface="Calibri" pitchFamily="34" charset="-122"/>
                <a:cs typeface="Calibri" pitchFamily="34" charset="-120"/>
              </a:rPr>
              <a:t>of value paid back to private-equity investors in 2024, the lowest in a decade (2014–17 average: 29%). Bain, Mar 2025</a:t>
            </a:r>
            <a:endParaRPr lang="en-US" sz="1150" dirty="0"/>
          </a:p>
        </p:txBody>
      </p:sp>
      <p:sp>
        <p:nvSpPr>
          <p:cNvPr id="11" name="Shape 8"/>
          <p:cNvSpPr/>
          <p:nvPr/>
        </p:nvSpPr>
        <p:spPr>
          <a:xfrm>
            <a:off x="7315200" y="3108960"/>
            <a:ext cx="4389120" cy="1417320"/>
          </a:xfrm>
          <a:prstGeom prst="roundRect">
            <a:avLst>
              <a:gd name="adj" fmla="val 7742"/>
            </a:avLst>
          </a:prstGeom>
          <a:solidFill>
            <a:srgbClr val="12201D"/>
          </a:solidFill>
          <a:ln w="12700">
            <a:solidFill>
              <a:srgbClr val="25403A"/>
            </a:solidFill>
            <a:prstDash val="solid"/>
          </a:ln>
        </p:spPr>
      </p:sp>
      <p:sp>
        <p:nvSpPr>
          <p:cNvPr id="12" name="Text 9"/>
          <p:cNvSpPr txBox="1"/>
          <p:nvPr/>
        </p:nvSpPr>
        <p:spPr>
          <a:xfrm>
            <a:off x="7498080" y="3218688"/>
            <a:ext cx="4023360" cy="548640"/>
          </a:xfrm>
          <a:prstGeom prst="rect">
            <a:avLst/>
          </a:prstGeom>
          <a:noFill/>
          <a:ln/>
        </p:spPr>
        <p:txBody>
          <a:bodyPr wrap="square" lIns="0" tIns="0" rIns="0" bIns="0" rtlCol="0" anchor="ctr"/>
          <a:lstStyle/>
          <a:p>
            <a:pPr indent="0" marL="0">
              <a:buNone/>
            </a:pPr>
            <a:r>
              <a:rPr lang="en-US" sz="2600" b="1" dirty="0">
                <a:solidFill>
                  <a:srgbClr val="E3A83A"/>
                </a:solidFill>
                <a:latin typeface="Arial" pitchFamily="34" charset="0"/>
                <a:ea typeface="Arial" pitchFamily="34" charset="-122"/>
                <a:cs typeface="Arial" pitchFamily="34" charset="-120"/>
              </a:rPr>
              <a:t>2.81M + 1M+</a:t>
            </a:r>
            <a:endParaRPr lang="en-US" sz="2600" dirty="0"/>
          </a:p>
        </p:txBody>
      </p:sp>
      <p:sp>
        <p:nvSpPr>
          <p:cNvPr id="13" name="Text 10"/>
          <p:cNvSpPr txBox="1"/>
          <p:nvPr/>
        </p:nvSpPr>
        <p:spPr>
          <a:xfrm>
            <a:off x="7498080" y="3767328"/>
            <a:ext cx="4023360" cy="685800"/>
          </a:xfrm>
          <a:prstGeom prst="rect">
            <a:avLst/>
          </a:prstGeom>
          <a:noFill/>
          <a:ln/>
        </p:spPr>
        <p:txBody>
          <a:bodyPr wrap="square" lIns="0" tIns="0" rIns="0" bIns="0" rtlCol="0" anchor="t"/>
          <a:lstStyle/>
          <a:p>
            <a:pPr indent="0" marL="0">
              <a:buNone/>
            </a:pPr>
            <a:r>
              <a:rPr lang="en-US" sz="1150" dirty="0">
                <a:solidFill>
                  <a:srgbClr val="A9BDB7"/>
                </a:solidFill>
                <a:latin typeface="Calibri" pitchFamily="34" charset="0"/>
                <a:ea typeface="Calibri" pitchFamily="34" charset="-122"/>
                <a:cs typeface="Calibri" pitchFamily="34" charset="-120"/>
              </a:rPr>
              <a:t>businesses in Australia (ABS, Jun 2026) and Vietnam (NSO, 2025). SMEs are ~90% of all firms (World Bank).</a:t>
            </a:r>
            <a:endParaRPr lang="en-US" sz="1150" dirty="0"/>
          </a:p>
        </p:txBody>
      </p:sp>
      <p:sp>
        <p:nvSpPr>
          <p:cNvPr id="14" name="Shape 11"/>
          <p:cNvSpPr/>
          <p:nvPr/>
        </p:nvSpPr>
        <p:spPr>
          <a:xfrm>
            <a:off x="7315200" y="4663440"/>
            <a:ext cx="4389120" cy="1417320"/>
          </a:xfrm>
          <a:prstGeom prst="roundRect">
            <a:avLst>
              <a:gd name="adj" fmla="val 7742"/>
            </a:avLst>
          </a:prstGeom>
          <a:solidFill>
            <a:srgbClr val="12201D"/>
          </a:solidFill>
          <a:ln w="12700">
            <a:solidFill>
              <a:srgbClr val="25403A"/>
            </a:solidFill>
            <a:prstDash val="solid"/>
          </a:ln>
        </p:spPr>
      </p:sp>
      <p:sp>
        <p:nvSpPr>
          <p:cNvPr id="15" name="Text 12"/>
          <p:cNvSpPr txBox="1"/>
          <p:nvPr/>
        </p:nvSpPr>
        <p:spPr>
          <a:xfrm>
            <a:off x="7498080" y="4773168"/>
            <a:ext cx="4023360" cy="548640"/>
          </a:xfrm>
          <a:prstGeom prst="rect">
            <a:avLst/>
          </a:prstGeom>
          <a:noFill/>
          <a:ln/>
        </p:spPr>
        <p:txBody>
          <a:bodyPr wrap="square" lIns="0" tIns="0" rIns="0" bIns="0" rtlCol="0" anchor="ctr"/>
          <a:lstStyle/>
          <a:p>
            <a:pPr indent="0" marL="0">
              <a:buNone/>
            </a:pPr>
            <a:r>
              <a:rPr lang="en-US" sz="2600" b="1" dirty="0">
                <a:solidFill>
                  <a:srgbClr val="22A07F"/>
                </a:solidFill>
                <a:latin typeface="Arial" pitchFamily="34" charset="0"/>
                <a:ea typeface="Arial" pitchFamily="34" charset="-122"/>
                <a:cs typeface="Arial" pitchFamily="34" charset="-120"/>
              </a:rPr>
              <a:t>16%</a:t>
            </a:r>
            <a:endParaRPr lang="en-US" sz="2600" dirty="0"/>
          </a:p>
        </p:txBody>
      </p:sp>
      <p:sp>
        <p:nvSpPr>
          <p:cNvPr id="16" name="Text 13"/>
          <p:cNvSpPr txBox="1"/>
          <p:nvPr/>
        </p:nvSpPr>
        <p:spPr>
          <a:xfrm>
            <a:off x="7498080" y="5321808"/>
            <a:ext cx="4023360" cy="685800"/>
          </a:xfrm>
          <a:prstGeom prst="rect">
            <a:avLst/>
          </a:prstGeom>
          <a:noFill/>
          <a:ln/>
        </p:spPr>
        <p:txBody>
          <a:bodyPr wrap="square" lIns="0" tIns="0" rIns="0" bIns="0" rtlCol="0" anchor="t"/>
          <a:lstStyle/>
          <a:p>
            <a:pPr indent="0" marL="0">
              <a:buNone/>
            </a:pPr>
            <a:r>
              <a:rPr lang="en-US" sz="1150" dirty="0">
                <a:solidFill>
                  <a:srgbClr val="A9BDB7"/>
                </a:solidFill>
                <a:latin typeface="Calibri" pitchFamily="34" charset="0"/>
                <a:ea typeface="Calibri" pitchFamily="34" charset="-122"/>
                <a:cs typeface="Calibri" pitchFamily="34" charset="-120"/>
              </a:rPr>
              <a:t>of alternative assets are held by individuals, who own ~50% of global wealth: retail access is the growth path. Bain, 2023</a:t>
            </a:r>
            <a:endParaRPr lang="en-US" sz="1150" dirty="0"/>
          </a:p>
        </p:txBody>
      </p:sp>
      <p:sp>
        <p:nvSpPr>
          <p:cNvPr id="17" name="Text 14"/>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4 / 13   ·   THE SOLUTION</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One passport per business. Five things every investor gets.</a:t>
            </a:r>
            <a:endParaRPr lang="en-US" sz="3000" dirty="0"/>
          </a:p>
        </p:txBody>
      </p:sp>
      <p:sp>
        <p:nvSpPr>
          <p:cNvPr id="4" name="Shape 2"/>
          <p:cNvSpPr/>
          <p:nvPr/>
        </p:nvSpPr>
        <p:spPr>
          <a:xfrm>
            <a:off x="502920" y="1645920"/>
            <a:ext cx="6035040" cy="777240"/>
          </a:xfrm>
          <a:prstGeom prst="roundRect">
            <a:avLst>
              <a:gd name="adj" fmla="val 14118"/>
            </a:avLst>
          </a:prstGeom>
          <a:solidFill>
            <a:srgbClr val="12201D"/>
          </a:solidFill>
          <a:ln w="12700">
            <a:solidFill>
              <a:srgbClr val="22A07F"/>
            </a:solidFill>
            <a:prstDash val="solid"/>
          </a:ln>
        </p:spPr>
      </p:sp>
      <p:sp>
        <p:nvSpPr>
          <p:cNvPr id="5" name="Shape 3"/>
          <p:cNvSpPr/>
          <p:nvPr/>
        </p:nvSpPr>
        <p:spPr>
          <a:xfrm>
            <a:off x="658368" y="1764792"/>
            <a:ext cx="548640" cy="548640"/>
          </a:xfrm>
          <a:prstGeom prst="ellipse">
            <a:avLst/>
          </a:prstGeom>
          <a:solidFill>
            <a:srgbClr val="22A07F"/>
          </a:solidFill>
          <a:ln w="12700">
            <a:solidFill>
              <a:srgbClr val="22A07F"/>
            </a:solidFill>
            <a:prstDash val="solid"/>
          </a:ln>
        </p:spPr>
      </p:sp>
      <p:pic>
        <p:nvPicPr>
          <p:cNvPr id="6" name="Image 0" descr="preencoded.png">    </p:cNvPr>
          <p:cNvPicPr>
            <a:picLocks noChangeAspect="1"/>
          </p:cNvPicPr>
          <p:nvPr/>
        </p:nvPicPr>
        <p:blipFill>
          <a:blip r:embed="rId1"/>
          <a:stretch>
            <a:fillRect/>
          </a:stretch>
        </p:blipFill>
        <p:spPr>
          <a:xfrm>
            <a:off x="795528" y="1901952"/>
            <a:ext cx="274320" cy="274320"/>
          </a:xfrm>
          <a:prstGeom prst="rect">
            <a:avLst/>
          </a:prstGeom>
        </p:spPr>
      </p:pic>
      <p:sp>
        <p:nvSpPr>
          <p:cNvPr id="7" name="Text 4"/>
          <p:cNvSpPr txBox="1"/>
          <p:nvPr/>
        </p:nvSpPr>
        <p:spPr>
          <a:xfrm>
            <a:off x="1371600" y="1645920"/>
            <a:ext cx="1645920" cy="777240"/>
          </a:xfrm>
          <a:prstGeom prst="rect">
            <a:avLst/>
          </a:prstGeom>
          <a:noFill/>
          <a:ln/>
        </p:spPr>
        <p:txBody>
          <a:bodyPr wrap="square" lIns="0" tIns="0" rIns="0" bIns="0" rtlCol="0" anchor="ctr"/>
          <a:lstStyle/>
          <a:p>
            <a:pPr indent="0" marL="0">
              <a:buNone/>
            </a:pPr>
            <a:r>
              <a:rPr lang="en-US" sz="1700" b="1" dirty="0">
                <a:solidFill>
                  <a:srgbClr val="22A07F"/>
                </a:solidFill>
                <a:latin typeface="Arial" pitchFamily="34" charset="0"/>
                <a:ea typeface="Arial" pitchFamily="34" charset="-122"/>
                <a:cs typeface="Arial" pitchFamily="34" charset="-120"/>
              </a:rPr>
              <a:t>Understand it</a:t>
            </a:r>
            <a:endParaRPr lang="en-US" sz="1700" dirty="0"/>
          </a:p>
        </p:txBody>
      </p:sp>
      <p:sp>
        <p:nvSpPr>
          <p:cNvPr id="8" name="Text 5"/>
          <p:cNvSpPr txBox="1"/>
          <p:nvPr/>
        </p:nvSpPr>
        <p:spPr>
          <a:xfrm>
            <a:off x="3017520" y="16459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A plain report. Every number linked to where it came from.</a:t>
            </a:r>
            <a:endParaRPr lang="en-US" sz="1400" dirty="0"/>
          </a:p>
        </p:txBody>
      </p:sp>
      <p:sp>
        <p:nvSpPr>
          <p:cNvPr id="9" name="Shape 6"/>
          <p:cNvSpPr/>
          <p:nvPr/>
        </p:nvSpPr>
        <p:spPr>
          <a:xfrm>
            <a:off x="502920" y="2560320"/>
            <a:ext cx="6035040" cy="777240"/>
          </a:xfrm>
          <a:prstGeom prst="roundRect">
            <a:avLst>
              <a:gd name="adj" fmla="val 14118"/>
            </a:avLst>
          </a:prstGeom>
          <a:solidFill>
            <a:srgbClr val="12201D"/>
          </a:solidFill>
          <a:ln w="12700">
            <a:solidFill>
              <a:srgbClr val="5D8AD6"/>
            </a:solidFill>
            <a:prstDash val="solid"/>
          </a:ln>
        </p:spPr>
      </p:sp>
      <p:sp>
        <p:nvSpPr>
          <p:cNvPr id="10" name="Shape 7"/>
          <p:cNvSpPr/>
          <p:nvPr/>
        </p:nvSpPr>
        <p:spPr>
          <a:xfrm>
            <a:off x="658368" y="2679192"/>
            <a:ext cx="548640" cy="548640"/>
          </a:xfrm>
          <a:prstGeom prst="ellipse">
            <a:avLst/>
          </a:prstGeom>
          <a:solidFill>
            <a:srgbClr val="5D8AD6"/>
          </a:solidFill>
          <a:ln w="12700">
            <a:solidFill>
              <a:srgbClr val="5D8AD6"/>
            </a:solidFill>
            <a:prstDash val="solid"/>
          </a:ln>
        </p:spPr>
      </p:sp>
      <p:pic>
        <p:nvPicPr>
          <p:cNvPr id="11" name="Image 1" descr="preencoded.png">    </p:cNvPr>
          <p:cNvPicPr>
            <a:picLocks noChangeAspect="1"/>
          </p:cNvPicPr>
          <p:nvPr/>
        </p:nvPicPr>
        <p:blipFill>
          <a:blip r:embed="rId2"/>
          <a:stretch>
            <a:fillRect/>
          </a:stretch>
        </p:blipFill>
        <p:spPr>
          <a:xfrm>
            <a:off x="795528" y="2816352"/>
            <a:ext cx="274320" cy="274320"/>
          </a:xfrm>
          <a:prstGeom prst="rect">
            <a:avLst/>
          </a:prstGeom>
        </p:spPr>
      </p:pic>
      <p:sp>
        <p:nvSpPr>
          <p:cNvPr id="12" name="Text 8"/>
          <p:cNvSpPr txBox="1"/>
          <p:nvPr/>
        </p:nvSpPr>
        <p:spPr>
          <a:xfrm>
            <a:off x="1371600" y="2560320"/>
            <a:ext cx="1645920" cy="777240"/>
          </a:xfrm>
          <a:prstGeom prst="rect">
            <a:avLst/>
          </a:prstGeom>
          <a:noFill/>
          <a:ln/>
        </p:spPr>
        <p:txBody>
          <a:bodyPr wrap="square" lIns="0" tIns="0" rIns="0" bIns="0" rtlCol="0" anchor="ctr"/>
          <a:lstStyle/>
          <a:p>
            <a:pPr indent="0" marL="0">
              <a:buNone/>
            </a:pPr>
            <a:r>
              <a:rPr lang="en-US" sz="1700" b="1" dirty="0">
                <a:solidFill>
                  <a:srgbClr val="5D8AD6"/>
                </a:solidFill>
                <a:latin typeface="Arial" pitchFamily="34" charset="0"/>
                <a:ea typeface="Arial" pitchFamily="34" charset="-122"/>
                <a:cs typeface="Arial" pitchFamily="34" charset="-120"/>
              </a:rPr>
              <a:t>Follow it</a:t>
            </a:r>
            <a:endParaRPr lang="en-US" sz="1700" dirty="0"/>
          </a:p>
        </p:txBody>
      </p:sp>
      <p:sp>
        <p:nvSpPr>
          <p:cNvPr id="13" name="Text 9"/>
          <p:cNvSpPr txBox="1"/>
          <p:nvPr/>
        </p:nvSpPr>
        <p:spPr>
          <a:xfrm>
            <a:off x="3017520" y="25603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Regular updates and a fair value, approved by a person.</a:t>
            </a:r>
            <a:endParaRPr lang="en-US" sz="1400" dirty="0"/>
          </a:p>
        </p:txBody>
      </p:sp>
      <p:sp>
        <p:nvSpPr>
          <p:cNvPr id="14" name="Shape 10"/>
          <p:cNvSpPr/>
          <p:nvPr/>
        </p:nvSpPr>
        <p:spPr>
          <a:xfrm>
            <a:off x="502920" y="3474720"/>
            <a:ext cx="6035040" cy="777240"/>
          </a:xfrm>
          <a:prstGeom prst="roundRect">
            <a:avLst>
              <a:gd name="adj" fmla="val 14118"/>
            </a:avLst>
          </a:prstGeom>
          <a:solidFill>
            <a:srgbClr val="12201D"/>
          </a:solidFill>
          <a:ln w="12700">
            <a:solidFill>
              <a:srgbClr val="9B7BD4"/>
            </a:solidFill>
            <a:prstDash val="solid"/>
          </a:ln>
        </p:spPr>
      </p:sp>
      <p:sp>
        <p:nvSpPr>
          <p:cNvPr id="15" name="Shape 11"/>
          <p:cNvSpPr/>
          <p:nvPr/>
        </p:nvSpPr>
        <p:spPr>
          <a:xfrm>
            <a:off x="658368" y="3593592"/>
            <a:ext cx="548640" cy="548640"/>
          </a:xfrm>
          <a:prstGeom prst="ellipse">
            <a:avLst/>
          </a:prstGeom>
          <a:solidFill>
            <a:srgbClr val="9B7BD4"/>
          </a:solidFill>
          <a:ln w="12700">
            <a:solidFill>
              <a:srgbClr val="9B7BD4"/>
            </a:solidFill>
            <a:prstDash val="solid"/>
          </a:ln>
        </p:spPr>
      </p:sp>
      <p:pic>
        <p:nvPicPr>
          <p:cNvPr id="16" name="Image 2" descr="preencoded.png">    </p:cNvPr>
          <p:cNvPicPr>
            <a:picLocks noChangeAspect="1"/>
          </p:cNvPicPr>
          <p:nvPr/>
        </p:nvPicPr>
        <p:blipFill>
          <a:blip r:embed="rId3"/>
          <a:stretch>
            <a:fillRect/>
          </a:stretch>
        </p:blipFill>
        <p:spPr>
          <a:xfrm>
            <a:off x="795528" y="3730752"/>
            <a:ext cx="274320" cy="274320"/>
          </a:xfrm>
          <a:prstGeom prst="rect">
            <a:avLst/>
          </a:prstGeom>
        </p:spPr>
      </p:pic>
      <p:sp>
        <p:nvSpPr>
          <p:cNvPr id="17" name="Text 12"/>
          <p:cNvSpPr txBox="1"/>
          <p:nvPr/>
        </p:nvSpPr>
        <p:spPr>
          <a:xfrm>
            <a:off x="1371600" y="3474720"/>
            <a:ext cx="1645920" cy="777240"/>
          </a:xfrm>
          <a:prstGeom prst="rect">
            <a:avLst/>
          </a:prstGeom>
          <a:noFill/>
          <a:ln/>
        </p:spPr>
        <p:txBody>
          <a:bodyPr wrap="square" lIns="0" tIns="0" rIns="0" bIns="0" rtlCol="0" anchor="ctr"/>
          <a:lstStyle/>
          <a:p>
            <a:pPr indent="0" marL="0">
              <a:buNone/>
            </a:pPr>
            <a:r>
              <a:rPr lang="en-US" sz="1700" b="1" dirty="0">
                <a:solidFill>
                  <a:srgbClr val="9B7BD4"/>
                </a:solidFill>
                <a:latin typeface="Arial" pitchFamily="34" charset="0"/>
                <a:ea typeface="Arial" pitchFamily="34" charset="-122"/>
                <a:cs typeface="Arial" pitchFamily="34" charset="-120"/>
              </a:rPr>
              <a:t>Own it</a:t>
            </a:r>
            <a:endParaRPr lang="en-US" sz="1700" dirty="0"/>
          </a:p>
        </p:txBody>
      </p:sp>
      <p:sp>
        <p:nvSpPr>
          <p:cNvPr id="18" name="Text 13"/>
          <p:cNvSpPr txBox="1"/>
          <p:nvPr/>
        </p:nvSpPr>
        <p:spPr>
          <a:xfrm>
            <a:off x="3017520" y="34747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Your shares on a public share register — your proof.</a:t>
            </a:r>
            <a:endParaRPr lang="en-US" sz="1400" dirty="0"/>
          </a:p>
        </p:txBody>
      </p:sp>
      <p:sp>
        <p:nvSpPr>
          <p:cNvPr id="19" name="Shape 14"/>
          <p:cNvSpPr/>
          <p:nvPr/>
        </p:nvSpPr>
        <p:spPr>
          <a:xfrm>
            <a:off x="502920" y="4389120"/>
            <a:ext cx="6035040" cy="777240"/>
          </a:xfrm>
          <a:prstGeom prst="roundRect">
            <a:avLst>
              <a:gd name="adj" fmla="val 14118"/>
            </a:avLst>
          </a:prstGeom>
          <a:solidFill>
            <a:srgbClr val="12201D"/>
          </a:solidFill>
          <a:ln w="12700">
            <a:solidFill>
              <a:srgbClr val="E3A83A"/>
            </a:solidFill>
            <a:prstDash val="solid"/>
          </a:ln>
        </p:spPr>
      </p:sp>
      <p:sp>
        <p:nvSpPr>
          <p:cNvPr id="20" name="Shape 15"/>
          <p:cNvSpPr/>
          <p:nvPr/>
        </p:nvSpPr>
        <p:spPr>
          <a:xfrm>
            <a:off x="658368" y="4507992"/>
            <a:ext cx="548640" cy="548640"/>
          </a:xfrm>
          <a:prstGeom prst="ellipse">
            <a:avLst/>
          </a:prstGeom>
          <a:solidFill>
            <a:srgbClr val="E3A83A"/>
          </a:solidFill>
          <a:ln w="12700">
            <a:solidFill>
              <a:srgbClr val="E3A83A"/>
            </a:solidFill>
            <a:prstDash val="solid"/>
          </a:ln>
        </p:spPr>
      </p:sp>
      <p:pic>
        <p:nvPicPr>
          <p:cNvPr id="21" name="Image 3" descr="preencoded.png">    </p:cNvPr>
          <p:cNvPicPr>
            <a:picLocks noChangeAspect="1"/>
          </p:cNvPicPr>
          <p:nvPr/>
        </p:nvPicPr>
        <p:blipFill>
          <a:blip r:embed="rId4"/>
          <a:stretch>
            <a:fillRect/>
          </a:stretch>
        </p:blipFill>
        <p:spPr>
          <a:xfrm>
            <a:off x="795528" y="4645152"/>
            <a:ext cx="274320" cy="274320"/>
          </a:xfrm>
          <a:prstGeom prst="rect">
            <a:avLst/>
          </a:prstGeom>
        </p:spPr>
      </p:pic>
      <p:sp>
        <p:nvSpPr>
          <p:cNvPr id="22" name="Text 16"/>
          <p:cNvSpPr txBox="1"/>
          <p:nvPr/>
        </p:nvSpPr>
        <p:spPr>
          <a:xfrm>
            <a:off x="1371600" y="4389120"/>
            <a:ext cx="1645920" cy="777240"/>
          </a:xfrm>
          <a:prstGeom prst="rect">
            <a:avLst/>
          </a:prstGeom>
          <a:noFill/>
          <a:ln/>
        </p:spPr>
        <p:txBody>
          <a:bodyPr wrap="square" lIns="0" tIns="0" rIns="0" bIns="0" rtlCol="0" anchor="ctr"/>
          <a:lstStyle/>
          <a:p>
            <a:pPr indent="0" marL="0">
              <a:buNone/>
            </a:pPr>
            <a:r>
              <a:rPr lang="en-US" sz="1700" b="1" dirty="0">
                <a:solidFill>
                  <a:srgbClr val="E3A83A"/>
                </a:solidFill>
                <a:latin typeface="Arial" pitchFamily="34" charset="0"/>
                <a:ea typeface="Arial" pitchFamily="34" charset="-122"/>
                <a:cs typeface="Arial" pitchFamily="34" charset="-120"/>
              </a:rPr>
              <a:t>Get paid</a:t>
            </a:r>
            <a:endParaRPr lang="en-US" sz="1700" dirty="0"/>
          </a:p>
        </p:txBody>
      </p:sp>
      <p:sp>
        <p:nvSpPr>
          <p:cNvPr id="23" name="Text 17"/>
          <p:cNvSpPr txBox="1"/>
          <p:nvPr/>
        </p:nvSpPr>
        <p:spPr>
          <a:xfrm>
            <a:off x="3017520" y="43891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Dividends go straight into your wallet, automatically.</a:t>
            </a:r>
            <a:endParaRPr lang="en-US" sz="1400" dirty="0"/>
          </a:p>
        </p:txBody>
      </p:sp>
      <p:sp>
        <p:nvSpPr>
          <p:cNvPr id="24" name="Shape 18"/>
          <p:cNvSpPr/>
          <p:nvPr/>
        </p:nvSpPr>
        <p:spPr>
          <a:xfrm>
            <a:off x="502920" y="5303520"/>
            <a:ext cx="6035040" cy="777240"/>
          </a:xfrm>
          <a:prstGeom prst="roundRect">
            <a:avLst>
              <a:gd name="adj" fmla="val 14118"/>
            </a:avLst>
          </a:prstGeom>
          <a:solidFill>
            <a:srgbClr val="12201D"/>
          </a:solidFill>
          <a:ln w="12700">
            <a:solidFill>
              <a:srgbClr val="7FE0C2"/>
            </a:solidFill>
            <a:prstDash val="solid"/>
          </a:ln>
        </p:spPr>
      </p:sp>
      <p:sp>
        <p:nvSpPr>
          <p:cNvPr id="25" name="Shape 19"/>
          <p:cNvSpPr/>
          <p:nvPr/>
        </p:nvSpPr>
        <p:spPr>
          <a:xfrm>
            <a:off x="658368" y="5422392"/>
            <a:ext cx="548640" cy="548640"/>
          </a:xfrm>
          <a:prstGeom prst="ellipse">
            <a:avLst/>
          </a:prstGeom>
          <a:solidFill>
            <a:srgbClr val="7FE0C2"/>
          </a:solidFill>
          <a:ln w="12700">
            <a:solidFill>
              <a:srgbClr val="7FE0C2"/>
            </a:solidFill>
            <a:prstDash val="solid"/>
          </a:ln>
        </p:spPr>
      </p:sp>
      <p:pic>
        <p:nvPicPr>
          <p:cNvPr id="26" name="Image 4" descr="preencoded.png">    </p:cNvPr>
          <p:cNvPicPr>
            <a:picLocks noChangeAspect="1"/>
          </p:cNvPicPr>
          <p:nvPr/>
        </p:nvPicPr>
        <p:blipFill>
          <a:blip r:embed="rId5"/>
          <a:stretch>
            <a:fillRect/>
          </a:stretch>
        </p:blipFill>
        <p:spPr>
          <a:xfrm>
            <a:off x="795528" y="5559552"/>
            <a:ext cx="274320" cy="274320"/>
          </a:xfrm>
          <a:prstGeom prst="rect">
            <a:avLst/>
          </a:prstGeom>
        </p:spPr>
      </p:pic>
      <p:sp>
        <p:nvSpPr>
          <p:cNvPr id="27" name="Text 20"/>
          <p:cNvSpPr txBox="1"/>
          <p:nvPr/>
        </p:nvSpPr>
        <p:spPr>
          <a:xfrm>
            <a:off x="1371600" y="5303520"/>
            <a:ext cx="1645920" cy="777240"/>
          </a:xfrm>
          <a:prstGeom prst="rect">
            <a:avLst/>
          </a:prstGeom>
          <a:noFill/>
          <a:ln/>
        </p:spPr>
        <p:txBody>
          <a:bodyPr wrap="square" lIns="0" tIns="0" rIns="0" bIns="0" rtlCol="0" anchor="ctr"/>
          <a:lstStyle/>
          <a:p>
            <a:pPr indent="0" marL="0">
              <a:buNone/>
            </a:pPr>
            <a:r>
              <a:rPr lang="en-US" sz="1700" b="1" dirty="0">
                <a:solidFill>
                  <a:srgbClr val="7FE0C2"/>
                </a:solidFill>
                <a:latin typeface="Arial" pitchFamily="34" charset="0"/>
                <a:ea typeface="Arial" pitchFamily="34" charset="-122"/>
                <a:cs typeface="Arial" pitchFamily="34" charset="-120"/>
              </a:rPr>
              <a:t>Check it</a:t>
            </a:r>
            <a:endParaRPr lang="en-US" sz="1700" dirty="0"/>
          </a:p>
        </p:txBody>
      </p:sp>
      <p:sp>
        <p:nvSpPr>
          <p:cNvPr id="28" name="Text 21"/>
          <p:cNvSpPr txBox="1"/>
          <p:nvPr/>
        </p:nvSpPr>
        <p:spPr>
          <a:xfrm>
            <a:off x="3017520" y="53035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Anyone can check the numbers and the register.</a:t>
            </a:r>
            <a:endParaRPr lang="en-US" sz="1400" dirty="0"/>
          </a:p>
        </p:txBody>
      </p:sp>
      <p:sp>
        <p:nvSpPr>
          <p:cNvPr id="29" name="Shape 22"/>
          <p:cNvSpPr/>
          <p:nvPr/>
        </p:nvSpPr>
        <p:spPr>
          <a:xfrm>
            <a:off x="6775704" y="1609344"/>
            <a:ext cx="4965192" cy="3404997"/>
          </a:xfrm>
          <a:prstGeom prst="roundRect">
            <a:avLst>
              <a:gd name="adj" fmla="val 1880"/>
            </a:avLst>
          </a:prstGeom>
          <a:solidFill>
            <a:srgbClr val="D9DFDD"/>
          </a:solidFill>
          <a:ln w="12700">
            <a:solidFill>
              <a:srgbClr val="D9DFDD"/>
            </a:solidFill>
            <a:prstDash val="solid"/>
          </a:ln>
          <a:effectLst>
            <a:outerShdw sx="100000" sy="100000" kx="0" ky="0" algn="bl" rotWithShape="0" blurRad="203200" dist="76200" dir="5400000">
              <a:srgbClr val="000000">
                <a:alpha val="55000"/>
              </a:srgbClr>
            </a:outerShdw>
          </a:effectLst>
        </p:spPr>
      </p:sp>
      <p:sp>
        <p:nvSpPr>
          <p:cNvPr id="30" name="Shape 23"/>
          <p:cNvSpPr/>
          <p:nvPr/>
        </p:nvSpPr>
        <p:spPr>
          <a:xfrm>
            <a:off x="6812280" y="1645920"/>
            <a:ext cx="4892040" cy="274320"/>
          </a:xfrm>
          <a:prstGeom prst="rect">
            <a:avLst/>
          </a:prstGeom>
          <a:solidFill>
            <a:srgbClr val="ECEFEE"/>
          </a:solidFill>
          <a:ln w="12700">
            <a:solidFill>
              <a:srgbClr val="ECEFEE"/>
            </a:solidFill>
            <a:prstDash val="solid"/>
          </a:ln>
        </p:spPr>
      </p:sp>
      <p:sp>
        <p:nvSpPr>
          <p:cNvPr id="31" name="Shape 24"/>
          <p:cNvSpPr/>
          <p:nvPr/>
        </p:nvSpPr>
        <p:spPr>
          <a:xfrm>
            <a:off x="6922008" y="1732788"/>
            <a:ext cx="100584" cy="100584"/>
          </a:xfrm>
          <a:prstGeom prst="ellipse">
            <a:avLst/>
          </a:prstGeom>
          <a:solidFill>
            <a:srgbClr val="FF5F57"/>
          </a:solidFill>
          <a:ln w="12700">
            <a:solidFill>
              <a:srgbClr val="FF5F57"/>
            </a:solidFill>
            <a:prstDash val="solid"/>
          </a:ln>
        </p:spPr>
      </p:sp>
      <p:sp>
        <p:nvSpPr>
          <p:cNvPr id="32" name="Shape 25"/>
          <p:cNvSpPr/>
          <p:nvPr/>
        </p:nvSpPr>
        <p:spPr>
          <a:xfrm>
            <a:off x="7077456" y="1732788"/>
            <a:ext cx="100584" cy="100584"/>
          </a:xfrm>
          <a:prstGeom prst="ellipse">
            <a:avLst/>
          </a:prstGeom>
          <a:solidFill>
            <a:srgbClr val="FEBC2E"/>
          </a:solidFill>
          <a:ln w="12700">
            <a:solidFill>
              <a:srgbClr val="FEBC2E"/>
            </a:solidFill>
            <a:prstDash val="solid"/>
          </a:ln>
        </p:spPr>
      </p:sp>
      <p:sp>
        <p:nvSpPr>
          <p:cNvPr id="33" name="Shape 26"/>
          <p:cNvSpPr/>
          <p:nvPr/>
        </p:nvSpPr>
        <p:spPr>
          <a:xfrm>
            <a:off x="7232904" y="1732788"/>
            <a:ext cx="100584" cy="100584"/>
          </a:xfrm>
          <a:prstGeom prst="ellipse">
            <a:avLst/>
          </a:prstGeom>
          <a:solidFill>
            <a:srgbClr val="28C840"/>
          </a:solidFill>
          <a:ln w="12700">
            <a:solidFill>
              <a:srgbClr val="28C840"/>
            </a:solidFill>
            <a:prstDash val="solid"/>
          </a:ln>
        </p:spPr>
      </p:sp>
      <p:sp>
        <p:nvSpPr>
          <p:cNvPr id="34" name="Shape 27"/>
          <p:cNvSpPr/>
          <p:nvPr/>
        </p:nvSpPr>
        <p:spPr>
          <a:xfrm>
            <a:off x="7452360" y="1691640"/>
            <a:ext cx="3840480" cy="182880"/>
          </a:xfrm>
          <a:prstGeom prst="roundRect">
            <a:avLst>
              <a:gd name="adj" fmla="val 25000"/>
            </a:avLst>
          </a:prstGeom>
          <a:solidFill>
            <a:srgbClr val="FFFFFF"/>
          </a:solidFill>
          <a:ln w="12700">
            <a:solidFill>
              <a:srgbClr val="D9DFDD"/>
            </a:solidFill>
            <a:prstDash val="solid"/>
          </a:ln>
        </p:spPr>
      </p:sp>
      <p:sp>
        <p:nvSpPr>
          <p:cNvPr id="35" name="Text 28"/>
          <p:cNvSpPr txBox="1"/>
          <p:nvPr/>
        </p:nvSpPr>
        <p:spPr>
          <a:xfrm>
            <a:off x="7543800" y="1691640"/>
            <a:ext cx="3657600" cy="182880"/>
          </a:xfrm>
          <a:prstGeom prst="rect">
            <a:avLst/>
          </a:prstGeom>
          <a:noFill/>
          <a:ln/>
        </p:spPr>
        <p:txBody>
          <a:bodyPr wrap="square" lIns="0" tIns="0" rIns="0" bIns="0" rtlCol="0" anchor="ctr"/>
          <a:lstStyle/>
          <a:p>
            <a:pPr indent="0" marL="0">
              <a:buNone/>
            </a:pPr>
            <a:r>
              <a:rPr lang="en-US" sz="850" dirty="0">
                <a:solidFill>
                  <a:srgbClr val="4A5A56"/>
                </a:solidFill>
                <a:latin typeface="Calibri" pitchFamily="34" charset="0"/>
                <a:ea typeface="Calibri" pitchFamily="34" charset="-122"/>
                <a:cs typeface="Calibri" pitchFamily="34" charset="-120"/>
              </a:rPr>
              <a:t>eth.blockid.au/i/demo/EBA</a:t>
            </a:r>
            <a:endParaRPr lang="en-US" sz="850" dirty="0"/>
          </a:p>
        </p:txBody>
      </p:sp>
      <p:pic>
        <p:nvPicPr>
          <p:cNvPr id="36" name="Image 5" descr="preencoded.png">    </p:cNvPr>
          <p:cNvPicPr>
            <a:picLocks noChangeAspect="1"/>
          </p:cNvPicPr>
          <p:nvPr/>
        </p:nvPicPr>
        <p:blipFill>
          <a:blip r:embed="rId6"/>
          <a:stretch>
            <a:fillRect/>
          </a:stretch>
        </p:blipFill>
        <p:spPr>
          <a:xfrm>
            <a:off x="6812280" y="1920240"/>
            <a:ext cx="4892040" cy="3057525"/>
          </a:xfrm>
          <a:prstGeom prst="rect">
            <a:avLst/>
          </a:prstGeom>
        </p:spPr>
      </p:pic>
      <p:sp>
        <p:nvSpPr>
          <p:cNvPr id="37" name="Text 29"/>
          <p:cNvSpPr txBox="1"/>
          <p:nvPr/>
        </p:nvSpPr>
        <p:spPr>
          <a:xfrm>
            <a:off x="6949440" y="6172200"/>
            <a:ext cx="4937760" cy="274320"/>
          </a:xfrm>
          <a:prstGeom prst="rect">
            <a:avLst/>
          </a:prstGeom>
          <a:noFill/>
          <a:ln/>
        </p:spPr>
        <p:txBody>
          <a:bodyPr wrap="square" lIns="0" tIns="0" rIns="0" bIns="0" rtlCol="0" anchor="ctr"/>
          <a:lstStyle/>
          <a:p>
            <a:pPr algn="ctr" indent="0" marL="0">
              <a:buNone/>
            </a:pPr>
            <a:r>
              <a:rPr lang="en-US" sz="1150" i="1" dirty="0">
                <a:solidFill>
                  <a:srgbClr val="7E948F"/>
                </a:solidFill>
                <a:latin typeface="Calibri" pitchFamily="34" charset="0"/>
                <a:ea typeface="Calibri" pitchFamily="34" charset="-122"/>
                <a:cs typeface="Calibri" pitchFamily="34" charset="-120"/>
              </a:rPr>
              <a:t>What a shareholder sees: the live demo account</a:t>
            </a:r>
            <a:endParaRPr lang="en-US" sz="1150" dirty="0"/>
          </a:p>
        </p:txBody>
      </p:sp>
      <p:sp>
        <p:nvSpPr>
          <p:cNvPr id="38" name="Text 30"/>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5 / 13   ·   UNDERSTAND IT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 fair value you can trace, approved by a person.</a:t>
            </a:r>
            <a:endParaRPr lang="en-US" sz="3000" dirty="0"/>
          </a:p>
        </p:txBody>
      </p:sp>
      <p:sp>
        <p:nvSpPr>
          <p:cNvPr id="4" name="Shape 2"/>
          <p:cNvSpPr/>
          <p:nvPr/>
        </p:nvSpPr>
        <p:spPr>
          <a:xfrm>
            <a:off x="466344" y="1563624"/>
            <a:ext cx="6839712" cy="4576572"/>
          </a:xfrm>
          <a:prstGeom prst="roundRect">
            <a:avLst>
              <a:gd name="adj" fmla="val 1399"/>
            </a:avLst>
          </a:prstGeom>
          <a:solidFill>
            <a:srgbClr val="D9DFDD"/>
          </a:solidFill>
          <a:ln w="12700">
            <a:solidFill>
              <a:srgbClr val="D9DFDD"/>
            </a:solidFill>
            <a:prstDash val="solid"/>
          </a:ln>
          <a:effectLst>
            <a:outerShdw sx="100000" sy="100000" kx="0" ky="0" algn="bl" rotWithShape="0" blurRad="203200" dist="76200" dir="5400000">
              <a:srgbClr val="000000">
                <a:alpha val="55000"/>
              </a:srgbClr>
            </a:outerShdw>
          </a:effectLst>
        </p:spPr>
      </p:sp>
      <p:sp>
        <p:nvSpPr>
          <p:cNvPr id="5" name="Shape 3"/>
          <p:cNvSpPr/>
          <p:nvPr/>
        </p:nvSpPr>
        <p:spPr>
          <a:xfrm>
            <a:off x="502920" y="1600200"/>
            <a:ext cx="6766560" cy="274320"/>
          </a:xfrm>
          <a:prstGeom prst="rect">
            <a:avLst/>
          </a:prstGeom>
          <a:solidFill>
            <a:srgbClr val="ECEFEE"/>
          </a:solidFill>
          <a:ln w="12700">
            <a:solidFill>
              <a:srgbClr val="ECEFEE"/>
            </a:solidFill>
            <a:prstDash val="solid"/>
          </a:ln>
        </p:spPr>
      </p:sp>
      <p:sp>
        <p:nvSpPr>
          <p:cNvPr id="6" name="Shape 4"/>
          <p:cNvSpPr/>
          <p:nvPr/>
        </p:nvSpPr>
        <p:spPr>
          <a:xfrm>
            <a:off x="612648" y="1687068"/>
            <a:ext cx="100584" cy="100584"/>
          </a:xfrm>
          <a:prstGeom prst="ellipse">
            <a:avLst/>
          </a:prstGeom>
          <a:solidFill>
            <a:srgbClr val="FF5F57"/>
          </a:solidFill>
          <a:ln w="12700">
            <a:solidFill>
              <a:srgbClr val="FF5F57"/>
            </a:solidFill>
            <a:prstDash val="solid"/>
          </a:ln>
        </p:spPr>
      </p:sp>
      <p:sp>
        <p:nvSpPr>
          <p:cNvPr id="7" name="Shape 5"/>
          <p:cNvSpPr/>
          <p:nvPr/>
        </p:nvSpPr>
        <p:spPr>
          <a:xfrm>
            <a:off x="768096" y="1687068"/>
            <a:ext cx="100584" cy="100584"/>
          </a:xfrm>
          <a:prstGeom prst="ellipse">
            <a:avLst/>
          </a:prstGeom>
          <a:solidFill>
            <a:srgbClr val="FEBC2E"/>
          </a:solidFill>
          <a:ln w="12700">
            <a:solidFill>
              <a:srgbClr val="FEBC2E"/>
            </a:solidFill>
            <a:prstDash val="solid"/>
          </a:ln>
        </p:spPr>
      </p:sp>
      <p:sp>
        <p:nvSpPr>
          <p:cNvPr id="8" name="Shape 6"/>
          <p:cNvSpPr/>
          <p:nvPr/>
        </p:nvSpPr>
        <p:spPr>
          <a:xfrm>
            <a:off x="923544" y="1687068"/>
            <a:ext cx="100584" cy="100584"/>
          </a:xfrm>
          <a:prstGeom prst="ellipse">
            <a:avLst/>
          </a:prstGeom>
          <a:solidFill>
            <a:srgbClr val="28C840"/>
          </a:solidFill>
          <a:ln w="12700">
            <a:solidFill>
              <a:srgbClr val="28C840"/>
            </a:solidFill>
            <a:prstDash val="solid"/>
          </a:ln>
        </p:spPr>
      </p:sp>
      <p:sp>
        <p:nvSpPr>
          <p:cNvPr id="9" name="Shape 7"/>
          <p:cNvSpPr/>
          <p:nvPr/>
        </p:nvSpPr>
        <p:spPr>
          <a:xfrm>
            <a:off x="1143000" y="1645920"/>
            <a:ext cx="3840480" cy="182880"/>
          </a:xfrm>
          <a:prstGeom prst="roundRect">
            <a:avLst>
              <a:gd name="adj" fmla="val 25000"/>
            </a:avLst>
          </a:prstGeom>
          <a:solidFill>
            <a:srgbClr val="FFFFFF"/>
          </a:solidFill>
          <a:ln w="12700">
            <a:solidFill>
              <a:srgbClr val="D9DFDD"/>
            </a:solidFill>
            <a:prstDash val="solid"/>
          </a:ln>
        </p:spPr>
      </p:sp>
      <p:sp>
        <p:nvSpPr>
          <p:cNvPr id="10" name="Text 8"/>
          <p:cNvSpPr txBox="1"/>
          <p:nvPr/>
        </p:nvSpPr>
        <p:spPr>
          <a:xfrm>
            <a:off x="1234440" y="1645920"/>
            <a:ext cx="3657600" cy="182880"/>
          </a:xfrm>
          <a:prstGeom prst="rect">
            <a:avLst/>
          </a:prstGeom>
          <a:noFill/>
          <a:ln/>
        </p:spPr>
        <p:txBody>
          <a:bodyPr wrap="square" lIns="0" tIns="0" rIns="0" bIns="0" rtlCol="0" anchor="ctr"/>
          <a:lstStyle/>
          <a:p>
            <a:pPr indent="0" marL="0">
              <a:buNone/>
            </a:pPr>
            <a:r>
              <a:rPr lang="en-US" sz="850" dirty="0">
                <a:solidFill>
                  <a:srgbClr val="4A5A56"/>
                </a:solidFill>
                <a:latin typeface="Calibri" pitchFamily="34" charset="0"/>
                <a:ea typeface="Calibri" pitchFamily="34" charset="-122"/>
                <a:cs typeface="Calibri" pitchFamily="34" charset="-120"/>
              </a:rPr>
              <a:t>eth.blockid.au/v/be5a8a832b474459/report  ·  Canva</a:t>
            </a:r>
            <a:endParaRPr lang="en-US" sz="850" dirty="0"/>
          </a:p>
        </p:txBody>
      </p:sp>
      <p:pic>
        <p:nvPicPr>
          <p:cNvPr id="11" name="Image 0" descr="preencoded.png">    </p:cNvPr>
          <p:cNvPicPr>
            <a:picLocks noChangeAspect="1"/>
          </p:cNvPicPr>
          <p:nvPr/>
        </p:nvPicPr>
        <p:blipFill>
          <a:blip r:embed="rId1"/>
          <a:stretch>
            <a:fillRect/>
          </a:stretch>
        </p:blipFill>
        <p:spPr>
          <a:xfrm>
            <a:off x="502920" y="1874520"/>
            <a:ext cx="6766560" cy="4229100"/>
          </a:xfrm>
          <a:prstGeom prst="rect">
            <a:avLst/>
          </a:prstGeom>
        </p:spPr>
      </p:pic>
      <p:sp>
        <p:nvSpPr>
          <p:cNvPr id="12" name="Shape 9"/>
          <p:cNvSpPr/>
          <p:nvPr/>
        </p:nvSpPr>
        <p:spPr>
          <a:xfrm>
            <a:off x="7498080" y="1600200"/>
            <a:ext cx="4206240" cy="4617720"/>
          </a:xfrm>
          <a:prstGeom prst="roundRect">
            <a:avLst>
              <a:gd name="adj" fmla="val 2609"/>
            </a:avLst>
          </a:prstGeom>
          <a:solidFill>
            <a:srgbClr val="12201D"/>
          </a:solidFill>
          <a:ln w="12700">
            <a:solidFill>
              <a:srgbClr val="25403A"/>
            </a:solidFill>
            <a:prstDash val="solid"/>
          </a:ln>
        </p:spPr>
      </p:sp>
      <p:sp>
        <p:nvSpPr>
          <p:cNvPr id="13" name="Shape 10"/>
          <p:cNvSpPr/>
          <p:nvPr/>
        </p:nvSpPr>
        <p:spPr>
          <a:xfrm>
            <a:off x="7726680" y="1920240"/>
            <a:ext cx="146304" cy="146304"/>
          </a:xfrm>
          <a:prstGeom prst="ellipse">
            <a:avLst/>
          </a:prstGeom>
          <a:solidFill>
            <a:srgbClr val="22A07F"/>
          </a:solidFill>
          <a:ln w="12700">
            <a:solidFill>
              <a:srgbClr val="22A07F"/>
            </a:solidFill>
            <a:prstDash val="solid"/>
          </a:ln>
        </p:spPr>
      </p:sp>
      <p:sp>
        <p:nvSpPr>
          <p:cNvPr id="14" name="Text 11"/>
          <p:cNvSpPr txBox="1"/>
          <p:nvPr/>
        </p:nvSpPr>
        <p:spPr>
          <a:xfrm>
            <a:off x="8019288" y="182880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Paste a website. Get a plain report in minutes.</a:t>
            </a:r>
            <a:endParaRPr lang="en-US" sz="1600" dirty="0"/>
          </a:p>
        </p:txBody>
      </p:sp>
      <p:sp>
        <p:nvSpPr>
          <p:cNvPr id="15" name="Shape 12"/>
          <p:cNvSpPr/>
          <p:nvPr/>
        </p:nvSpPr>
        <p:spPr>
          <a:xfrm>
            <a:off x="7726680" y="2651760"/>
            <a:ext cx="146304" cy="146304"/>
          </a:xfrm>
          <a:prstGeom prst="ellipse">
            <a:avLst/>
          </a:prstGeom>
          <a:solidFill>
            <a:srgbClr val="22A07F"/>
          </a:solidFill>
          <a:ln w="12700">
            <a:solidFill>
              <a:srgbClr val="22A07F"/>
            </a:solidFill>
            <a:prstDash val="solid"/>
          </a:ln>
        </p:spPr>
      </p:sp>
      <p:sp>
        <p:nvSpPr>
          <p:cNvPr id="16" name="Text 13"/>
          <p:cNvSpPr txBox="1"/>
          <p:nvPr/>
        </p:nvSpPr>
        <p:spPr>
          <a:xfrm>
            <a:off x="8019288" y="256032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Clear business score A–E and a low · mid · high value.</a:t>
            </a:r>
            <a:endParaRPr lang="en-US" sz="1600" dirty="0"/>
          </a:p>
        </p:txBody>
      </p:sp>
      <p:sp>
        <p:nvSpPr>
          <p:cNvPr id="17" name="Shape 14"/>
          <p:cNvSpPr/>
          <p:nvPr/>
        </p:nvSpPr>
        <p:spPr>
          <a:xfrm>
            <a:off x="7726680" y="3383280"/>
            <a:ext cx="146304" cy="146304"/>
          </a:xfrm>
          <a:prstGeom prst="ellipse">
            <a:avLst/>
          </a:prstGeom>
          <a:solidFill>
            <a:srgbClr val="22A07F"/>
          </a:solidFill>
          <a:ln w="12700">
            <a:solidFill>
              <a:srgbClr val="22A07F"/>
            </a:solidFill>
            <a:prstDash val="solid"/>
          </a:ln>
        </p:spPr>
      </p:sp>
      <p:sp>
        <p:nvSpPr>
          <p:cNvPr id="18" name="Text 15"/>
          <p:cNvSpPr txBox="1"/>
          <p:nvPr/>
        </p:nvSpPr>
        <p:spPr>
          <a:xfrm>
            <a:off x="8019288" y="329184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Every figure links to its source. No source, no number.</a:t>
            </a:r>
            <a:endParaRPr lang="en-US" sz="1600" dirty="0"/>
          </a:p>
        </p:txBody>
      </p:sp>
      <p:sp>
        <p:nvSpPr>
          <p:cNvPr id="19" name="Shape 16"/>
          <p:cNvSpPr/>
          <p:nvPr/>
        </p:nvSpPr>
        <p:spPr>
          <a:xfrm>
            <a:off x="7726680" y="4114800"/>
            <a:ext cx="146304" cy="146304"/>
          </a:xfrm>
          <a:prstGeom prst="ellipse">
            <a:avLst/>
          </a:prstGeom>
          <a:solidFill>
            <a:srgbClr val="22A07F"/>
          </a:solidFill>
          <a:ln w="12700">
            <a:solidFill>
              <a:srgbClr val="22A07F"/>
            </a:solidFill>
            <a:prstDash val="solid"/>
          </a:ln>
        </p:spPr>
      </p:sp>
      <p:sp>
        <p:nvSpPr>
          <p:cNvPr id="20" name="Text 17"/>
          <p:cNvSpPr txBox="1"/>
          <p:nvPr/>
        </p:nvSpPr>
        <p:spPr>
          <a:xfrm>
            <a:off x="8019288" y="402336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A person checks and approves before anyone sees it.</a:t>
            </a:r>
            <a:endParaRPr lang="en-US" sz="1600" dirty="0"/>
          </a:p>
        </p:txBody>
      </p:sp>
      <p:sp>
        <p:nvSpPr>
          <p:cNvPr id="21" name="Text 18"/>
          <p:cNvSpPr txBox="1"/>
          <p:nvPr/>
        </p:nvSpPr>
        <p:spPr>
          <a:xfrm>
            <a:off x="7726680" y="4983480"/>
            <a:ext cx="3840480" cy="822960"/>
          </a:xfrm>
          <a:prstGeom prst="rect">
            <a:avLst/>
          </a:prstGeom>
          <a:noFill/>
          <a:ln/>
        </p:spPr>
        <p:txBody>
          <a:bodyPr wrap="square" lIns="0" tIns="0" rIns="0" bIns="0" rtlCol="0" anchor="ctr"/>
          <a:lstStyle/>
          <a:p>
            <a:pPr indent="0" marL="0">
              <a:buNone/>
            </a:pPr>
            <a:r>
              <a:rPr lang="en-US" sz="1500" b="1" dirty="0">
                <a:solidFill>
                  <a:srgbClr val="E3A83A"/>
                </a:solidFill>
                <a:latin typeface="Calibri" pitchFamily="34" charset="0"/>
                <a:ea typeface="Calibri" pitchFamily="34" charset="-122"/>
                <a:cs typeface="Calibri" pitchFamily="34" charset="-120"/>
              </a:rPr>
              <a:t>Canva: A$64B mid value, every source listed, approved by a person.</a:t>
            </a:r>
            <a:endParaRPr lang="en-US" sz="1500" dirty="0"/>
          </a:p>
        </p:txBody>
      </p:sp>
      <p:sp>
        <p:nvSpPr>
          <p:cNvPr id="22" name="Text 1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9B7BD4"/>
                </a:solidFill>
                <a:latin typeface="Calibri" pitchFamily="34" charset="0"/>
                <a:ea typeface="Calibri" pitchFamily="34" charset="-122"/>
                <a:cs typeface="Calibri" pitchFamily="34" charset="-120"/>
              </a:rPr>
              <a:t>6 / 13   ·   OWN IT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Your shares are on the record. The record is your proof.</a:t>
            </a:r>
            <a:endParaRPr lang="en-US" sz="3000" dirty="0"/>
          </a:p>
        </p:txBody>
      </p:sp>
      <p:sp>
        <p:nvSpPr>
          <p:cNvPr id="4" name="Shape 2"/>
          <p:cNvSpPr/>
          <p:nvPr/>
        </p:nvSpPr>
        <p:spPr>
          <a:xfrm>
            <a:off x="466344" y="1563624"/>
            <a:ext cx="6153912" cy="4147947"/>
          </a:xfrm>
          <a:prstGeom prst="roundRect">
            <a:avLst>
              <a:gd name="adj" fmla="val 1543"/>
            </a:avLst>
          </a:prstGeom>
          <a:solidFill>
            <a:srgbClr val="D9DFDD"/>
          </a:solidFill>
          <a:ln w="12700">
            <a:solidFill>
              <a:srgbClr val="D9DFDD"/>
            </a:solidFill>
            <a:prstDash val="solid"/>
          </a:ln>
          <a:effectLst>
            <a:outerShdw sx="100000" sy="100000" kx="0" ky="0" algn="bl" rotWithShape="0" blurRad="203200" dist="76200" dir="5400000">
              <a:srgbClr val="000000">
                <a:alpha val="55000"/>
              </a:srgbClr>
            </a:outerShdw>
          </a:effectLst>
        </p:spPr>
      </p:sp>
      <p:sp>
        <p:nvSpPr>
          <p:cNvPr id="5" name="Shape 3"/>
          <p:cNvSpPr/>
          <p:nvPr/>
        </p:nvSpPr>
        <p:spPr>
          <a:xfrm>
            <a:off x="502920" y="1600200"/>
            <a:ext cx="6080760" cy="274320"/>
          </a:xfrm>
          <a:prstGeom prst="rect">
            <a:avLst/>
          </a:prstGeom>
          <a:solidFill>
            <a:srgbClr val="ECEFEE"/>
          </a:solidFill>
          <a:ln w="12700">
            <a:solidFill>
              <a:srgbClr val="ECEFEE"/>
            </a:solidFill>
            <a:prstDash val="solid"/>
          </a:ln>
        </p:spPr>
      </p:sp>
      <p:sp>
        <p:nvSpPr>
          <p:cNvPr id="6" name="Shape 4"/>
          <p:cNvSpPr/>
          <p:nvPr/>
        </p:nvSpPr>
        <p:spPr>
          <a:xfrm>
            <a:off x="612648" y="1687068"/>
            <a:ext cx="100584" cy="100584"/>
          </a:xfrm>
          <a:prstGeom prst="ellipse">
            <a:avLst/>
          </a:prstGeom>
          <a:solidFill>
            <a:srgbClr val="FF5F57"/>
          </a:solidFill>
          <a:ln w="12700">
            <a:solidFill>
              <a:srgbClr val="FF5F57"/>
            </a:solidFill>
            <a:prstDash val="solid"/>
          </a:ln>
        </p:spPr>
      </p:sp>
      <p:sp>
        <p:nvSpPr>
          <p:cNvPr id="7" name="Shape 5"/>
          <p:cNvSpPr/>
          <p:nvPr/>
        </p:nvSpPr>
        <p:spPr>
          <a:xfrm>
            <a:off x="768096" y="1687068"/>
            <a:ext cx="100584" cy="100584"/>
          </a:xfrm>
          <a:prstGeom prst="ellipse">
            <a:avLst/>
          </a:prstGeom>
          <a:solidFill>
            <a:srgbClr val="FEBC2E"/>
          </a:solidFill>
          <a:ln w="12700">
            <a:solidFill>
              <a:srgbClr val="FEBC2E"/>
            </a:solidFill>
            <a:prstDash val="solid"/>
          </a:ln>
        </p:spPr>
      </p:sp>
      <p:sp>
        <p:nvSpPr>
          <p:cNvPr id="8" name="Shape 6"/>
          <p:cNvSpPr/>
          <p:nvPr/>
        </p:nvSpPr>
        <p:spPr>
          <a:xfrm>
            <a:off x="923544" y="1687068"/>
            <a:ext cx="100584" cy="100584"/>
          </a:xfrm>
          <a:prstGeom prst="ellipse">
            <a:avLst/>
          </a:prstGeom>
          <a:solidFill>
            <a:srgbClr val="28C840"/>
          </a:solidFill>
          <a:ln w="12700">
            <a:solidFill>
              <a:srgbClr val="28C840"/>
            </a:solidFill>
            <a:prstDash val="solid"/>
          </a:ln>
        </p:spPr>
      </p:sp>
      <p:sp>
        <p:nvSpPr>
          <p:cNvPr id="9" name="Shape 7"/>
          <p:cNvSpPr/>
          <p:nvPr/>
        </p:nvSpPr>
        <p:spPr>
          <a:xfrm>
            <a:off x="1143000" y="1645920"/>
            <a:ext cx="3840480" cy="182880"/>
          </a:xfrm>
          <a:prstGeom prst="roundRect">
            <a:avLst>
              <a:gd name="adj" fmla="val 25000"/>
            </a:avLst>
          </a:prstGeom>
          <a:solidFill>
            <a:srgbClr val="FFFFFF"/>
          </a:solidFill>
          <a:ln w="12700">
            <a:solidFill>
              <a:srgbClr val="D9DFDD"/>
            </a:solidFill>
            <a:prstDash val="solid"/>
          </a:ln>
        </p:spPr>
      </p:sp>
      <p:sp>
        <p:nvSpPr>
          <p:cNvPr id="10" name="Text 8"/>
          <p:cNvSpPr txBox="1"/>
          <p:nvPr/>
        </p:nvSpPr>
        <p:spPr>
          <a:xfrm>
            <a:off x="1234440" y="1645920"/>
            <a:ext cx="3657600" cy="182880"/>
          </a:xfrm>
          <a:prstGeom prst="rect">
            <a:avLst/>
          </a:prstGeom>
          <a:noFill/>
          <a:ln/>
        </p:spPr>
        <p:txBody>
          <a:bodyPr wrap="square" lIns="0" tIns="0" rIns="0" bIns="0" rtlCol="0" anchor="ctr"/>
          <a:lstStyle/>
          <a:p>
            <a:pPr indent="0" marL="0">
              <a:buNone/>
            </a:pPr>
            <a:r>
              <a:rPr lang="en-US" sz="850" dirty="0">
                <a:solidFill>
                  <a:srgbClr val="4A5A56"/>
                </a:solidFill>
                <a:latin typeface="Calibri" pitchFamily="34" charset="0"/>
                <a:ea typeface="Calibri" pitchFamily="34" charset="-122"/>
                <a:cs typeface="Calibri" pitchFamily="34" charset="-120"/>
              </a:rPr>
              <a:t>eth.blockid.au/c/ARW/cap-table</a:t>
            </a:r>
            <a:endParaRPr lang="en-US" sz="850" dirty="0"/>
          </a:p>
        </p:txBody>
      </p:sp>
      <p:pic>
        <p:nvPicPr>
          <p:cNvPr id="11" name="Image 0" descr="preencoded.png">    </p:cNvPr>
          <p:cNvPicPr>
            <a:picLocks noChangeAspect="1"/>
          </p:cNvPicPr>
          <p:nvPr/>
        </p:nvPicPr>
        <p:blipFill>
          <a:blip r:embed="rId1"/>
          <a:stretch>
            <a:fillRect/>
          </a:stretch>
        </p:blipFill>
        <p:spPr>
          <a:xfrm>
            <a:off x="502920" y="1874520"/>
            <a:ext cx="6080760" cy="3800475"/>
          </a:xfrm>
          <a:prstGeom prst="rect">
            <a:avLst/>
          </a:prstGeom>
        </p:spPr>
      </p:pic>
      <p:sp>
        <p:nvSpPr>
          <p:cNvPr id="12" name="Shape 9"/>
          <p:cNvSpPr/>
          <p:nvPr/>
        </p:nvSpPr>
        <p:spPr>
          <a:xfrm>
            <a:off x="6766560" y="1600200"/>
            <a:ext cx="4937760" cy="4617720"/>
          </a:xfrm>
          <a:prstGeom prst="roundRect">
            <a:avLst>
              <a:gd name="adj" fmla="val 2376"/>
            </a:avLst>
          </a:prstGeom>
          <a:solidFill>
            <a:srgbClr val="12201D"/>
          </a:solidFill>
          <a:ln w="12700">
            <a:solidFill>
              <a:srgbClr val="25403A"/>
            </a:solidFill>
            <a:prstDash val="solid"/>
          </a:ln>
        </p:spPr>
      </p:sp>
      <p:sp>
        <p:nvSpPr>
          <p:cNvPr id="13" name="Shape 10"/>
          <p:cNvSpPr/>
          <p:nvPr/>
        </p:nvSpPr>
        <p:spPr>
          <a:xfrm>
            <a:off x="6995160" y="1920240"/>
            <a:ext cx="146304" cy="146304"/>
          </a:xfrm>
          <a:prstGeom prst="ellipse">
            <a:avLst/>
          </a:prstGeom>
          <a:solidFill>
            <a:srgbClr val="9B7BD4"/>
          </a:solidFill>
          <a:ln w="12700">
            <a:solidFill>
              <a:srgbClr val="9B7BD4"/>
            </a:solidFill>
            <a:prstDash val="solid"/>
          </a:ln>
        </p:spPr>
      </p:sp>
      <p:sp>
        <p:nvSpPr>
          <p:cNvPr id="14" name="Text 11"/>
          <p:cNvSpPr txBox="1"/>
          <p:nvPr/>
        </p:nvSpPr>
        <p:spPr>
          <a:xfrm>
            <a:off x="7287768" y="182880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Every holder, wallet and share count in one share register.</a:t>
            </a:r>
            <a:endParaRPr lang="en-US" sz="1600" dirty="0"/>
          </a:p>
        </p:txBody>
      </p:sp>
      <p:sp>
        <p:nvSpPr>
          <p:cNvPr id="15" name="Shape 12"/>
          <p:cNvSpPr/>
          <p:nvPr/>
        </p:nvSpPr>
        <p:spPr>
          <a:xfrm>
            <a:off x="6995160" y="2651760"/>
            <a:ext cx="146304" cy="146304"/>
          </a:xfrm>
          <a:prstGeom prst="ellipse">
            <a:avLst/>
          </a:prstGeom>
          <a:solidFill>
            <a:srgbClr val="9B7BD4"/>
          </a:solidFill>
          <a:ln w="12700">
            <a:solidFill>
              <a:srgbClr val="9B7BD4"/>
            </a:solidFill>
            <a:prstDash val="solid"/>
          </a:ln>
        </p:spPr>
      </p:sp>
      <p:sp>
        <p:nvSpPr>
          <p:cNvPr id="16" name="Text 13"/>
          <p:cNvSpPr txBox="1"/>
          <p:nvPr/>
        </p:nvSpPr>
        <p:spPr>
          <a:xfrm>
            <a:off x="7287768" y="256032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Recorded on blockchain and copied to two public blockchains.</a:t>
            </a:r>
            <a:endParaRPr lang="en-US" sz="1600" dirty="0"/>
          </a:p>
        </p:txBody>
      </p:sp>
      <p:sp>
        <p:nvSpPr>
          <p:cNvPr id="17" name="Shape 14"/>
          <p:cNvSpPr/>
          <p:nvPr/>
        </p:nvSpPr>
        <p:spPr>
          <a:xfrm>
            <a:off x="6995160" y="3383280"/>
            <a:ext cx="146304" cy="146304"/>
          </a:xfrm>
          <a:prstGeom prst="ellipse">
            <a:avLst/>
          </a:prstGeom>
          <a:solidFill>
            <a:srgbClr val="9B7BD4"/>
          </a:solidFill>
          <a:ln w="12700">
            <a:solidFill>
              <a:srgbClr val="9B7BD4"/>
            </a:solidFill>
            <a:prstDash val="solid"/>
          </a:ln>
        </p:spPr>
      </p:sp>
      <p:sp>
        <p:nvSpPr>
          <p:cNvPr id="18" name="Text 15"/>
          <p:cNvSpPr txBox="1"/>
          <p:nvPr/>
        </p:nvSpPr>
        <p:spPr>
          <a:xfrm>
            <a:off x="7287768" y="329184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New shares need a person's approval — you see the dilution first.</a:t>
            </a:r>
            <a:endParaRPr lang="en-US" sz="1600" dirty="0"/>
          </a:p>
        </p:txBody>
      </p:sp>
      <p:sp>
        <p:nvSpPr>
          <p:cNvPr id="19" name="Shape 16"/>
          <p:cNvSpPr/>
          <p:nvPr/>
        </p:nvSpPr>
        <p:spPr>
          <a:xfrm>
            <a:off x="6995160" y="4114800"/>
            <a:ext cx="146304" cy="146304"/>
          </a:xfrm>
          <a:prstGeom prst="ellipse">
            <a:avLst/>
          </a:prstGeom>
          <a:solidFill>
            <a:srgbClr val="9B7BD4"/>
          </a:solidFill>
          <a:ln w="12700">
            <a:solidFill>
              <a:srgbClr val="9B7BD4"/>
            </a:solidFill>
            <a:prstDash val="solid"/>
          </a:ln>
        </p:spPr>
      </p:sp>
      <p:sp>
        <p:nvSpPr>
          <p:cNvPr id="20" name="Text 17"/>
          <p:cNvSpPr txBox="1"/>
          <p:nvPr/>
        </p:nvSpPr>
        <p:spPr>
          <a:xfrm>
            <a:off x="7287768" y="402336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Hold your shares in your own wallet, or sign in with Google.</a:t>
            </a:r>
            <a:endParaRPr lang="en-US" sz="1600" dirty="0"/>
          </a:p>
        </p:txBody>
      </p:sp>
      <p:sp>
        <p:nvSpPr>
          <p:cNvPr id="21" name="Text 18"/>
          <p:cNvSpPr txBox="1"/>
          <p:nvPr/>
        </p:nvSpPr>
        <p:spPr>
          <a:xfrm>
            <a:off x="6995160" y="5029200"/>
            <a:ext cx="4572000" cy="731520"/>
          </a:xfrm>
          <a:prstGeom prst="rect">
            <a:avLst/>
          </a:prstGeom>
          <a:noFill/>
          <a:ln/>
        </p:spPr>
        <p:txBody>
          <a:bodyPr wrap="square" lIns="0" tIns="0" rIns="0" bIns="0" rtlCol="0" anchor="ctr"/>
          <a:lstStyle/>
          <a:p>
            <a:pPr indent="0" marL="0">
              <a:buNone/>
            </a:pPr>
            <a:r>
              <a:rPr lang="en-US" sz="1500" b="1" dirty="0">
                <a:solidFill>
                  <a:srgbClr val="E3A83A"/>
                </a:solidFill>
                <a:latin typeface="Calibri" pitchFamily="34" charset="0"/>
                <a:ea typeface="Calibri" pitchFamily="34" charset="-122"/>
                <a:cs typeface="Calibri" pitchFamily="34" charset="-120"/>
              </a:rPr>
              <a:t>14 sample listings · 42 share records on blockchain</a:t>
            </a:r>
            <a:endParaRPr lang="en-US" sz="1500" dirty="0"/>
          </a:p>
        </p:txBody>
      </p:sp>
      <p:sp>
        <p:nvSpPr>
          <p:cNvPr id="22" name="Text 1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7 / 13   ·   FOLLOW IT · GET PAID</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Same update for everyone. Dividends to your wallet.</a:t>
            </a:r>
            <a:endParaRPr lang="en-US" sz="3000" dirty="0"/>
          </a:p>
        </p:txBody>
      </p:sp>
      <p:sp>
        <p:nvSpPr>
          <p:cNvPr id="4" name="Shape 2"/>
          <p:cNvSpPr/>
          <p:nvPr/>
        </p:nvSpPr>
        <p:spPr>
          <a:xfrm>
            <a:off x="466344" y="1609344"/>
            <a:ext cx="4736592" cy="3262122"/>
          </a:xfrm>
          <a:prstGeom prst="roundRect">
            <a:avLst>
              <a:gd name="adj" fmla="val 1962"/>
            </a:avLst>
          </a:prstGeom>
          <a:solidFill>
            <a:srgbClr val="D9DFDD"/>
          </a:solidFill>
          <a:ln w="12700">
            <a:solidFill>
              <a:srgbClr val="D9DFDD"/>
            </a:solidFill>
            <a:prstDash val="solid"/>
          </a:ln>
          <a:effectLst>
            <a:outerShdw sx="100000" sy="100000" kx="0" ky="0" algn="bl" rotWithShape="0" blurRad="203200" dist="76200" dir="5400000">
              <a:srgbClr val="000000">
                <a:alpha val="55000"/>
              </a:srgbClr>
            </a:outerShdw>
          </a:effectLst>
        </p:spPr>
      </p:sp>
      <p:sp>
        <p:nvSpPr>
          <p:cNvPr id="5" name="Shape 3"/>
          <p:cNvSpPr/>
          <p:nvPr/>
        </p:nvSpPr>
        <p:spPr>
          <a:xfrm>
            <a:off x="502920" y="1645920"/>
            <a:ext cx="4663440" cy="274320"/>
          </a:xfrm>
          <a:prstGeom prst="rect">
            <a:avLst/>
          </a:prstGeom>
          <a:solidFill>
            <a:srgbClr val="ECEFEE"/>
          </a:solidFill>
          <a:ln w="12700">
            <a:solidFill>
              <a:srgbClr val="ECEFEE"/>
            </a:solidFill>
            <a:prstDash val="solid"/>
          </a:ln>
        </p:spPr>
      </p:sp>
      <p:sp>
        <p:nvSpPr>
          <p:cNvPr id="6" name="Shape 4"/>
          <p:cNvSpPr/>
          <p:nvPr/>
        </p:nvSpPr>
        <p:spPr>
          <a:xfrm>
            <a:off x="612648" y="1732788"/>
            <a:ext cx="100584" cy="100584"/>
          </a:xfrm>
          <a:prstGeom prst="ellipse">
            <a:avLst/>
          </a:prstGeom>
          <a:solidFill>
            <a:srgbClr val="FF5F57"/>
          </a:solidFill>
          <a:ln w="12700">
            <a:solidFill>
              <a:srgbClr val="FF5F57"/>
            </a:solidFill>
            <a:prstDash val="solid"/>
          </a:ln>
        </p:spPr>
      </p:sp>
      <p:sp>
        <p:nvSpPr>
          <p:cNvPr id="7" name="Shape 5"/>
          <p:cNvSpPr/>
          <p:nvPr/>
        </p:nvSpPr>
        <p:spPr>
          <a:xfrm>
            <a:off x="768096" y="1732788"/>
            <a:ext cx="100584" cy="100584"/>
          </a:xfrm>
          <a:prstGeom prst="ellipse">
            <a:avLst/>
          </a:prstGeom>
          <a:solidFill>
            <a:srgbClr val="FEBC2E"/>
          </a:solidFill>
          <a:ln w="12700">
            <a:solidFill>
              <a:srgbClr val="FEBC2E"/>
            </a:solidFill>
            <a:prstDash val="solid"/>
          </a:ln>
        </p:spPr>
      </p:sp>
      <p:sp>
        <p:nvSpPr>
          <p:cNvPr id="8" name="Shape 6"/>
          <p:cNvSpPr/>
          <p:nvPr/>
        </p:nvSpPr>
        <p:spPr>
          <a:xfrm>
            <a:off x="923544" y="1732788"/>
            <a:ext cx="100584" cy="100584"/>
          </a:xfrm>
          <a:prstGeom prst="ellipse">
            <a:avLst/>
          </a:prstGeom>
          <a:solidFill>
            <a:srgbClr val="28C840"/>
          </a:solidFill>
          <a:ln w="12700">
            <a:solidFill>
              <a:srgbClr val="28C840"/>
            </a:solidFill>
            <a:prstDash val="solid"/>
          </a:ln>
        </p:spPr>
      </p:sp>
      <p:sp>
        <p:nvSpPr>
          <p:cNvPr id="9" name="Shape 7"/>
          <p:cNvSpPr/>
          <p:nvPr/>
        </p:nvSpPr>
        <p:spPr>
          <a:xfrm>
            <a:off x="1143000" y="1691640"/>
            <a:ext cx="3840480" cy="182880"/>
          </a:xfrm>
          <a:prstGeom prst="roundRect">
            <a:avLst>
              <a:gd name="adj" fmla="val 25000"/>
            </a:avLst>
          </a:prstGeom>
          <a:solidFill>
            <a:srgbClr val="FFFFFF"/>
          </a:solidFill>
          <a:ln w="12700">
            <a:solidFill>
              <a:srgbClr val="D9DFDD"/>
            </a:solidFill>
            <a:prstDash val="solid"/>
          </a:ln>
        </p:spPr>
      </p:sp>
      <p:sp>
        <p:nvSpPr>
          <p:cNvPr id="10" name="Text 8"/>
          <p:cNvSpPr txBox="1"/>
          <p:nvPr/>
        </p:nvSpPr>
        <p:spPr>
          <a:xfrm>
            <a:off x="1234440" y="1691640"/>
            <a:ext cx="3657600" cy="182880"/>
          </a:xfrm>
          <a:prstGeom prst="rect">
            <a:avLst/>
          </a:prstGeom>
          <a:noFill/>
          <a:ln/>
        </p:spPr>
        <p:txBody>
          <a:bodyPr wrap="square" lIns="0" tIns="0" rIns="0" bIns="0" rtlCol="0" anchor="ctr"/>
          <a:lstStyle/>
          <a:p>
            <a:pPr indent="0" marL="0">
              <a:buNone/>
            </a:pPr>
            <a:r>
              <a:rPr lang="en-US" sz="850" dirty="0">
                <a:solidFill>
                  <a:srgbClr val="4A5A56"/>
                </a:solidFill>
                <a:latin typeface="Calibri" pitchFamily="34" charset="0"/>
                <a:ea typeface="Calibri" pitchFamily="34" charset="-122"/>
                <a:cs typeface="Calibri" pitchFamily="34" charset="-120"/>
              </a:rPr>
              <a:t>eth.blockid.au/i/demo/EBA</a:t>
            </a:r>
            <a:endParaRPr lang="en-US" sz="850" dirty="0"/>
          </a:p>
        </p:txBody>
      </p:sp>
      <p:pic>
        <p:nvPicPr>
          <p:cNvPr id="11" name="Image 0" descr="preencoded.png">    </p:cNvPr>
          <p:cNvPicPr>
            <a:picLocks noChangeAspect="1"/>
          </p:cNvPicPr>
          <p:nvPr/>
        </p:nvPicPr>
        <p:blipFill>
          <a:blip r:embed="rId1"/>
          <a:stretch>
            <a:fillRect/>
          </a:stretch>
        </p:blipFill>
        <p:spPr>
          <a:xfrm>
            <a:off x="502920" y="1920240"/>
            <a:ext cx="4663440" cy="2914650"/>
          </a:xfrm>
          <a:prstGeom prst="rect">
            <a:avLst/>
          </a:prstGeom>
        </p:spPr>
      </p:pic>
      <p:sp>
        <p:nvSpPr>
          <p:cNvPr id="12" name="Shape 9"/>
          <p:cNvSpPr/>
          <p:nvPr/>
        </p:nvSpPr>
        <p:spPr>
          <a:xfrm>
            <a:off x="5394960" y="1645920"/>
            <a:ext cx="6309360" cy="960120"/>
          </a:xfrm>
          <a:prstGeom prst="roundRect">
            <a:avLst>
              <a:gd name="adj" fmla="val 11429"/>
            </a:avLst>
          </a:prstGeom>
          <a:solidFill>
            <a:srgbClr val="12201D"/>
          </a:solidFill>
          <a:ln w="12700">
            <a:solidFill>
              <a:srgbClr val="5D8AD6"/>
            </a:solidFill>
            <a:prstDash val="solid"/>
          </a:ln>
        </p:spPr>
      </p:sp>
      <p:sp>
        <p:nvSpPr>
          <p:cNvPr id="13" name="Shape 10"/>
          <p:cNvSpPr/>
          <p:nvPr/>
        </p:nvSpPr>
        <p:spPr>
          <a:xfrm>
            <a:off x="5577840" y="1865376"/>
            <a:ext cx="530352" cy="530352"/>
          </a:xfrm>
          <a:prstGeom prst="ellipse">
            <a:avLst/>
          </a:prstGeom>
          <a:solidFill>
            <a:srgbClr val="5D8AD6"/>
          </a:solidFill>
          <a:ln w="12700">
            <a:solidFill>
              <a:srgbClr val="5D8AD6"/>
            </a:solidFill>
            <a:prstDash val="solid"/>
          </a:ln>
        </p:spPr>
      </p:sp>
      <p:sp>
        <p:nvSpPr>
          <p:cNvPr id="14" name="Text 11"/>
          <p:cNvSpPr txBox="1"/>
          <p:nvPr/>
        </p:nvSpPr>
        <p:spPr>
          <a:xfrm>
            <a:off x="5577840" y="1865376"/>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1</a:t>
            </a:r>
            <a:endParaRPr lang="en-US" sz="1800" dirty="0"/>
          </a:p>
        </p:txBody>
      </p:sp>
      <p:sp>
        <p:nvSpPr>
          <p:cNvPr id="15" name="Text 12"/>
          <p:cNvSpPr txBox="1"/>
          <p:nvPr/>
        </p:nvSpPr>
        <p:spPr>
          <a:xfrm>
            <a:off x="6355080" y="1755648"/>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Business shares its numbers</a:t>
            </a:r>
            <a:endParaRPr lang="en-US" sz="1700" dirty="0"/>
          </a:p>
        </p:txBody>
      </p:sp>
      <p:sp>
        <p:nvSpPr>
          <p:cNvPr id="16" name="Text 13"/>
          <p:cNvSpPr txBox="1"/>
          <p:nvPr/>
        </p:nvSpPr>
        <p:spPr>
          <a:xfrm>
            <a:off x="6355080" y="2148840"/>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weekly, monthly, quarterly or yearly</a:t>
            </a:r>
            <a:endParaRPr lang="en-US" sz="1350" dirty="0"/>
          </a:p>
        </p:txBody>
      </p:sp>
      <p:sp>
        <p:nvSpPr>
          <p:cNvPr id="17" name="Shape 14"/>
          <p:cNvSpPr/>
          <p:nvPr/>
        </p:nvSpPr>
        <p:spPr>
          <a:xfrm>
            <a:off x="5394960" y="2761488"/>
            <a:ext cx="6309360" cy="960120"/>
          </a:xfrm>
          <a:prstGeom prst="roundRect">
            <a:avLst>
              <a:gd name="adj" fmla="val 11429"/>
            </a:avLst>
          </a:prstGeom>
          <a:solidFill>
            <a:srgbClr val="12201D"/>
          </a:solidFill>
          <a:ln w="12700">
            <a:solidFill>
              <a:srgbClr val="22A07F"/>
            </a:solidFill>
            <a:prstDash val="solid"/>
          </a:ln>
        </p:spPr>
      </p:sp>
      <p:sp>
        <p:nvSpPr>
          <p:cNvPr id="18" name="Shape 15"/>
          <p:cNvSpPr/>
          <p:nvPr/>
        </p:nvSpPr>
        <p:spPr>
          <a:xfrm>
            <a:off x="5577840" y="2980944"/>
            <a:ext cx="530352" cy="530352"/>
          </a:xfrm>
          <a:prstGeom prst="ellipse">
            <a:avLst/>
          </a:prstGeom>
          <a:solidFill>
            <a:srgbClr val="22A07F"/>
          </a:solidFill>
          <a:ln w="12700">
            <a:solidFill>
              <a:srgbClr val="22A07F"/>
            </a:solidFill>
            <a:prstDash val="solid"/>
          </a:ln>
        </p:spPr>
      </p:sp>
      <p:sp>
        <p:nvSpPr>
          <p:cNvPr id="19" name="Text 16"/>
          <p:cNvSpPr txBox="1"/>
          <p:nvPr/>
        </p:nvSpPr>
        <p:spPr>
          <a:xfrm>
            <a:off x="5577840" y="2980944"/>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2</a:t>
            </a:r>
            <a:endParaRPr lang="en-US" sz="1800" dirty="0"/>
          </a:p>
        </p:txBody>
      </p:sp>
      <p:sp>
        <p:nvSpPr>
          <p:cNvPr id="20" name="Text 17"/>
          <p:cNvSpPr txBox="1"/>
          <p:nvPr/>
        </p:nvSpPr>
        <p:spPr>
          <a:xfrm>
            <a:off x="6355080" y="2871216"/>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Plain-language update + fair value</a:t>
            </a:r>
            <a:endParaRPr lang="en-US" sz="1700" dirty="0"/>
          </a:p>
        </p:txBody>
      </p:sp>
      <p:sp>
        <p:nvSpPr>
          <p:cNvPr id="21" name="Text 18"/>
          <p:cNvSpPr txBox="1"/>
          <p:nvPr/>
        </p:nvSpPr>
        <p:spPr>
          <a:xfrm>
            <a:off x="6355080" y="3264408"/>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a person approves it before it goes out</a:t>
            </a:r>
            <a:endParaRPr lang="en-US" sz="1350" dirty="0"/>
          </a:p>
        </p:txBody>
      </p:sp>
      <p:sp>
        <p:nvSpPr>
          <p:cNvPr id="22" name="Shape 19"/>
          <p:cNvSpPr/>
          <p:nvPr/>
        </p:nvSpPr>
        <p:spPr>
          <a:xfrm>
            <a:off x="5394960" y="3877056"/>
            <a:ext cx="6309360" cy="960120"/>
          </a:xfrm>
          <a:prstGeom prst="roundRect">
            <a:avLst>
              <a:gd name="adj" fmla="val 11429"/>
            </a:avLst>
          </a:prstGeom>
          <a:solidFill>
            <a:srgbClr val="12201D"/>
          </a:solidFill>
          <a:ln w="12700">
            <a:solidFill>
              <a:srgbClr val="9B7BD4"/>
            </a:solidFill>
            <a:prstDash val="solid"/>
          </a:ln>
        </p:spPr>
      </p:sp>
      <p:sp>
        <p:nvSpPr>
          <p:cNvPr id="23" name="Shape 20"/>
          <p:cNvSpPr/>
          <p:nvPr/>
        </p:nvSpPr>
        <p:spPr>
          <a:xfrm>
            <a:off x="5577840" y="4096512"/>
            <a:ext cx="530352" cy="530352"/>
          </a:xfrm>
          <a:prstGeom prst="ellipse">
            <a:avLst/>
          </a:prstGeom>
          <a:solidFill>
            <a:srgbClr val="9B7BD4"/>
          </a:solidFill>
          <a:ln w="12700">
            <a:solidFill>
              <a:srgbClr val="9B7BD4"/>
            </a:solidFill>
            <a:prstDash val="solid"/>
          </a:ln>
        </p:spPr>
      </p:sp>
      <p:sp>
        <p:nvSpPr>
          <p:cNvPr id="24" name="Text 21"/>
          <p:cNvSpPr txBox="1"/>
          <p:nvPr/>
        </p:nvSpPr>
        <p:spPr>
          <a:xfrm>
            <a:off x="5577840" y="4096512"/>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3</a:t>
            </a:r>
            <a:endParaRPr lang="en-US" sz="1800" dirty="0"/>
          </a:p>
        </p:txBody>
      </p:sp>
      <p:sp>
        <p:nvSpPr>
          <p:cNvPr id="25" name="Text 22"/>
          <p:cNvSpPr txBox="1"/>
          <p:nvPr/>
        </p:nvSpPr>
        <p:spPr>
          <a:xfrm>
            <a:off x="6355080" y="3986784"/>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Every investor gets it at once</a:t>
            </a:r>
            <a:endParaRPr lang="en-US" sz="1700" dirty="0"/>
          </a:p>
        </p:txBody>
      </p:sp>
      <p:sp>
        <p:nvSpPr>
          <p:cNvPr id="26" name="Text 23"/>
          <p:cNvSpPr txBox="1"/>
          <p:nvPr/>
        </p:nvSpPr>
        <p:spPr>
          <a:xfrm>
            <a:off x="6355080" y="4379976"/>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record stored on blockchain, anyone can check</a:t>
            </a:r>
            <a:endParaRPr lang="en-US" sz="1350" dirty="0"/>
          </a:p>
        </p:txBody>
      </p:sp>
      <p:sp>
        <p:nvSpPr>
          <p:cNvPr id="27" name="Shape 24"/>
          <p:cNvSpPr/>
          <p:nvPr/>
        </p:nvSpPr>
        <p:spPr>
          <a:xfrm>
            <a:off x="5394960" y="4992624"/>
            <a:ext cx="6309360" cy="960120"/>
          </a:xfrm>
          <a:prstGeom prst="roundRect">
            <a:avLst>
              <a:gd name="adj" fmla="val 11429"/>
            </a:avLst>
          </a:prstGeom>
          <a:solidFill>
            <a:srgbClr val="12201D"/>
          </a:solidFill>
          <a:ln w="12700">
            <a:solidFill>
              <a:srgbClr val="E3A83A"/>
            </a:solidFill>
            <a:prstDash val="solid"/>
          </a:ln>
        </p:spPr>
      </p:sp>
      <p:sp>
        <p:nvSpPr>
          <p:cNvPr id="28" name="Shape 25"/>
          <p:cNvSpPr/>
          <p:nvPr/>
        </p:nvSpPr>
        <p:spPr>
          <a:xfrm>
            <a:off x="5577840" y="5212080"/>
            <a:ext cx="530352" cy="530352"/>
          </a:xfrm>
          <a:prstGeom prst="ellipse">
            <a:avLst/>
          </a:prstGeom>
          <a:solidFill>
            <a:srgbClr val="E3A83A"/>
          </a:solidFill>
          <a:ln w="12700">
            <a:solidFill>
              <a:srgbClr val="E3A83A"/>
            </a:solidFill>
            <a:prstDash val="solid"/>
          </a:ln>
        </p:spPr>
      </p:sp>
      <p:sp>
        <p:nvSpPr>
          <p:cNvPr id="29" name="Text 26"/>
          <p:cNvSpPr txBox="1"/>
          <p:nvPr/>
        </p:nvSpPr>
        <p:spPr>
          <a:xfrm>
            <a:off x="5577840" y="5212080"/>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4</a:t>
            </a:r>
            <a:endParaRPr lang="en-US" sz="1800" dirty="0"/>
          </a:p>
        </p:txBody>
      </p:sp>
      <p:sp>
        <p:nvSpPr>
          <p:cNvPr id="30" name="Text 27"/>
          <p:cNvSpPr txBox="1"/>
          <p:nvPr/>
        </p:nvSpPr>
        <p:spPr>
          <a:xfrm>
            <a:off x="6355080" y="5102352"/>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Dividend rule approved once</a:t>
            </a:r>
            <a:endParaRPr lang="en-US" sz="1700" dirty="0"/>
          </a:p>
        </p:txBody>
      </p:sp>
      <p:sp>
        <p:nvSpPr>
          <p:cNvPr id="31" name="Text 28"/>
          <p:cNvSpPr txBox="1"/>
          <p:nvPr/>
        </p:nvSpPr>
        <p:spPr>
          <a:xfrm>
            <a:off x="6355080" y="5495544"/>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24 hours to cancel, then paid to every wallet — no fees for holders</a:t>
            </a:r>
            <a:endParaRPr lang="en-US" sz="1350" dirty="0"/>
          </a:p>
        </p:txBody>
      </p:sp>
      <p:sp>
        <p:nvSpPr>
          <p:cNvPr id="32" name="Text 2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7FE0C2"/>
                </a:solidFill>
                <a:latin typeface="Calibri" pitchFamily="34" charset="0"/>
                <a:ea typeface="Calibri" pitchFamily="34" charset="-122"/>
                <a:cs typeface="Calibri" pitchFamily="34" charset="-120"/>
              </a:rPr>
              <a:t>8 / 13   ·   CHECK IT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Don't trust us. Check it yourself, in your browser.</a:t>
            </a:r>
            <a:endParaRPr lang="en-US" sz="3000" dirty="0"/>
          </a:p>
        </p:txBody>
      </p:sp>
      <p:sp>
        <p:nvSpPr>
          <p:cNvPr id="4" name="Shape 2"/>
          <p:cNvSpPr/>
          <p:nvPr/>
        </p:nvSpPr>
        <p:spPr>
          <a:xfrm>
            <a:off x="466344" y="1609344"/>
            <a:ext cx="5513832" cy="2765552"/>
          </a:xfrm>
          <a:prstGeom prst="roundRect">
            <a:avLst>
              <a:gd name="adj" fmla="val 2314"/>
            </a:avLst>
          </a:prstGeom>
          <a:solidFill>
            <a:srgbClr val="D9DFDD"/>
          </a:solidFill>
          <a:ln w="12700">
            <a:solidFill>
              <a:srgbClr val="D9DFDD"/>
            </a:solidFill>
            <a:prstDash val="solid"/>
          </a:ln>
          <a:effectLst>
            <a:outerShdw sx="100000" sy="100000" kx="0" ky="0" algn="bl" rotWithShape="0" blurRad="203200" dist="76200" dir="5400000">
              <a:srgbClr val="000000">
                <a:alpha val="55000"/>
              </a:srgbClr>
            </a:outerShdw>
          </a:effectLst>
        </p:spPr>
      </p:sp>
      <p:sp>
        <p:nvSpPr>
          <p:cNvPr id="5" name="Shape 3"/>
          <p:cNvSpPr/>
          <p:nvPr/>
        </p:nvSpPr>
        <p:spPr>
          <a:xfrm>
            <a:off x="502920" y="1645920"/>
            <a:ext cx="5440680" cy="274320"/>
          </a:xfrm>
          <a:prstGeom prst="rect">
            <a:avLst/>
          </a:prstGeom>
          <a:solidFill>
            <a:srgbClr val="ECEFEE"/>
          </a:solidFill>
          <a:ln w="12700">
            <a:solidFill>
              <a:srgbClr val="ECEFEE"/>
            </a:solidFill>
            <a:prstDash val="solid"/>
          </a:ln>
        </p:spPr>
      </p:sp>
      <p:sp>
        <p:nvSpPr>
          <p:cNvPr id="6" name="Shape 4"/>
          <p:cNvSpPr/>
          <p:nvPr/>
        </p:nvSpPr>
        <p:spPr>
          <a:xfrm>
            <a:off x="612648" y="1732788"/>
            <a:ext cx="100584" cy="100584"/>
          </a:xfrm>
          <a:prstGeom prst="ellipse">
            <a:avLst/>
          </a:prstGeom>
          <a:solidFill>
            <a:srgbClr val="FF5F57"/>
          </a:solidFill>
          <a:ln w="12700">
            <a:solidFill>
              <a:srgbClr val="FF5F57"/>
            </a:solidFill>
            <a:prstDash val="solid"/>
          </a:ln>
        </p:spPr>
      </p:sp>
      <p:sp>
        <p:nvSpPr>
          <p:cNvPr id="7" name="Shape 5"/>
          <p:cNvSpPr/>
          <p:nvPr/>
        </p:nvSpPr>
        <p:spPr>
          <a:xfrm>
            <a:off x="768096" y="1732788"/>
            <a:ext cx="100584" cy="100584"/>
          </a:xfrm>
          <a:prstGeom prst="ellipse">
            <a:avLst/>
          </a:prstGeom>
          <a:solidFill>
            <a:srgbClr val="FEBC2E"/>
          </a:solidFill>
          <a:ln w="12700">
            <a:solidFill>
              <a:srgbClr val="FEBC2E"/>
            </a:solidFill>
            <a:prstDash val="solid"/>
          </a:ln>
        </p:spPr>
      </p:sp>
      <p:sp>
        <p:nvSpPr>
          <p:cNvPr id="8" name="Shape 6"/>
          <p:cNvSpPr/>
          <p:nvPr/>
        </p:nvSpPr>
        <p:spPr>
          <a:xfrm>
            <a:off x="923544" y="1732788"/>
            <a:ext cx="100584" cy="100584"/>
          </a:xfrm>
          <a:prstGeom prst="ellipse">
            <a:avLst/>
          </a:prstGeom>
          <a:solidFill>
            <a:srgbClr val="28C840"/>
          </a:solidFill>
          <a:ln w="12700">
            <a:solidFill>
              <a:srgbClr val="28C840"/>
            </a:solidFill>
            <a:prstDash val="solid"/>
          </a:ln>
        </p:spPr>
      </p:sp>
      <p:sp>
        <p:nvSpPr>
          <p:cNvPr id="9" name="Shape 7"/>
          <p:cNvSpPr/>
          <p:nvPr/>
        </p:nvSpPr>
        <p:spPr>
          <a:xfrm>
            <a:off x="1143000" y="1691640"/>
            <a:ext cx="3840480" cy="182880"/>
          </a:xfrm>
          <a:prstGeom prst="roundRect">
            <a:avLst>
              <a:gd name="adj" fmla="val 25000"/>
            </a:avLst>
          </a:prstGeom>
          <a:solidFill>
            <a:srgbClr val="FFFFFF"/>
          </a:solidFill>
          <a:ln w="12700">
            <a:solidFill>
              <a:srgbClr val="D9DFDD"/>
            </a:solidFill>
            <a:prstDash val="solid"/>
          </a:ln>
        </p:spPr>
      </p:sp>
      <p:sp>
        <p:nvSpPr>
          <p:cNvPr id="10" name="Text 8"/>
          <p:cNvSpPr txBox="1"/>
          <p:nvPr/>
        </p:nvSpPr>
        <p:spPr>
          <a:xfrm>
            <a:off x="1234440" y="1691640"/>
            <a:ext cx="3657600" cy="182880"/>
          </a:xfrm>
          <a:prstGeom prst="rect">
            <a:avLst/>
          </a:prstGeom>
          <a:noFill/>
          <a:ln/>
        </p:spPr>
        <p:txBody>
          <a:bodyPr wrap="square" lIns="0" tIns="0" rIns="0" bIns="0" rtlCol="0" anchor="ctr"/>
          <a:lstStyle/>
          <a:p>
            <a:pPr indent="0" marL="0">
              <a:buNone/>
            </a:pPr>
            <a:r>
              <a:rPr lang="en-US" sz="850" dirty="0">
                <a:solidFill>
                  <a:srgbClr val="4A5A56"/>
                </a:solidFill>
                <a:latin typeface="Calibri" pitchFamily="34" charset="0"/>
                <a:ea typeface="Calibri" pitchFamily="34" charset="-122"/>
                <a:cs typeface="Calibri" pitchFamily="34" charset="-120"/>
              </a:rPr>
              <a:t>eth.blockid.au/verify/EBA</a:t>
            </a:r>
            <a:endParaRPr lang="en-US" sz="850" dirty="0"/>
          </a:p>
        </p:txBody>
      </p:sp>
      <p:pic>
        <p:nvPicPr>
          <p:cNvPr id="11" name="Image 0" descr="preencoded.png">    </p:cNvPr>
          <p:cNvPicPr>
            <a:picLocks noChangeAspect="1"/>
          </p:cNvPicPr>
          <p:nvPr/>
        </p:nvPicPr>
        <p:blipFill>
          <a:blip r:embed="rId1"/>
          <a:stretch>
            <a:fillRect/>
          </a:stretch>
        </p:blipFill>
        <p:spPr>
          <a:xfrm>
            <a:off x="502920" y="1920240"/>
            <a:ext cx="5440680" cy="2418080"/>
          </a:xfrm>
          <a:prstGeom prst="rect">
            <a:avLst/>
          </a:prstGeom>
        </p:spPr>
      </p:pic>
      <p:sp>
        <p:nvSpPr>
          <p:cNvPr id="12" name="Shape 9"/>
          <p:cNvSpPr/>
          <p:nvPr/>
        </p:nvSpPr>
        <p:spPr>
          <a:xfrm>
            <a:off x="6227064" y="1609344"/>
            <a:ext cx="5513832" cy="2765552"/>
          </a:xfrm>
          <a:prstGeom prst="roundRect">
            <a:avLst>
              <a:gd name="adj" fmla="val 2314"/>
            </a:avLst>
          </a:prstGeom>
          <a:solidFill>
            <a:srgbClr val="D9DFDD"/>
          </a:solidFill>
          <a:ln w="12700">
            <a:solidFill>
              <a:srgbClr val="D9DFDD"/>
            </a:solidFill>
            <a:prstDash val="solid"/>
          </a:ln>
          <a:effectLst>
            <a:outerShdw sx="100000" sy="100000" kx="0" ky="0" algn="bl" rotWithShape="0" blurRad="203200" dist="76200" dir="5400000">
              <a:srgbClr val="000000">
                <a:alpha val="55000"/>
              </a:srgbClr>
            </a:outerShdw>
          </a:effectLst>
        </p:spPr>
      </p:sp>
      <p:sp>
        <p:nvSpPr>
          <p:cNvPr id="13" name="Shape 10"/>
          <p:cNvSpPr/>
          <p:nvPr/>
        </p:nvSpPr>
        <p:spPr>
          <a:xfrm>
            <a:off x="6263640" y="1645920"/>
            <a:ext cx="5440680" cy="274320"/>
          </a:xfrm>
          <a:prstGeom prst="rect">
            <a:avLst/>
          </a:prstGeom>
          <a:solidFill>
            <a:srgbClr val="ECEFEE"/>
          </a:solidFill>
          <a:ln w="12700">
            <a:solidFill>
              <a:srgbClr val="ECEFEE"/>
            </a:solidFill>
            <a:prstDash val="solid"/>
          </a:ln>
        </p:spPr>
      </p:sp>
      <p:sp>
        <p:nvSpPr>
          <p:cNvPr id="14" name="Shape 11"/>
          <p:cNvSpPr/>
          <p:nvPr/>
        </p:nvSpPr>
        <p:spPr>
          <a:xfrm>
            <a:off x="6373368" y="1732788"/>
            <a:ext cx="100584" cy="100584"/>
          </a:xfrm>
          <a:prstGeom prst="ellipse">
            <a:avLst/>
          </a:prstGeom>
          <a:solidFill>
            <a:srgbClr val="FF5F57"/>
          </a:solidFill>
          <a:ln w="12700">
            <a:solidFill>
              <a:srgbClr val="FF5F57"/>
            </a:solidFill>
            <a:prstDash val="solid"/>
          </a:ln>
        </p:spPr>
      </p:sp>
      <p:sp>
        <p:nvSpPr>
          <p:cNvPr id="15" name="Shape 12"/>
          <p:cNvSpPr/>
          <p:nvPr/>
        </p:nvSpPr>
        <p:spPr>
          <a:xfrm>
            <a:off x="6528816" y="1732788"/>
            <a:ext cx="100584" cy="100584"/>
          </a:xfrm>
          <a:prstGeom prst="ellipse">
            <a:avLst/>
          </a:prstGeom>
          <a:solidFill>
            <a:srgbClr val="FEBC2E"/>
          </a:solidFill>
          <a:ln w="12700">
            <a:solidFill>
              <a:srgbClr val="FEBC2E"/>
            </a:solidFill>
            <a:prstDash val="solid"/>
          </a:ln>
        </p:spPr>
      </p:sp>
      <p:sp>
        <p:nvSpPr>
          <p:cNvPr id="16" name="Shape 13"/>
          <p:cNvSpPr/>
          <p:nvPr/>
        </p:nvSpPr>
        <p:spPr>
          <a:xfrm>
            <a:off x="6684264" y="1732788"/>
            <a:ext cx="100584" cy="100584"/>
          </a:xfrm>
          <a:prstGeom prst="ellipse">
            <a:avLst/>
          </a:prstGeom>
          <a:solidFill>
            <a:srgbClr val="28C840"/>
          </a:solidFill>
          <a:ln w="12700">
            <a:solidFill>
              <a:srgbClr val="28C840"/>
            </a:solidFill>
            <a:prstDash val="solid"/>
          </a:ln>
        </p:spPr>
      </p:sp>
      <p:sp>
        <p:nvSpPr>
          <p:cNvPr id="17" name="Shape 14"/>
          <p:cNvSpPr/>
          <p:nvPr/>
        </p:nvSpPr>
        <p:spPr>
          <a:xfrm>
            <a:off x="6903720" y="1691640"/>
            <a:ext cx="3840480" cy="182880"/>
          </a:xfrm>
          <a:prstGeom prst="roundRect">
            <a:avLst>
              <a:gd name="adj" fmla="val 25000"/>
            </a:avLst>
          </a:prstGeom>
          <a:solidFill>
            <a:srgbClr val="FFFFFF"/>
          </a:solidFill>
          <a:ln w="12700">
            <a:solidFill>
              <a:srgbClr val="D9DFDD"/>
            </a:solidFill>
            <a:prstDash val="solid"/>
          </a:ln>
        </p:spPr>
      </p:sp>
      <p:sp>
        <p:nvSpPr>
          <p:cNvPr id="18" name="Text 15"/>
          <p:cNvSpPr txBox="1"/>
          <p:nvPr/>
        </p:nvSpPr>
        <p:spPr>
          <a:xfrm>
            <a:off x="6995160" y="1691640"/>
            <a:ext cx="3657600" cy="182880"/>
          </a:xfrm>
          <a:prstGeom prst="rect">
            <a:avLst/>
          </a:prstGeom>
          <a:noFill/>
          <a:ln/>
        </p:spPr>
        <p:txBody>
          <a:bodyPr wrap="square" lIns="0" tIns="0" rIns="0" bIns="0" rtlCol="0" anchor="ctr"/>
          <a:lstStyle/>
          <a:p>
            <a:pPr indent="0" marL="0">
              <a:buNone/>
            </a:pPr>
            <a:r>
              <a:rPr lang="en-US" sz="850" dirty="0">
                <a:solidFill>
                  <a:srgbClr val="4A5A56"/>
                </a:solidFill>
                <a:latin typeface="Calibri" pitchFamily="34" charset="0"/>
                <a:ea typeface="Calibri" pitchFamily="34" charset="-122"/>
                <a:cs typeface="Calibri" pitchFamily="34" charset="-120"/>
              </a:rPr>
              <a:t>eth.blockid.au/verify/EBA  ·  tamper test</a:t>
            </a:r>
            <a:endParaRPr lang="en-US" sz="850" dirty="0"/>
          </a:p>
        </p:txBody>
      </p:sp>
      <p:pic>
        <p:nvPicPr>
          <p:cNvPr id="19" name="Image 1" descr="preencoded.png">    </p:cNvPr>
          <p:cNvPicPr>
            <a:picLocks noChangeAspect="1"/>
          </p:cNvPicPr>
          <p:nvPr/>
        </p:nvPicPr>
        <p:blipFill>
          <a:blip r:embed="rId2"/>
          <a:stretch>
            <a:fillRect/>
          </a:stretch>
        </p:blipFill>
        <p:spPr>
          <a:xfrm>
            <a:off x="6263640" y="1920240"/>
            <a:ext cx="5440680" cy="2418080"/>
          </a:xfrm>
          <a:prstGeom prst="rect">
            <a:avLst/>
          </a:prstGeom>
        </p:spPr>
      </p:pic>
      <p:sp>
        <p:nvSpPr>
          <p:cNvPr id="20" name="Shape 16"/>
          <p:cNvSpPr/>
          <p:nvPr/>
        </p:nvSpPr>
        <p:spPr>
          <a:xfrm>
            <a:off x="502920" y="4658360"/>
            <a:ext cx="5440680" cy="640080"/>
          </a:xfrm>
          <a:prstGeom prst="roundRect">
            <a:avLst>
              <a:gd name="adj" fmla="val 17143"/>
            </a:avLst>
          </a:prstGeom>
          <a:solidFill>
            <a:srgbClr val="172A26"/>
          </a:solidFill>
          <a:ln w="12700">
            <a:solidFill>
              <a:srgbClr val="22A07F"/>
            </a:solidFill>
            <a:prstDash val="solid"/>
          </a:ln>
        </p:spPr>
      </p:sp>
      <p:sp>
        <p:nvSpPr>
          <p:cNvPr id="21" name="Text 17"/>
          <p:cNvSpPr txBox="1"/>
          <p:nvPr/>
        </p:nvSpPr>
        <p:spPr>
          <a:xfrm>
            <a:off x="685800" y="4658360"/>
            <a:ext cx="5120640" cy="640080"/>
          </a:xfrm>
          <a:prstGeom prst="rect">
            <a:avLst/>
          </a:prstGeom>
          <a:noFill/>
          <a:ln/>
        </p:spPr>
        <p:txBody>
          <a:bodyPr wrap="square" lIns="0" tIns="0" rIns="0" bIns="0" rtlCol="0" anchor="ctr"/>
          <a:lstStyle/>
          <a:p>
            <a:pPr indent="0" marL="0">
              <a:buNone/>
            </a:pPr>
            <a:r>
              <a:rPr lang="en-US" sz="1500" b="1" dirty="0">
                <a:solidFill>
                  <a:srgbClr val="22A07F"/>
                </a:solidFill>
                <a:latin typeface="Calibri" pitchFamily="34" charset="0"/>
                <a:ea typeface="Calibri" pitchFamily="34" charset="-122"/>
                <a:cs typeface="Calibri" pitchFamily="34" charset="-120"/>
              </a:rPr>
              <a:t>✓  The report matches the record on 3 blockchains</a:t>
            </a:r>
            <a:endParaRPr lang="en-US" sz="1500" dirty="0"/>
          </a:p>
        </p:txBody>
      </p:sp>
      <p:sp>
        <p:nvSpPr>
          <p:cNvPr id="22" name="Shape 18"/>
          <p:cNvSpPr/>
          <p:nvPr/>
        </p:nvSpPr>
        <p:spPr>
          <a:xfrm>
            <a:off x="6263640" y="4658360"/>
            <a:ext cx="5440680" cy="640080"/>
          </a:xfrm>
          <a:prstGeom prst="roundRect">
            <a:avLst>
              <a:gd name="adj" fmla="val 17143"/>
            </a:avLst>
          </a:prstGeom>
          <a:solidFill>
            <a:srgbClr val="172A26"/>
          </a:solidFill>
          <a:ln w="12700">
            <a:solidFill>
              <a:srgbClr val="E4675A"/>
            </a:solidFill>
            <a:prstDash val="solid"/>
          </a:ln>
        </p:spPr>
      </p:sp>
      <p:sp>
        <p:nvSpPr>
          <p:cNvPr id="23" name="Text 19"/>
          <p:cNvSpPr txBox="1"/>
          <p:nvPr/>
        </p:nvSpPr>
        <p:spPr>
          <a:xfrm>
            <a:off x="6446520" y="4658360"/>
            <a:ext cx="5120640" cy="640080"/>
          </a:xfrm>
          <a:prstGeom prst="rect">
            <a:avLst/>
          </a:prstGeom>
          <a:noFill/>
          <a:ln/>
        </p:spPr>
        <p:txBody>
          <a:bodyPr wrap="square" lIns="0" tIns="0" rIns="0" bIns="0" rtlCol="0" anchor="ctr"/>
          <a:lstStyle/>
          <a:p>
            <a:pPr indent="0" marL="0">
              <a:buNone/>
            </a:pPr>
            <a:r>
              <a:rPr lang="en-US" sz="1500" b="1" dirty="0">
                <a:solidFill>
                  <a:srgbClr val="E4675A"/>
                </a:solidFill>
                <a:latin typeface="Calibri" pitchFamily="34" charset="0"/>
                <a:ea typeface="Calibri" pitchFamily="34" charset="-122"/>
                <a:cs typeface="Calibri" pitchFamily="34" charset="-120"/>
              </a:rPr>
              <a:t>✗  Change one number and it turns red</a:t>
            </a:r>
            <a:endParaRPr lang="en-US" sz="1500" dirty="0"/>
          </a:p>
        </p:txBody>
      </p:sp>
      <p:sp>
        <p:nvSpPr>
          <p:cNvPr id="24" name="Shape 20"/>
          <p:cNvSpPr/>
          <p:nvPr/>
        </p:nvSpPr>
        <p:spPr>
          <a:xfrm>
            <a:off x="502920" y="5527040"/>
            <a:ext cx="3611880" cy="731520"/>
          </a:xfrm>
          <a:prstGeom prst="roundRect">
            <a:avLst>
              <a:gd name="adj" fmla="val 15000"/>
            </a:avLst>
          </a:prstGeom>
          <a:solidFill>
            <a:srgbClr val="12201D"/>
          </a:solidFill>
          <a:ln w="12700">
            <a:solidFill>
              <a:srgbClr val="25403A"/>
            </a:solidFill>
            <a:prstDash val="solid"/>
          </a:ln>
        </p:spPr>
      </p:sp>
      <p:sp>
        <p:nvSpPr>
          <p:cNvPr id="25" name="Shape 21"/>
          <p:cNvSpPr/>
          <p:nvPr/>
        </p:nvSpPr>
        <p:spPr>
          <a:xfrm>
            <a:off x="640080" y="5636768"/>
            <a:ext cx="512064" cy="512064"/>
          </a:xfrm>
          <a:prstGeom prst="ellipse">
            <a:avLst/>
          </a:prstGeom>
          <a:solidFill>
            <a:srgbClr val="5D8AD6"/>
          </a:solidFill>
          <a:ln w="12700">
            <a:solidFill>
              <a:srgbClr val="5D8AD6"/>
            </a:solidFill>
            <a:prstDash val="solid"/>
          </a:ln>
        </p:spPr>
      </p:sp>
      <p:pic>
        <p:nvPicPr>
          <p:cNvPr id="26" name="Image 2" descr="preencoded.png">    </p:cNvPr>
          <p:cNvPicPr>
            <a:picLocks noChangeAspect="1"/>
          </p:cNvPicPr>
          <p:nvPr/>
        </p:nvPicPr>
        <p:blipFill>
          <a:blip r:embed="rId3"/>
          <a:stretch>
            <a:fillRect/>
          </a:stretch>
        </p:blipFill>
        <p:spPr>
          <a:xfrm>
            <a:off x="768096" y="5764784"/>
            <a:ext cx="256032" cy="256032"/>
          </a:xfrm>
          <a:prstGeom prst="rect">
            <a:avLst/>
          </a:prstGeom>
        </p:spPr>
      </p:pic>
      <p:sp>
        <p:nvSpPr>
          <p:cNvPr id="27" name="Text 22"/>
          <p:cNvSpPr txBox="1"/>
          <p:nvPr/>
        </p:nvSpPr>
        <p:spPr>
          <a:xfrm>
            <a:off x="1280160" y="5527040"/>
            <a:ext cx="2743200" cy="73152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1. Your browser hashes the report</a:t>
            </a:r>
            <a:endParaRPr lang="en-US" sz="1350" dirty="0"/>
          </a:p>
        </p:txBody>
      </p:sp>
      <p:sp>
        <p:nvSpPr>
          <p:cNvPr id="28" name="Shape 23"/>
          <p:cNvSpPr/>
          <p:nvPr/>
        </p:nvSpPr>
        <p:spPr>
          <a:xfrm>
            <a:off x="4270248" y="5527040"/>
            <a:ext cx="3611880" cy="731520"/>
          </a:xfrm>
          <a:prstGeom prst="roundRect">
            <a:avLst>
              <a:gd name="adj" fmla="val 15000"/>
            </a:avLst>
          </a:prstGeom>
          <a:solidFill>
            <a:srgbClr val="12201D"/>
          </a:solidFill>
          <a:ln w="12700">
            <a:solidFill>
              <a:srgbClr val="25403A"/>
            </a:solidFill>
            <a:prstDash val="solid"/>
          </a:ln>
        </p:spPr>
      </p:sp>
      <p:sp>
        <p:nvSpPr>
          <p:cNvPr id="29" name="Shape 24"/>
          <p:cNvSpPr/>
          <p:nvPr/>
        </p:nvSpPr>
        <p:spPr>
          <a:xfrm>
            <a:off x="4407408" y="5636768"/>
            <a:ext cx="512064" cy="512064"/>
          </a:xfrm>
          <a:prstGeom prst="ellipse">
            <a:avLst/>
          </a:prstGeom>
          <a:solidFill>
            <a:srgbClr val="5D8AD6"/>
          </a:solidFill>
          <a:ln w="12700">
            <a:solidFill>
              <a:srgbClr val="5D8AD6"/>
            </a:solidFill>
            <a:prstDash val="solid"/>
          </a:ln>
        </p:spPr>
      </p:sp>
      <p:pic>
        <p:nvPicPr>
          <p:cNvPr id="30" name="Image 3" descr="preencoded.png">    </p:cNvPr>
          <p:cNvPicPr>
            <a:picLocks noChangeAspect="1"/>
          </p:cNvPicPr>
          <p:nvPr/>
        </p:nvPicPr>
        <p:blipFill>
          <a:blip r:embed="rId4"/>
          <a:stretch>
            <a:fillRect/>
          </a:stretch>
        </p:blipFill>
        <p:spPr>
          <a:xfrm>
            <a:off x="4535424" y="5764784"/>
            <a:ext cx="256032" cy="256032"/>
          </a:xfrm>
          <a:prstGeom prst="rect">
            <a:avLst/>
          </a:prstGeom>
        </p:spPr>
      </p:pic>
      <p:sp>
        <p:nvSpPr>
          <p:cNvPr id="31" name="Text 25"/>
          <p:cNvSpPr txBox="1"/>
          <p:nvPr/>
        </p:nvSpPr>
        <p:spPr>
          <a:xfrm>
            <a:off x="5047488" y="5527040"/>
            <a:ext cx="2743200" cy="73152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2. Reads the hash from BlockID, HashKey, Ethereum</a:t>
            </a:r>
            <a:endParaRPr lang="en-US" sz="1350" dirty="0"/>
          </a:p>
        </p:txBody>
      </p:sp>
      <p:sp>
        <p:nvSpPr>
          <p:cNvPr id="32" name="Shape 26"/>
          <p:cNvSpPr/>
          <p:nvPr/>
        </p:nvSpPr>
        <p:spPr>
          <a:xfrm>
            <a:off x="8037576" y="5527040"/>
            <a:ext cx="3611880" cy="731520"/>
          </a:xfrm>
          <a:prstGeom prst="roundRect">
            <a:avLst>
              <a:gd name="adj" fmla="val 15000"/>
            </a:avLst>
          </a:prstGeom>
          <a:solidFill>
            <a:srgbClr val="12201D"/>
          </a:solidFill>
          <a:ln w="12700">
            <a:solidFill>
              <a:srgbClr val="25403A"/>
            </a:solidFill>
            <a:prstDash val="solid"/>
          </a:ln>
        </p:spPr>
      </p:sp>
      <p:sp>
        <p:nvSpPr>
          <p:cNvPr id="33" name="Shape 27"/>
          <p:cNvSpPr/>
          <p:nvPr/>
        </p:nvSpPr>
        <p:spPr>
          <a:xfrm>
            <a:off x="8174736" y="5636768"/>
            <a:ext cx="512064" cy="512064"/>
          </a:xfrm>
          <a:prstGeom prst="ellipse">
            <a:avLst/>
          </a:prstGeom>
          <a:solidFill>
            <a:srgbClr val="22A07F"/>
          </a:solidFill>
          <a:ln w="12700">
            <a:solidFill>
              <a:srgbClr val="22A07F"/>
            </a:solidFill>
            <a:prstDash val="solid"/>
          </a:ln>
        </p:spPr>
      </p:sp>
      <p:pic>
        <p:nvPicPr>
          <p:cNvPr id="34" name="Image 4" descr="preencoded.png">    </p:cNvPr>
          <p:cNvPicPr>
            <a:picLocks noChangeAspect="1"/>
          </p:cNvPicPr>
          <p:nvPr/>
        </p:nvPicPr>
        <p:blipFill>
          <a:blip r:embed="rId5"/>
          <a:stretch>
            <a:fillRect/>
          </a:stretch>
        </p:blipFill>
        <p:spPr>
          <a:xfrm>
            <a:off x="8302752" y="5764784"/>
            <a:ext cx="256032" cy="256032"/>
          </a:xfrm>
          <a:prstGeom prst="rect">
            <a:avLst/>
          </a:prstGeom>
        </p:spPr>
      </p:pic>
      <p:sp>
        <p:nvSpPr>
          <p:cNvPr id="35" name="Text 28"/>
          <p:cNvSpPr txBox="1"/>
          <p:nvPr/>
        </p:nvSpPr>
        <p:spPr>
          <a:xfrm>
            <a:off x="8814816" y="5527040"/>
            <a:ext cx="2743200" cy="73152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3. Same = ✓   ·   changed = ✗</a:t>
            </a:r>
            <a:endParaRPr lang="en-US" sz="1350" dirty="0"/>
          </a:p>
        </p:txBody>
      </p:sp>
      <p:sp>
        <p:nvSpPr>
          <p:cNvPr id="36" name="Text 2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9 / 13   ·   INVESTOR PROTECTION</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Real benefits for investors. Clear duties for the business.</a:t>
            </a:r>
            <a:endParaRPr lang="en-US" sz="3000" dirty="0"/>
          </a:p>
        </p:txBody>
      </p:sp>
      <p:sp>
        <p:nvSpPr>
          <p:cNvPr id="4" name="Shape 2"/>
          <p:cNvSpPr/>
          <p:nvPr/>
        </p:nvSpPr>
        <p:spPr>
          <a:xfrm>
            <a:off x="502920" y="1554480"/>
            <a:ext cx="3749040" cy="4526280"/>
          </a:xfrm>
          <a:prstGeom prst="roundRect">
            <a:avLst>
              <a:gd name="adj" fmla="val 2927"/>
            </a:avLst>
          </a:prstGeom>
          <a:solidFill>
            <a:srgbClr val="12201D"/>
          </a:solidFill>
          <a:ln w="12700">
            <a:solidFill>
              <a:srgbClr val="25403A"/>
            </a:solidFill>
            <a:prstDash val="solid"/>
          </a:ln>
        </p:spPr>
      </p:sp>
      <p:sp>
        <p:nvSpPr>
          <p:cNvPr id="5" name="Text 3"/>
          <p:cNvSpPr txBox="1"/>
          <p:nvPr/>
        </p:nvSpPr>
        <p:spPr>
          <a:xfrm>
            <a:off x="731520" y="1691640"/>
            <a:ext cx="329184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INVESTORS GET</a:t>
            </a:r>
            <a:endParaRPr lang="en-US" sz="1150" dirty="0"/>
          </a:p>
        </p:txBody>
      </p:sp>
      <p:sp>
        <p:nvSpPr>
          <p:cNvPr id="6" name="Shape 4"/>
          <p:cNvSpPr/>
          <p:nvPr/>
        </p:nvSpPr>
        <p:spPr>
          <a:xfrm>
            <a:off x="731520" y="2194560"/>
            <a:ext cx="146304" cy="146304"/>
          </a:xfrm>
          <a:prstGeom prst="ellipse">
            <a:avLst/>
          </a:prstGeom>
          <a:solidFill>
            <a:srgbClr val="22A07F"/>
          </a:solidFill>
          <a:ln w="12700">
            <a:solidFill>
              <a:srgbClr val="22A07F"/>
            </a:solidFill>
            <a:prstDash val="solid"/>
          </a:ln>
        </p:spPr>
      </p:sp>
      <p:sp>
        <p:nvSpPr>
          <p:cNvPr id="7" name="Text 5"/>
          <p:cNvSpPr txBox="1"/>
          <p:nvPr/>
        </p:nvSpPr>
        <p:spPr>
          <a:xfrm>
            <a:off x="1024128" y="2103120"/>
            <a:ext cx="309067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A checked value: every figure sourced, approved by a person</a:t>
            </a:r>
            <a:endParaRPr lang="en-US" sz="1300" dirty="0"/>
          </a:p>
        </p:txBody>
      </p:sp>
      <p:sp>
        <p:nvSpPr>
          <p:cNvPr id="8" name="Shape 6"/>
          <p:cNvSpPr/>
          <p:nvPr/>
        </p:nvSpPr>
        <p:spPr>
          <a:xfrm>
            <a:off x="731520" y="2962656"/>
            <a:ext cx="146304" cy="146304"/>
          </a:xfrm>
          <a:prstGeom prst="ellipse">
            <a:avLst/>
          </a:prstGeom>
          <a:solidFill>
            <a:srgbClr val="22A07F"/>
          </a:solidFill>
          <a:ln w="12700">
            <a:solidFill>
              <a:srgbClr val="22A07F"/>
            </a:solidFill>
            <a:prstDash val="solid"/>
          </a:ln>
        </p:spPr>
      </p:sp>
      <p:sp>
        <p:nvSpPr>
          <p:cNvPr id="9" name="Text 7"/>
          <p:cNvSpPr txBox="1"/>
          <p:nvPr/>
        </p:nvSpPr>
        <p:spPr>
          <a:xfrm>
            <a:off x="1024128" y="2871216"/>
            <a:ext cx="309067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The same update as everyone, at the same time</a:t>
            </a:r>
            <a:endParaRPr lang="en-US" sz="1300" dirty="0"/>
          </a:p>
        </p:txBody>
      </p:sp>
      <p:sp>
        <p:nvSpPr>
          <p:cNvPr id="10" name="Shape 8"/>
          <p:cNvSpPr/>
          <p:nvPr/>
        </p:nvSpPr>
        <p:spPr>
          <a:xfrm>
            <a:off x="731520" y="3730752"/>
            <a:ext cx="146304" cy="146304"/>
          </a:xfrm>
          <a:prstGeom prst="ellipse">
            <a:avLst/>
          </a:prstGeom>
          <a:solidFill>
            <a:srgbClr val="22A07F"/>
          </a:solidFill>
          <a:ln w="12700">
            <a:solidFill>
              <a:srgbClr val="22A07F"/>
            </a:solidFill>
            <a:prstDash val="solid"/>
          </a:ln>
        </p:spPr>
      </p:sp>
      <p:sp>
        <p:nvSpPr>
          <p:cNvPr id="11" name="Text 9"/>
          <p:cNvSpPr txBox="1"/>
          <p:nvPr/>
        </p:nvSpPr>
        <p:spPr>
          <a:xfrm>
            <a:off x="1024128" y="3639312"/>
            <a:ext cx="309067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Proof of ownership: a live share register on blockchain</a:t>
            </a:r>
            <a:endParaRPr lang="en-US" sz="1300" dirty="0"/>
          </a:p>
        </p:txBody>
      </p:sp>
      <p:sp>
        <p:nvSpPr>
          <p:cNvPr id="12" name="Shape 10"/>
          <p:cNvSpPr/>
          <p:nvPr/>
        </p:nvSpPr>
        <p:spPr>
          <a:xfrm>
            <a:off x="731520" y="4498848"/>
            <a:ext cx="146304" cy="146304"/>
          </a:xfrm>
          <a:prstGeom prst="ellipse">
            <a:avLst/>
          </a:prstGeom>
          <a:solidFill>
            <a:srgbClr val="22A07F"/>
          </a:solidFill>
          <a:ln w="12700">
            <a:solidFill>
              <a:srgbClr val="22A07F"/>
            </a:solidFill>
            <a:prstDash val="solid"/>
          </a:ln>
        </p:spPr>
      </p:sp>
      <p:sp>
        <p:nvSpPr>
          <p:cNvPr id="13" name="Text 11"/>
          <p:cNvSpPr txBox="1"/>
          <p:nvPr/>
        </p:nvSpPr>
        <p:spPr>
          <a:xfrm>
            <a:off x="1024128" y="4407408"/>
            <a:ext cx="309067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Dividends on schedule, straight to the wallet, no fees</a:t>
            </a:r>
            <a:endParaRPr lang="en-US" sz="1300" dirty="0"/>
          </a:p>
        </p:txBody>
      </p:sp>
      <p:sp>
        <p:nvSpPr>
          <p:cNvPr id="14" name="Shape 12"/>
          <p:cNvSpPr/>
          <p:nvPr/>
        </p:nvSpPr>
        <p:spPr>
          <a:xfrm>
            <a:off x="731520" y="5266944"/>
            <a:ext cx="146304" cy="146304"/>
          </a:xfrm>
          <a:prstGeom prst="ellipse">
            <a:avLst/>
          </a:prstGeom>
          <a:solidFill>
            <a:srgbClr val="22A07F"/>
          </a:solidFill>
          <a:ln w="12700">
            <a:solidFill>
              <a:srgbClr val="22A07F"/>
            </a:solidFill>
            <a:prstDash val="solid"/>
          </a:ln>
        </p:spPr>
      </p:sp>
      <p:sp>
        <p:nvSpPr>
          <p:cNvPr id="15" name="Text 13"/>
          <p:cNvSpPr txBox="1"/>
          <p:nvPr/>
        </p:nvSpPr>
        <p:spPr>
          <a:xfrm>
            <a:off x="1024128" y="5175504"/>
            <a:ext cx="309067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Dilution shown before any new shares are issued</a:t>
            </a:r>
            <a:endParaRPr lang="en-US" sz="1300" dirty="0"/>
          </a:p>
        </p:txBody>
      </p:sp>
      <p:sp>
        <p:nvSpPr>
          <p:cNvPr id="16" name="Shape 14"/>
          <p:cNvSpPr/>
          <p:nvPr/>
        </p:nvSpPr>
        <p:spPr>
          <a:xfrm>
            <a:off x="4389120" y="1554480"/>
            <a:ext cx="3749040" cy="4526280"/>
          </a:xfrm>
          <a:prstGeom prst="roundRect">
            <a:avLst>
              <a:gd name="adj" fmla="val 2927"/>
            </a:avLst>
          </a:prstGeom>
          <a:solidFill>
            <a:srgbClr val="12201D"/>
          </a:solidFill>
          <a:ln w="12700">
            <a:solidFill>
              <a:srgbClr val="25403A"/>
            </a:solidFill>
            <a:prstDash val="solid"/>
          </a:ln>
        </p:spPr>
      </p:sp>
      <p:sp>
        <p:nvSpPr>
          <p:cNvPr id="17" name="Text 15"/>
          <p:cNvSpPr txBox="1"/>
          <p:nvPr/>
        </p:nvSpPr>
        <p:spPr>
          <a:xfrm>
            <a:off x="4617720" y="1691640"/>
            <a:ext cx="329184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THE BUSINESS MUST</a:t>
            </a:r>
            <a:endParaRPr lang="en-US" sz="1150" dirty="0"/>
          </a:p>
        </p:txBody>
      </p:sp>
      <p:sp>
        <p:nvSpPr>
          <p:cNvPr id="18" name="Shape 16"/>
          <p:cNvSpPr/>
          <p:nvPr/>
        </p:nvSpPr>
        <p:spPr>
          <a:xfrm>
            <a:off x="4617720" y="2194560"/>
            <a:ext cx="146304" cy="146304"/>
          </a:xfrm>
          <a:prstGeom prst="ellipse">
            <a:avLst/>
          </a:prstGeom>
          <a:solidFill>
            <a:srgbClr val="E3A83A"/>
          </a:solidFill>
          <a:ln w="12700">
            <a:solidFill>
              <a:srgbClr val="E3A83A"/>
            </a:solidFill>
            <a:prstDash val="solid"/>
          </a:ln>
        </p:spPr>
      </p:sp>
      <p:sp>
        <p:nvSpPr>
          <p:cNvPr id="19" name="Text 17"/>
          <p:cNvSpPr txBox="1"/>
          <p:nvPr/>
        </p:nvSpPr>
        <p:spPr>
          <a:xfrm>
            <a:off x="4910328" y="2103120"/>
            <a:ext cx="309067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Keep a share register: already the law (AU Corporations Act s169 · VN Law on Enterprises 2020 Art. 122)</a:t>
            </a:r>
            <a:endParaRPr lang="en-US" sz="1300" dirty="0"/>
          </a:p>
        </p:txBody>
      </p:sp>
      <p:sp>
        <p:nvSpPr>
          <p:cNvPr id="20" name="Shape 18"/>
          <p:cNvSpPr/>
          <p:nvPr/>
        </p:nvSpPr>
        <p:spPr>
          <a:xfrm>
            <a:off x="4617720" y="3145536"/>
            <a:ext cx="146304" cy="146304"/>
          </a:xfrm>
          <a:prstGeom prst="ellipse">
            <a:avLst/>
          </a:prstGeom>
          <a:solidFill>
            <a:srgbClr val="E3A83A"/>
          </a:solidFill>
          <a:ln w="12700">
            <a:solidFill>
              <a:srgbClr val="E3A83A"/>
            </a:solidFill>
            <a:prstDash val="solid"/>
          </a:ln>
        </p:spPr>
      </p:sp>
      <p:sp>
        <p:nvSpPr>
          <p:cNvPr id="21" name="Text 19"/>
          <p:cNvSpPr txBox="1"/>
          <p:nvPr/>
        </p:nvSpPr>
        <p:spPr>
          <a:xfrm>
            <a:off x="4910328" y="3054096"/>
            <a:ext cx="309067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Report on schedule; CSF companies report yearly, audit above A$3M raised (ASIC RG 261)</a:t>
            </a:r>
            <a:endParaRPr lang="en-US" sz="1300" dirty="0"/>
          </a:p>
        </p:txBody>
      </p:sp>
      <p:sp>
        <p:nvSpPr>
          <p:cNvPr id="22" name="Shape 20"/>
          <p:cNvSpPr/>
          <p:nvPr/>
        </p:nvSpPr>
        <p:spPr>
          <a:xfrm>
            <a:off x="4617720" y="4096512"/>
            <a:ext cx="146304" cy="146304"/>
          </a:xfrm>
          <a:prstGeom prst="ellipse">
            <a:avLst/>
          </a:prstGeom>
          <a:solidFill>
            <a:srgbClr val="E3A83A"/>
          </a:solidFill>
          <a:ln w="12700">
            <a:solidFill>
              <a:srgbClr val="E3A83A"/>
            </a:solidFill>
            <a:prstDash val="solid"/>
          </a:ln>
        </p:spPr>
      </p:sp>
      <p:sp>
        <p:nvSpPr>
          <p:cNvPr id="23" name="Text 21"/>
          <p:cNvSpPr txBox="1"/>
          <p:nvPr/>
        </p:nvSpPr>
        <p:spPr>
          <a:xfrm>
            <a:off x="4910328" y="4005072"/>
            <a:ext cx="309067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Get a person to approve every new share, dividend and transfer</a:t>
            </a:r>
            <a:endParaRPr lang="en-US" sz="1300" dirty="0"/>
          </a:p>
        </p:txBody>
      </p:sp>
      <p:sp>
        <p:nvSpPr>
          <p:cNvPr id="24" name="Shape 22"/>
          <p:cNvSpPr/>
          <p:nvPr/>
        </p:nvSpPr>
        <p:spPr>
          <a:xfrm>
            <a:off x="4617720" y="5047488"/>
            <a:ext cx="146304" cy="146304"/>
          </a:xfrm>
          <a:prstGeom prst="ellipse">
            <a:avLst/>
          </a:prstGeom>
          <a:solidFill>
            <a:srgbClr val="E3A83A"/>
          </a:solidFill>
          <a:ln w="12700">
            <a:solidFill>
              <a:srgbClr val="E3A83A"/>
            </a:solidFill>
            <a:prstDash val="solid"/>
          </a:ln>
        </p:spPr>
      </p:sp>
      <p:sp>
        <p:nvSpPr>
          <p:cNvPr id="25" name="Text 23"/>
          <p:cNvSpPr txBox="1"/>
          <p:nvPr/>
        </p:nvSpPr>
        <p:spPr>
          <a:xfrm>
            <a:off x="4910328" y="4956048"/>
            <a:ext cx="309067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Answer the risks the numbers flag, on the record</a:t>
            </a:r>
            <a:endParaRPr lang="en-US" sz="1300" dirty="0"/>
          </a:p>
        </p:txBody>
      </p:sp>
      <p:sp>
        <p:nvSpPr>
          <p:cNvPr id="26" name="Shape 24"/>
          <p:cNvSpPr/>
          <p:nvPr/>
        </p:nvSpPr>
        <p:spPr>
          <a:xfrm>
            <a:off x="8275320" y="1554480"/>
            <a:ext cx="3429000" cy="3108960"/>
          </a:xfrm>
          <a:prstGeom prst="roundRect">
            <a:avLst>
              <a:gd name="adj" fmla="val 3529"/>
            </a:avLst>
          </a:prstGeom>
          <a:solidFill>
            <a:srgbClr val="12201D"/>
          </a:solidFill>
          <a:ln w="12700">
            <a:solidFill>
              <a:srgbClr val="25403A"/>
            </a:solidFill>
            <a:prstDash val="solid"/>
          </a:ln>
        </p:spPr>
      </p:sp>
      <p:sp>
        <p:nvSpPr>
          <p:cNvPr id="27" name="Text 25"/>
          <p:cNvSpPr txBox="1"/>
          <p:nvPr/>
        </p:nvSpPr>
        <p:spPr>
          <a:xfrm>
            <a:off x="8458200" y="1664208"/>
            <a:ext cx="3108960" cy="320040"/>
          </a:xfrm>
          <a:prstGeom prst="rect">
            <a:avLst/>
          </a:prstGeom>
          <a:noFill/>
          <a:ln/>
        </p:spPr>
        <p:txBody>
          <a:bodyPr wrap="square" lIns="0" tIns="0" rIns="0" bIns="0" rtlCol="0" anchor="ctr"/>
          <a:lstStyle/>
          <a:p>
            <a:pPr indent="0" marL="0">
              <a:buNone/>
            </a:pPr>
            <a:r>
              <a:rPr lang="en-US" sz="1250" b="1" dirty="0">
                <a:solidFill>
                  <a:srgbClr val="F2F7F5"/>
                </a:solidFill>
                <a:latin typeface="Arial" pitchFamily="34" charset="0"/>
                <a:ea typeface="Arial" pitchFamily="34" charset="-122"/>
                <a:cs typeface="Arial" pitchFamily="34" charset="-120"/>
              </a:rPr>
              <a:t>Cash back to PE investors (% of NAV)</a:t>
            </a:r>
            <a:endParaRPr lang="en-US" sz="1250" dirty="0"/>
          </a:p>
        </p:txBody>
      </p:sp>
      <p:graphicFrame>
        <p:nvGraphicFramePr>
          <p:cNvPr id="28" name="Chart 0" descr=""/>
          <p:cNvGraphicFramePr/>
          <p:nvPr/>
        </p:nvGraphicFramePr>
        <p:xfrm>
          <a:off x="8412480" y="2011680"/>
          <a:ext cx="3154680" cy="224028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8458200" y="4279392"/>
            <a:ext cx="3108960" cy="411480"/>
          </a:xfrm>
          <a:prstGeom prst="rect">
            <a:avLst/>
          </a:prstGeom>
          <a:noFill/>
          <a:ln/>
        </p:spPr>
        <p:txBody>
          <a:bodyPr wrap="square" lIns="0" tIns="0" rIns="0" bIns="0" rtlCol="0" anchor="t"/>
          <a:lstStyle/>
          <a:p>
            <a:pPr indent="0" marL="0">
              <a:buNone/>
            </a:pPr>
            <a:r>
              <a:rPr lang="en-US" sz="850" dirty="0">
                <a:solidFill>
                  <a:srgbClr val="7E948F"/>
                </a:solidFill>
                <a:latin typeface="Calibri" pitchFamily="34" charset="0"/>
                <a:ea typeface="Calibri" pitchFamily="34" charset="-122"/>
                <a:cs typeface="Calibri" pitchFamily="34" charset="-120"/>
              </a:rPr>
              <a:t>Bain Global PE Report, Mar 2025</a:t>
            </a:r>
            <a:endParaRPr lang="en-US" sz="850" dirty="0"/>
          </a:p>
        </p:txBody>
      </p:sp>
      <p:sp>
        <p:nvSpPr>
          <p:cNvPr id="30" name="Shape 27"/>
          <p:cNvSpPr/>
          <p:nvPr/>
        </p:nvSpPr>
        <p:spPr>
          <a:xfrm>
            <a:off x="8275320" y="4800600"/>
            <a:ext cx="3429000" cy="1280160"/>
          </a:xfrm>
          <a:prstGeom prst="roundRect">
            <a:avLst>
              <a:gd name="adj" fmla="val 8571"/>
            </a:avLst>
          </a:prstGeom>
          <a:solidFill>
            <a:srgbClr val="12201D"/>
          </a:solidFill>
          <a:ln w="12700">
            <a:solidFill>
              <a:srgbClr val="25403A"/>
            </a:solidFill>
            <a:prstDash val="solid"/>
          </a:ln>
        </p:spPr>
      </p:sp>
      <p:sp>
        <p:nvSpPr>
          <p:cNvPr id="31" name="Text 28"/>
          <p:cNvSpPr txBox="1"/>
          <p:nvPr/>
        </p:nvSpPr>
        <p:spPr>
          <a:xfrm>
            <a:off x="8458200" y="4910328"/>
            <a:ext cx="3063240" cy="548640"/>
          </a:xfrm>
          <a:prstGeom prst="rect">
            <a:avLst/>
          </a:prstGeom>
          <a:noFill/>
          <a:ln/>
        </p:spPr>
        <p:txBody>
          <a:bodyPr wrap="square" lIns="0" tIns="0" rIns="0" bIns="0" rtlCol="0" anchor="ctr"/>
          <a:lstStyle/>
          <a:p>
            <a:pPr indent="0" marL="0">
              <a:buNone/>
            </a:pPr>
            <a:r>
              <a:rPr lang="en-US" sz="2600" b="1" dirty="0">
                <a:solidFill>
                  <a:srgbClr val="E4675A"/>
                </a:solidFill>
                <a:latin typeface="Arial" pitchFamily="34" charset="0"/>
                <a:ea typeface="Arial" pitchFamily="34" charset="-122"/>
                <a:cs typeface="Arial" pitchFamily="34" charset="-120"/>
              </a:rPr>
              <a:t>A$837.7M</a:t>
            </a:r>
            <a:endParaRPr lang="en-US" sz="2600" dirty="0"/>
          </a:p>
        </p:txBody>
      </p:sp>
      <p:sp>
        <p:nvSpPr>
          <p:cNvPr id="32" name="Text 29"/>
          <p:cNvSpPr txBox="1"/>
          <p:nvPr/>
        </p:nvSpPr>
        <p:spPr>
          <a:xfrm>
            <a:off x="8458200" y="5458968"/>
            <a:ext cx="3063240" cy="548640"/>
          </a:xfrm>
          <a:prstGeom prst="rect">
            <a:avLst/>
          </a:prstGeom>
          <a:noFill/>
          <a:ln/>
        </p:spPr>
        <p:txBody>
          <a:bodyPr wrap="square" lIns="0" tIns="0" rIns="0" bIns="0" rtlCol="0" anchor="t"/>
          <a:lstStyle/>
          <a:p>
            <a:pPr indent="0" marL="0">
              <a:buNone/>
            </a:pPr>
            <a:r>
              <a:rPr lang="en-US" sz="1150" dirty="0">
                <a:solidFill>
                  <a:srgbClr val="A9BDB7"/>
                </a:solidFill>
                <a:latin typeface="Calibri" pitchFamily="34" charset="0"/>
                <a:ea typeface="Calibri" pitchFamily="34" charset="-122"/>
                <a:cs typeface="Calibri" pitchFamily="34" charset="-120"/>
              </a:rPr>
              <a:t>lost to investment scams in Australia in 2025. NASC, Targeting Scams 2025</a:t>
            </a:r>
            <a:endParaRPr lang="en-US" sz="1150" dirty="0"/>
          </a:p>
        </p:txBody>
      </p:sp>
      <p:sp>
        <p:nvSpPr>
          <p:cNvPr id="33" name="Text 30"/>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9B7BD4"/>
                </a:solidFill>
                <a:latin typeface="Calibri" pitchFamily="34" charset="0"/>
                <a:ea typeface="Calibri" pitchFamily="34" charset="-122"/>
                <a:cs typeface="Calibri" pitchFamily="34" charset="-120"/>
              </a:rPr>
              <a:t>10 / 13   ·   CUSTODY · TOKENISED ASSETS</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Built for the tokenised future: clear custody from day one.</a:t>
            </a:r>
            <a:endParaRPr lang="en-US" sz="3000" dirty="0"/>
          </a:p>
        </p:txBody>
      </p:sp>
      <p:sp>
        <p:nvSpPr>
          <p:cNvPr id="4" name="Shape 2"/>
          <p:cNvSpPr/>
          <p:nvPr/>
        </p:nvSpPr>
        <p:spPr>
          <a:xfrm>
            <a:off x="502920" y="1554480"/>
            <a:ext cx="6035040" cy="4526280"/>
          </a:xfrm>
          <a:prstGeom prst="roundRect">
            <a:avLst>
              <a:gd name="adj" fmla="val 2424"/>
            </a:avLst>
          </a:prstGeom>
          <a:solidFill>
            <a:srgbClr val="12201D"/>
          </a:solidFill>
          <a:ln w="12700">
            <a:solidFill>
              <a:srgbClr val="25403A"/>
            </a:solidFill>
            <a:prstDash val="solid"/>
          </a:ln>
        </p:spPr>
      </p:sp>
      <p:sp>
        <p:nvSpPr>
          <p:cNvPr id="5" name="Text 3"/>
          <p:cNvSpPr txBox="1"/>
          <p:nvPr/>
        </p:nvSpPr>
        <p:spPr>
          <a:xfrm>
            <a:off x="731520" y="1664208"/>
            <a:ext cx="5669280" cy="320040"/>
          </a:xfrm>
          <a:prstGeom prst="rect">
            <a:avLst/>
          </a:prstGeom>
          <a:noFill/>
          <a:ln/>
        </p:spPr>
        <p:txBody>
          <a:bodyPr wrap="square" lIns="0" tIns="0" rIns="0" bIns="0" rtlCol="0" anchor="ctr"/>
          <a:lstStyle/>
          <a:p>
            <a:pPr indent="0" marL="0">
              <a:buNone/>
            </a:pPr>
            <a:r>
              <a:rPr lang="en-US" sz="1400" b="1" dirty="0">
                <a:solidFill>
                  <a:srgbClr val="F2F7F5"/>
                </a:solidFill>
                <a:latin typeface="Arial" pitchFamily="34" charset="0"/>
                <a:ea typeface="Arial" pitchFamily="34" charset="-122"/>
                <a:cs typeface="Arial" pitchFamily="34" charset="-120"/>
              </a:rPr>
              <a:t>Tokenised real-world assets on-chain (US$ billion)</a:t>
            </a:r>
            <a:endParaRPr lang="en-US" sz="1400" dirty="0"/>
          </a:p>
        </p:txBody>
      </p:sp>
      <p:graphicFrame>
        <p:nvGraphicFramePr>
          <p:cNvPr id="6" name="Chart 0" descr=""/>
          <p:cNvGraphicFramePr/>
          <p:nvPr/>
        </p:nvGraphicFramePr>
        <p:xfrm>
          <a:off x="640080" y="2057400"/>
          <a:ext cx="5760720" cy="34290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31520" y="5559552"/>
            <a:ext cx="5669280" cy="411480"/>
          </a:xfrm>
          <a:prstGeom prst="rect">
            <a:avLst/>
          </a:prstGeom>
          <a:noFill/>
          <a:ln/>
        </p:spPr>
        <p:txBody>
          <a:bodyPr wrap="square" lIns="0" tIns="0" rIns="0" bIns="0" rtlCol="0" anchor="t"/>
          <a:lstStyle/>
          <a:p>
            <a:pPr indent="0" marL="0">
              <a:buNone/>
            </a:pPr>
            <a:r>
              <a:rPr lang="en-US" sz="850" dirty="0">
                <a:solidFill>
                  <a:srgbClr val="7E948F"/>
                </a:solidFill>
                <a:latin typeface="Calibri" pitchFamily="34" charset="0"/>
                <a:ea typeface="Calibri" pitchFamily="34" charset="-122"/>
                <a:cs typeface="Calibri" pitchFamily="34" charset="-120"/>
              </a:rPr>
              <a:t>rwa.xyz "distributed" assets, excl. stablecoins (1 Oct 2026: $38.66B, 5.02M holders). Earlier points: PYMNTS, ByteTree, Yellow citing rwa.xyz.</a:t>
            </a:r>
            <a:endParaRPr lang="en-US" sz="850" dirty="0"/>
          </a:p>
        </p:txBody>
      </p:sp>
      <p:sp>
        <p:nvSpPr>
          <p:cNvPr id="8" name="Shape 5"/>
          <p:cNvSpPr/>
          <p:nvPr/>
        </p:nvSpPr>
        <p:spPr>
          <a:xfrm>
            <a:off x="6720840" y="1554480"/>
            <a:ext cx="4983480" cy="1188720"/>
          </a:xfrm>
          <a:prstGeom prst="roundRect">
            <a:avLst>
              <a:gd name="adj" fmla="val 9231"/>
            </a:avLst>
          </a:prstGeom>
          <a:solidFill>
            <a:srgbClr val="12201D"/>
          </a:solidFill>
          <a:ln w="12700">
            <a:solidFill>
              <a:srgbClr val="25403A"/>
            </a:solidFill>
            <a:prstDash val="solid"/>
          </a:ln>
        </p:spPr>
      </p:sp>
      <p:sp>
        <p:nvSpPr>
          <p:cNvPr id="9" name="Text 6"/>
          <p:cNvSpPr txBox="1"/>
          <p:nvPr/>
        </p:nvSpPr>
        <p:spPr>
          <a:xfrm>
            <a:off x="6903720" y="1664208"/>
            <a:ext cx="4617720" cy="548640"/>
          </a:xfrm>
          <a:prstGeom prst="rect">
            <a:avLst/>
          </a:prstGeom>
          <a:noFill/>
          <a:ln/>
        </p:spPr>
        <p:txBody>
          <a:bodyPr wrap="square" lIns="0" tIns="0" rIns="0" bIns="0" rtlCol="0" anchor="ctr"/>
          <a:lstStyle/>
          <a:p>
            <a:pPr indent="0" marL="0">
              <a:buNone/>
            </a:pPr>
            <a:r>
              <a:rPr lang="en-US" sz="2600" b="1" dirty="0">
                <a:solidFill>
                  <a:srgbClr val="9B7BD4"/>
                </a:solidFill>
                <a:latin typeface="Arial" pitchFamily="34" charset="0"/>
                <a:ea typeface="Arial" pitchFamily="34" charset="-122"/>
                <a:cs typeface="Arial" pitchFamily="34" charset="-120"/>
              </a:rPr>
              <a:t>$5.5T by 2030</a:t>
            </a:r>
            <a:endParaRPr lang="en-US" sz="2600" dirty="0"/>
          </a:p>
        </p:txBody>
      </p:sp>
      <p:sp>
        <p:nvSpPr>
          <p:cNvPr id="10" name="Text 7"/>
          <p:cNvSpPr txBox="1"/>
          <p:nvPr/>
        </p:nvSpPr>
        <p:spPr>
          <a:xfrm>
            <a:off x="6903720" y="2212848"/>
            <a:ext cx="4617720" cy="457200"/>
          </a:xfrm>
          <a:prstGeom prst="rect">
            <a:avLst/>
          </a:prstGeom>
          <a:noFill/>
          <a:ln/>
        </p:spPr>
        <p:txBody>
          <a:bodyPr wrap="square" lIns="0" tIns="0" rIns="0" bIns="0" rtlCol="0" anchor="t"/>
          <a:lstStyle/>
          <a:p>
            <a:pPr indent="0" marL="0">
              <a:buNone/>
            </a:pPr>
            <a:r>
              <a:rPr lang="en-US" sz="1150" dirty="0">
                <a:solidFill>
                  <a:srgbClr val="A9BDB7"/>
                </a:solidFill>
                <a:latin typeface="Calibri" pitchFamily="34" charset="0"/>
                <a:ea typeface="Calibri" pitchFamily="34" charset="-122"/>
                <a:cs typeface="Calibri" pitchFamily="34" charset="-120"/>
              </a:rPr>
              <a:t>tokenised assets, Citi GPS base case (Jun 2026; bear $2.7T, bull $8.2T)</a:t>
            </a:r>
            <a:endParaRPr lang="en-US" sz="1150" dirty="0"/>
          </a:p>
        </p:txBody>
      </p:sp>
      <p:sp>
        <p:nvSpPr>
          <p:cNvPr id="11" name="Shape 8"/>
          <p:cNvSpPr/>
          <p:nvPr/>
        </p:nvSpPr>
        <p:spPr>
          <a:xfrm>
            <a:off x="6720840" y="2880360"/>
            <a:ext cx="4983480" cy="1600200"/>
          </a:xfrm>
          <a:prstGeom prst="roundRect">
            <a:avLst>
              <a:gd name="adj" fmla="val 6857"/>
            </a:avLst>
          </a:prstGeom>
          <a:solidFill>
            <a:srgbClr val="12201D"/>
          </a:solidFill>
          <a:ln w="12700">
            <a:solidFill>
              <a:srgbClr val="25403A"/>
            </a:solidFill>
            <a:prstDash val="solid"/>
          </a:ln>
        </p:spPr>
      </p:sp>
      <p:sp>
        <p:nvSpPr>
          <p:cNvPr id="12" name="Text 9"/>
          <p:cNvSpPr txBox="1"/>
          <p:nvPr/>
        </p:nvSpPr>
        <p:spPr>
          <a:xfrm>
            <a:off x="6949440" y="2990088"/>
            <a:ext cx="4572000" cy="274320"/>
          </a:xfrm>
          <a:prstGeom prst="rect">
            <a:avLst/>
          </a:prstGeom>
          <a:noFill/>
          <a:ln/>
        </p:spPr>
        <p:txBody>
          <a:bodyPr wrap="square" lIns="0" tIns="0" rIns="0" bIns="0" rtlCol="0" anchor="ctr"/>
          <a:lstStyle/>
          <a:p>
            <a:pPr indent="0" marL="0">
              <a:buNone/>
            </a:pPr>
            <a:r>
              <a:rPr lang="en-US" sz="1100" b="1" spc="300" kern="0" dirty="0">
                <a:solidFill>
                  <a:srgbClr val="E3A83A"/>
                </a:solidFill>
                <a:latin typeface="Calibri" pitchFamily="34" charset="0"/>
                <a:ea typeface="Calibri" pitchFamily="34" charset="-122"/>
                <a:cs typeface="Calibri" pitchFamily="34" charset="-120"/>
              </a:rPr>
              <a:t>THE RULES ARE ARRIVING</a:t>
            </a:r>
            <a:endParaRPr lang="en-US" sz="1100" dirty="0"/>
          </a:p>
        </p:txBody>
      </p:sp>
      <p:sp>
        <p:nvSpPr>
          <p:cNvPr id="13" name="Text 10"/>
          <p:cNvSpPr txBox="1"/>
          <p:nvPr/>
        </p:nvSpPr>
        <p:spPr>
          <a:xfrm>
            <a:off x="6949440" y="3291840"/>
            <a:ext cx="4663440" cy="1143000"/>
          </a:xfrm>
          <a:prstGeom prst="rect">
            <a:avLst/>
          </a:prstGeom>
          <a:noFill/>
          <a:ln/>
        </p:spPr>
        <p:txBody>
          <a:bodyPr wrap="square" lIns="0" tIns="0" rIns="0" bIns="0" rtlCol="0" anchor="t"/>
          <a:lstStyle/>
          <a:p>
            <a:pPr indent="0" marL="0">
              <a:spcAft>
                <a:spcPts val="300"/>
              </a:spcAft>
              <a:buNone/>
            </a:pPr>
            <a:r>
              <a:rPr lang="en-US" sz="1150" dirty="0">
                <a:solidFill>
                  <a:srgbClr val="F2F7F5"/>
                </a:solidFill>
                <a:latin typeface="Calibri" pitchFamily="34" charset="0"/>
                <a:ea typeface="Calibri" pitchFamily="34" charset="-122"/>
                <a:cs typeface="Calibri" pitchFamily="34" charset="-120"/>
              </a:rPr>
              <a:t>Dec 2024  EU MiCA: custody and segregation of client assets</a:t>
            </a:r>
            <a:endParaRPr lang="en-US" sz="1150" dirty="0"/>
          </a:p>
          <a:p>
            <a:pPr indent="0" marL="0">
              <a:spcAft>
                <a:spcPts val="300"/>
              </a:spcAft>
              <a:buNone/>
            </a:pPr>
            <a:r>
              <a:rPr lang="en-US" sz="1150" dirty="0">
                <a:solidFill>
                  <a:srgbClr val="F2F7F5"/>
                </a:solidFill>
                <a:latin typeface="Calibri" pitchFamily="34" charset="0"/>
                <a:ea typeface="Calibri" pitchFamily="34" charset="-122"/>
                <a:cs typeface="Calibri" pitchFamily="34" charset="-120"/>
              </a:rPr>
              <a:t>Sep 2025  Vietnam Resolution 05/2025: 5-year crypto-asset pilot</a:t>
            </a:r>
            <a:endParaRPr lang="en-US" sz="1150" dirty="0"/>
          </a:p>
          <a:p>
            <a:pPr indent="0" marL="0">
              <a:spcAft>
                <a:spcPts val="300"/>
              </a:spcAft>
              <a:buNone/>
            </a:pPr>
            <a:r>
              <a:rPr lang="en-US" sz="1150" dirty="0">
                <a:solidFill>
                  <a:srgbClr val="F2F7F5"/>
                </a:solidFill>
                <a:latin typeface="Calibri" pitchFamily="34" charset="0"/>
                <a:ea typeface="Calibri" pitchFamily="34" charset="-122"/>
                <a:cs typeface="Calibri" pitchFamily="34" charset="-120"/>
              </a:rPr>
              <a:t>Jan 2026  Vietnam Law 71/2025: digital assets are property</a:t>
            </a:r>
            <a:endParaRPr lang="en-US" sz="1150" dirty="0"/>
          </a:p>
          <a:p>
            <a:pPr indent="0" marL="0">
              <a:spcAft>
                <a:spcPts val="300"/>
              </a:spcAft>
              <a:buNone/>
            </a:pPr>
            <a:r>
              <a:rPr lang="en-US" sz="1150" dirty="0">
                <a:solidFill>
                  <a:srgbClr val="F2F7F5"/>
                </a:solidFill>
                <a:latin typeface="Calibri" pitchFamily="34" charset="0"/>
                <a:ea typeface="Calibri" pitchFamily="34" charset="-122"/>
                <a:cs typeface="Calibri" pitchFamily="34" charset="-120"/>
              </a:rPr>
              <a:t>Apr 2026  Australia Digital Assets Framework: licensed custody platforms</a:t>
            </a:r>
            <a:endParaRPr lang="en-US" sz="1150" dirty="0"/>
          </a:p>
        </p:txBody>
      </p:sp>
      <p:sp>
        <p:nvSpPr>
          <p:cNvPr id="14" name="Shape 11"/>
          <p:cNvSpPr/>
          <p:nvPr/>
        </p:nvSpPr>
        <p:spPr>
          <a:xfrm>
            <a:off x="6720840" y="4617720"/>
            <a:ext cx="4983480" cy="1463040"/>
          </a:xfrm>
          <a:prstGeom prst="roundRect">
            <a:avLst>
              <a:gd name="adj" fmla="val 7500"/>
            </a:avLst>
          </a:prstGeom>
          <a:solidFill>
            <a:srgbClr val="172A26"/>
          </a:solidFill>
          <a:ln w="12700">
            <a:solidFill>
              <a:srgbClr val="22A07F"/>
            </a:solidFill>
            <a:prstDash val="solid"/>
          </a:ln>
        </p:spPr>
      </p:sp>
      <p:sp>
        <p:nvSpPr>
          <p:cNvPr id="15" name="Text 12"/>
          <p:cNvSpPr txBox="1"/>
          <p:nvPr/>
        </p:nvSpPr>
        <p:spPr>
          <a:xfrm>
            <a:off x="6949440" y="4709160"/>
            <a:ext cx="4572000" cy="274320"/>
          </a:xfrm>
          <a:prstGeom prst="rect">
            <a:avLst/>
          </a:prstGeom>
          <a:noFill/>
          <a:ln/>
        </p:spPr>
        <p:txBody>
          <a:bodyPr wrap="square" lIns="0" tIns="0" rIns="0" bIns="0" rtlCol="0" anchor="ctr"/>
          <a:lstStyle/>
          <a:p>
            <a:pPr indent="0" marL="0">
              <a:buNone/>
            </a:pPr>
            <a:r>
              <a:rPr lang="en-US" sz="1100" b="1" spc="300" kern="0" dirty="0">
                <a:solidFill>
                  <a:srgbClr val="22A07F"/>
                </a:solidFill>
                <a:latin typeface="Calibri" pitchFamily="34" charset="0"/>
                <a:ea typeface="Calibri" pitchFamily="34" charset="-122"/>
                <a:cs typeface="Calibri" pitchFamily="34" charset="-120"/>
              </a:rPr>
              <a:t>BLOCKID CUSTODY DESIGN</a:t>
            </a:r>
            <a:endParaRPr lang="en-US" sz="1100" dirty="0"/>
          </a:p>
        </p:txBody>
      </p:sp>
      <p:sp>
        <p:nvSpPr>
          <p:cNvPr id="16" name="Text 13"/>
          <p:cNvSpPr txBox="1"/>
          <p:nvPr/>
        </p:nvSpPr>
        <p:spPr>
          <a:xfrm>
            <a:off x="6949440" y="5001768"/>
            <a:ext cx="4617720" cy="1005840"/>
          </a:xfrm>
          <a:prstGeom prst="rect">
            <a:avLst/>
          </a:prstGeom>
          <a:noFill/>
          <a:ln/>
        </p:spPr>
        <p:txBody>
          <a:bodyPr wrap="square" lIns="0" tIns="0" rIns="0" bIns="0" rtlCol="0" anchor="t"/>
          <a:lstStyle/>
          <a:p>
            <a:pPr indent="0" marL="0">
              <a:buNone/>
            </a:pPr>
            <a:r>
              <a:rPr lang="en-US" sz="1250" dirty="0">
                <a:solidFill>
                  <a:srgbClr val="F2F7F5"/>
                </a:solidFill>
                <a:latin typeface="Calibri" pitchFamily="34" charset="0"/>
                <a:ea typeface="Calibri" pitchFamily="34" charset="-122"/>
                <a:cs typeface="Calibri" pitchFamily="34" charset="-120"/>
              </a:rPr>
              <a:t>Keys only in an isolated issuer · every holder verified (KYC) · register anchored on 3 chains · a licensed custodian plugs in, investors keep proof</a:t>
            </a:r>
            <a:endParaRPr lang="en-US" sz="1250" dirty="0"/>
          </a:p>
        </p:txBody>
      </p:sp>
      <p:sp>
        <p:nvSpPr>
          <p:cNvPr id="17" name="Text 14"/>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5D8AD6"/>
                </a:solidFill>
                <a:latin typeface="Calibri" pitchFamily="34" charset="0"/>
                <a:ea typeface="Calibri" pitchFamily="34" charset="-122"/>
                <a:cs typeface="Calibri" pitchFamily="34" charset="-120"/>
              </a:rPr>
              <a:t>11 / 13   ·   HOW IT'S BUILT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Agents propose. Humans approve. Chains prove.</a:t>
            </a:r>
            <a:endParaRPr lang="en-US" sz="3000" dirty="0"/>
          </a:p>
        </p:txBody>
      </p:sp>
      <p:sp>
        <p:nvSpPr>
          <p:cNvPr id="4" name="Shape 2"/>
          <p:cNvSpPr/>
          <p:nvPr/>
        </p:nvSpPr>
        <p:spPr>
          <a:xfrm>
            <a:off x="466344" y="1563624"/>
            <a:ext cx="5605272" cy="3805047"/>
          </a:xfrm>
          <a:prstGeom prst="roundRect">
            <a:avLst>
              <a:gd name="adj" fmla="val 1682"/>
            </a:avLst>
          </a:prstGeom>
          <a:solidFill>
            <a:srgbClr val="D9DFDD"/>
          </a:solidFill>
          <a:ln w="12700">
            <a:solidFill>
              <a:srgbClr val="D9DFDD"/>
            </a:solidFill>
            <a:prstDash val="solid"/>
          </a:ln>
          <a:effectLst>
            <a:outerShdw sx="100000" sy="100000" kx="0" ky="0" algn="bl" rotWithShape="0" blurRad="203200" dist="76200" dir="5400000">
              <a:srgbClr val="000000">
                <a:alpha val="55000"/>
              </a:srgbClr>
            </a:outerShdw>
          </a:effectLst>
        </p:spPr>
      </p:sp>
      <p:sp>
        <p:nvSpPr>
          <p:cNvPr id="5" name="Shape 3"/>
          <p:cNvSpPr/>
          <p:nvPr/>
        </p:nvSpPr>
        <p:spPr>
          <a:xfrm>
            <a:off x="502920" y="1600200"/>
            <a:ext cx="5532120" cy="274320"/>
          </a:xfrm>
          <a:prstGeom prst="rect">
            <a:avLst/>
          </a:prstGeom>
          <a:solidFill>
            <a:srgbClr val="ECEFEE"/>
          </a:solidFill>
          <a:ln w="12700">
            <a:solidFill>
              <a:srgbClr val="ECEFEE"/>
            </a:solidFill>
            <a:prstDash val="solid"/>
          </a:ln>
        </p:spPr>
      </p:sp>
      <p:sp>
        <p:nvSpPr>
          <p:cNvPr id="6" name="Shape 4"/>
          <p:cNvSpPr/>
          <p:nvPr/>
        </p:nvSpPr>
        <p:spPr>
          <a:xfrm>
            <a:off x="612648" y="1687068"/>
            <a:ext cx="100584" cy="100584"/>
          </a:xfrm>
          <a:prstGeom prst="ellipse">
            <a:avLst/>
          </a:prstGeom>
          <a:solidFill>
            <a:srgbClr val="FF5F57"/>
          </a:solidFill>
          <a:ln w="12700">
            <a:solidFill>
              <a:srgbClr val="FF5F57"/>
            </a:solidFill>
            <a:prstDash val="solid"/>
          </a:ln>
        </p:spPr>
      </p:sp>
      <p:sp>
        <p:nvSpPr>
          <p:cNvPr id="7" name="Shape 5"/>
          <p:cNvSpPr/>
          <p:nvPr/>
        </p:nvSpPr>
        <p:spPr>
          <a:xfrm>
            <a:off x="768096" y="1687068"/>
            <a:ext cx="100584" cy="100584"/>
          </a:xfrm>
          <a:prstGeom prst="ellipse">
            <a:avLst/>
          </a:prstGeom>
          <a:solidFill>
            <a:srgbClr val="FEBC2E"/>
          </a:solidFill>
          <a:ln w="12700">
            <a:solidFill>
              <a:srgbClr val="FEBC2E"/>
            </a:solidFill>
            <a:prstDash val="solid"/>
          </a:ln>
        </p:spPr>
      </p:sp>
      <p:sp>
        <p:nvSpPr>
          <p:cNvPr id="8" name="Shape 6"/>
          <p:cNvSpPr/>
          <p:nvPr/>
        </p:nvSpPr>
        <p:spPr>
          <a:xfrm>
            <a:off x="923544" y="1687068"/>
            <a:ext cx="100584" cy="100584"/>
          </a:xfrm>
          <a:prstGeom prst="ellipse">
            <a:avLst/>
          </a:prstGeom>
          <a:solidFill>
            <a:srgbClr val="28C840"/>
          </a:solidFill>
          <a:ln w="12700">
            <a:solidFill>
              <a:srgbClr val="28C840"/>
            </a:solidFill>
            <a:prstDash val="solid"/>
          </a:ln>
        </p:spPr>
      </p:sp>
      <p:sp>
        <p:nvSpPr>
          <p:cNvPr id="9" name="Shape 7"/>
          <p:cNvSpPr/>
          <p:nvPr/>
        </p:nvSpPr>
        <p:spPr>
          <a:xfrm>
            <a:off x="1143000" y="1645920"/>
            <a:ext cx="3840480" cy="182880"/>
          </a:xfrm>
          <a:prstGeom prst="roundRect">
            <a:avLst>
              <a:gd name="adj" fmla="val 25000"/>
            </a:avLst>
          </a:prstGeom>
          <a:solidFill>
            <a:srgbClr val="FFFFFF"/>
          </a:solidFill>
          <a:ln w="12700">
            <a:solidFill>
              <a:srgbClr val="D9DFDD"/>
            </a:solidFill>
            <a:prstDash val="solid"/>
          </a:ln>
        </p:spPr>
      </p:sp>
      <p:sp>
        <p:nvSpPr>
          <p:cNvPr id="10" name="Text 8"/>
          <p:cNvSpPr txBox="1"/>
          <p:nvPr/>
        </p:nvSpPr>
        <p:spPr>
          <a:xfrm>
            <a:off x="1234440" y="1645920"/>
            <a:ext cx="3657600" cy="182880"/>
          </a:xfrm>
          <a:prstGeom prst="rect">
            <a:avLst/>
          </a:prstGeom>
          <a:noFill/>
          <a:ln/>
        </p:spPr>
        <p:txBody>
          <a:bodyPr wrap="square" lIns="0" tIns="0" rIns="0" bIns="0" rtlCol="0" anchor="ctr"/>
          <a:lstStyle/>
          <a:p>
            <a:pPr indent="0" marL="0">
              <a:buNone/>
            </a:pPr>
            <a:r>
              <a:rPr lang="en-US" sz="850" dirty="0">
                <a:solidFill>
                  <a:srgbClr val="4A5A56"/>
                </a:solidFill>
                <a:latin typeface="Calibri" pitchFamily="34" charset="0"/>
                <a:ea typeface="Calibri" pitchFamily="34" charset="-122"/>
                <a:cs typeface="Calibri" pitchFamily="34" charset="-120"/>
              </a:rPr>
              <a:t>eth.blockid.au/admin  ·  a person approves</a:t>
            </a:r>
            <a:endParaRPr lang="en-US" sz="850" dirty="0"/>
          </a:p>
        </p:txBody>
      </p:sp>
      <p:pic>
        <p:nvPicPr>
          <p:cNvPr id="11" name="Image 0" descr="preencoded.png">    </p:cNvPr>
          <p:cNvPicPr>
            <a:picLocks noChangeAspect="1"/>
          </p:cNvPicPr>
          <p:nvPr/>
        </p:nvPicPr>
        <p:blipFill>
          <a:blip r:embed="rId1"/>
          <a:stretch>
            <a:fillRect/>
          </a:stretch>
        </p:blipFill>
        <p:spPr>
          <a:xfrm>
            <a:off x="502920" y="1874520"/>
            <a:ext cx="5532120" cy="3457575"/>
          </a:xfrm>
          <a:prstGeom prst="rect">
            <a:avLst/>
          </a:prstGeom>
        </p:spPr>
      </p:pic>
      <p:sp>
        <p:nvSpPr>
          <p:cNvPr id="12" name="Shape 9"/>
          <p:cNvSpPr/>
          <p:nvPr/>
        </p:nvSpPr>
        <p:spPr>
          <a:xfrm>
            <a:off x="6135624" y="1563624"/>
            <a:ext cx="5605272" cy="3805047"/>
          </a:xfrm>
          <a:prstGeom prst="roundRect">
            <a:avLst>
              <a:gd name="adj" fmla="val 1682"/>
            </a:avLst>
          </a:prstGeom>
          <a:solidFill>
            <a:srgbClr val="D9DFDD"/>
          </a:solidFill>
          <a:ln w="12700">
            <a:solidFill>
              <a:srgbClr val="D9DFDD"/>
            </a:solidFill>
            <a:prstDash val="solid"/>
          </a:ln>
          <a:effectLst>
            <a:outerShdw sx="100000" sy="100000" kx="0" ky="0" algn="bl" rotWithShape="0" blurRad="203200" dist="76200" dir="5400000">
              <a:srgbClr val="000000">
                <a:alpha val="55000"/>
              </a:srgbClr>
            </a:outerShdw>
          </a:effectLst>
        </p:spPr>
      </p:sp>
      <p:sp>
        <p:nvSpPr>
          <p:cNvPr id="13" name="Shape 10"/>
          <p:cNvSpPr/>
          <p:nvPr/>
        </p:nvSpPr>
        <p:spPr>
          <a:xfrm>
            <a:off x="6172200" y="1600200"/>
            <a:ext cx="5532120" cy="274320"/>
          </a:xfrm>
          <a:prstGeom prst="rect">
            <a:avLst/>
          </a:prstGeom>
          <a:solidFill>
            <a:srgbClr val="ECEFEE"/>
          </a:solidFill>
          <a:ln w="12700">
            <a:solidFill>
              <a:srgbClr val="ECEFEE"/>
            </a:solidFill>
            <a:prstDash val="solid"/>
          </a:ln>
        </p:spPr>
      </p:sp>
      <p:sp>
        <p:nvSpPr>
          <p:cNvPr id="14" name="Shape 11"/>
          <p:cNvSpPr/>
          <p:nvPr/>
        </p:nvSpPr>
        <p:spPr>
          <a:xfrm>
            <a:off x="6281928" y="1687068"/>
            <a:ext cx="100584" cy="100584"/>
          </a:xfrm>
          <a:prstGeom prst="ellipse">
            <a:avLst/>
          </a:prstGeom>
          <a:solidFill>
            <a:srgbClr val="FF5F57"/>
          </a:solidFill>
          <a:ln w="12700">
            <a:solidFill>
              <a:srgbClr val="FF5F57"/>
            </a:solidFill>
            <a:prstDash val="solid"/>
          </a:ln>
        </p:spPr>
      </p:sp>
      <p:sp>
        <p:nvSpPr>
          <p:cNvPr id="15" name="Shape 12"/>
          <p:cNvSpPr/>
          <p:nvPr/>
        </p:nvSpPr>
        <p:spPr>
          <a:xfrm>
            <a:off x="6437376" y="1687068"/>
            <a:ext cx="100584" cy="100584"/>
          </a:xfrm>
          <a:prstGeom prst="ellipse">
            <a:avLst/>
          </a:prstGeom>
          <a:solidFill>
            <a:srgbClr val="FEBC2E"/>
          </a:solidFill>
          <a:ln w="12700">
            <a:solidFill>
              <a:srgbClr val="FEBC2E"/>
            </a:solidFill>
            <a:prstDash val="solid"/>
          </a:ln>
        </p:spPr>
      </p:sp>
      <p:sp>
        <p:nvSpPr>
          <p:cNvPr id="16" name="Shape 13"/>
          <p:cNvSpPr/>
          <p:nvPr/>
        </p:nvSpPr>
        <p:spPr>
          <a:xfrm>
            <a:off x="6592824" y="1687068"/>
            <a:ext cx="100584" cy="100584"/>
          </a:xfrm>
          <a:prstGeom prst="ellipse">
            <a:avLst/>
          </a:prstGeom>
          <a:solidFill>
            <a:srgbClr val="28C840"/>
          </a:solidFill>
          <a:ln w="12700">
            <a:solidFill>
              <a:srgbClr val="28C840"/>
            </a:solidFill>
            <a:prstDash val="solid"/>
          </a:ln>
        </p:spPr>
      </p:sp>
      <p:sp>
        <p:nvSpPr>
          <p:cNvPr id="17" name="Shape 14"/>
          <p:cNvSpPr/>
          <p:nvPr/>
        </p:nvSpPr>
        <p:spPr>
          <a:xfrm>
            <a:off x="6812280" y="1645920"/>
            <a:ext cx="3840480" cy="182880"/>
          </a:xfrm>
          <a:prstGeom prst="roundRect">
            <a:avLst>
              <a:gd name="adj" fmla="val 25000"/>
            </a:avLst>
          </a:prstGeom>
          <a:solidFill>
            <a:srgbClr val="FFFFFF"/>
          </a:solidFill>
          <a:ln w="12700">
            <a:solidFill>
              <a:srgbClr val="D9DFDD"/>
            </a:solidFill>
            <a:prstDash val="solid"/>
          </a:ln>
        </p:spPr>
      </p:sp>
      <p:sp>
        <p:nvSpPr>
          <p:cNvPr id="18" name="Text 15"/>
          <p:cNvSpPr txBox="1"/>
          <p:nvPr/>
        </p:nvSpPr>
        <p:spPr>
          <a:xfrm>
            <a:off x="6903720" y="1645920"/>
            <a:ext cx="3657600" cy="182880"/>
          </a:xfrm>
          <a:prstGeom prst="rect">
            <a:avLst/>
          </a:prstGeom>
          <a:noFill/>
          <a:ln/>
        </p:spPr>
        <p:txBody>
          <a:bodyPr wrap="square" lIns="0" tIns="0" rIns="0" bIns="0" rtlCol="0" anchor="ctr"/>
          <a:lstStyle/>
          <a:p>
            <a:pPr indent="0" marL="0">
              <a:buNone/>
            </a:pPr>
            <a:r>
              <a:rPr lang="en-US" sz="850" dirty="0">
                <a:solidFill>
                  <a:srgbClr val="4A5A56"/>
                </a:solidFill>
                <a:latin typeface="Calibri" pitchFamily="34" charset="0"/>
                <a:ea typeface="Calibri" pitchFamily="34" charset="-122"/>
                <a:cs typeface="Calibri" pitchFamily="34" charset="-120"/>
              </a:rPr>
              <a:t>eth.blockid.au/hsk  ·  HashKey Chain, chain 133</a:t>
            </a:r>
            <a:endParaRPr lang="en-US" sz="850" dirty="0"/>
          </a:p>
        </p:txBody>
      </p:sp>
      <p:pic>
        <p:nvPicPr>
          <p:cNvPr id="19" name="Image 1" descr="preencoded.png">    </p:cNvPr>
          <p:cNvPicPr>
            <a:picLocks noChangeAspect="1"/>
          </p:cNvPicPr>
          <p:nvPr/>
        </p:nvPicPr>
        <p:blipFill>
          <a:blip r:embed="rId2"/>
          <a:stretch>
            <a:fillRect/>
          </a:stretch>
        </p:blipFill>
        <p:spPr>
          <a:xfrm>
            <a:off x="6172200" y="1874520"/>
            <a:ext cx="5532120" cy="3457575"/>
          </a:xfrm>
          <a:prstGeom prst="rect">
            <a:avLst/>
          </a:prstGeom>
        </p:spPr>
      </p:pic>
      <p:sp>
        <p:nvSpPr>
          <p:cNvPr id="20" name="Shape 16"/>
          <p:cNvSpPr/>
          <p:nvPr/>
        </p:nvSpPr>
        <p:spPr>
          <a:xfrm>
            <a:off x="502920" y="5486400"/>
            <a:ext cx="3611880" cy="749808"/>
          </a:xfrm>
          <a:prstGeom prst="roundRect">
            <a:avLst>
              <a:gd name="adj" fmla="val 14634"/>
            </a:avLst>
          </a:prstGeom>
          <a:solidFill>
            <a:srgbClr val="12201D"/>
          </a:solidFill>
          <a:ln w="12700">
            <a:solidFill>
              <a:srgbClr val="22A07F"/>
            </a:solidFill>
            <a:prstDash val="solid"/>
          </a:ln>
        </p:spPr>
      </p:sp>
      <p:sp>
        <p:nvSpPr>
          <p:cNvPr id="21" name="Text 17"/>
          <p:cNvSpPr txBox="1"/>
          <p:nvPr/>
        </p:nvSpPr>
        <p:spPr>
          <a:xfrm>
            <a:off x="667512" y="5522976"/>
            <a:ext cx="3291840" cy="329184"/>
          </a:xfrm>
          <a:prstGeom prst="rect">
            <a:avLst/>
          </a:prstGeom>
          <a:noFill/>
          <a:ln/>
        </p:spPr>
        <p:txBody>
          <a:bodyPr wrap="square" lIns="0" tIns="0" rIns="0" bIns="0" rtlCol="0" anchor="ctr"/>
          <a:lstStyle/>
          <a:p>
            <a:pPr indent="0" marL="0">
              <a:buNone/>
            </a:pPr>
            <a:r>
              <a:rPr lang="en-US" sz="1400" b="1" dirty="0">
                <a:solidFill>
                  <a:srgbClr val="22A07F"/>
                </a:solidFill>
                <a:latin typeface="Arial" pitchFamily="34" charset="0"/>
                <a:ea typeface="Arial" pitchFamily="34" charset="-122"/>
                <a:cs typeface="Arial" pitchFamily="34" charset="-120"/>
              </a:rPr>
              <a:t>AI agents propose</a:t>
            </a:r>
            <a:endParaRPr lang="en-US" sz="1400" dirty="0"/>
          </a:p>
        </p:txBody>
      </p:sp>
      <p:sp>
        <p:nvSpPr>
          <p:cNvPr id="22" name="Text 18"/>
          <p:cNvSpPr txBox="1"/>
          <p:nvPr/>
        </p:nvSpPr>
        <p:spPr>
          <a:xfrm>
            <a:off x="667512" y="5852160"/>
            <a:ext cx="3337560" cy="347472"/>
          </a:xfrm>
          <a:prstGeom prst="rect">
            <a:avLst/>
          </a:prstGeom>
          <a:noFill/>
          <a:ln/>
        </p:spPr>
        <p:txBody>
          <a:bodyPr wrap="square" lIns="0" tIns="0" rIns="0" bIns="0" rtlCol="0" anchor="ctr"/>
          <a:lstStyle/>
          <a:p>
            <a:pPr indent="0" marL="0">
              <a:buNone/>
            </a:pPr>
            <a:r>
              <a:rPr lang="en-US" sz="1050" dirty="0">
                <a:solidFill>
                  <a:srgbClr val="A9BDB7"/>
                </a:solidFill>
                <a:latin typeface="Calibri" pitchFamily="34" charset="0"/>
                <a:ea typeface="Calibri" pitchFamily="34" charset="-122"/>
                <a:cs typeface="Calibri" pitchFamily="34" charset="-120"/>
              </a:rPr>
              <a:t>research and value; no keys, no network path to keys</a:t>
            </a:r>
            <a:endParaRPr lang="en-US" sz="1050" dirty="0"/>
          </a:p>
        </p:txBody>
      </p:sp>
      <p:sp>
        <p:nvSpPr>
          <p:cNvPr id="23" name="Text 19"/>
          <p:cNvSpPr txBox="1"/>
          <p:nvPr/>
        </p:nvSpPr>
        <p:spPr>
          <a:xfrm>
            <a:off x="4096512" y="5486400"/>
            <a:ext cx="201168" cy="749808"/>
          </a:xfrm>
          <a:prstGeom prst="rect">
            <a:avLst/>
          </a:prstGeom>
          <a:noFill/>
          <a:ln/>
        </p:spPr>
        <p:txBody>
          <a:bodyPr wrap="square" lIns="0" tIns="0" rIns="0" bIns="0" rtlCol="0" anchor="ctr"/>
          <a:lstStyle/>
          <a:p>
            <a:pPr algn="ctr" indent="0" marL="0">
              <a:buNone/>
            </a:pPr>
            <a:r>
              <a:rPr lang="en-US" sz="1600" b="1" dirty="0">
                <a:solidFill>
                  <a:srgbClr val="A9BDB7"/>
                </a:solidFill>
                <a:latin typeface="Calibri" pitchFamily="34" charset="0"/>
                <a:ea typeface="Calibri" pitchFamily="34" charset="-122"/>
                <a:cs typeface="Calibri" pitchFamily="34" charset="-120"/>
              </a:rPr>
              <a:t>→</a:t>
            </a:r>
            <a:endParaRPr lang="en-US" sz="1600" dirty="0"/>
          </a:p>
        </p:txBody>
      </p:sp>
      <p:sp>
        <p:nvSpPr>
          <p:cNvPr id="24" name="Shape 20"/>
          <p:cNvSpPr/>
          <p:nvPr/>
        </p:nvSpPr>
        <p:spPr>
          <a:xfrm>
            <a:off x="4279392" y="5486400"/>
            <a:ext cx="3611880" cy="749808"/>
          </a:xfrm>
          <a:prstGeom prst="roundRect">
            <a:avLst>
              <a:gd name="adj" fmla="val 14634"/>
            </a:avLst>
          </a:prstGeom>
          <a:solidFill>
            <a:srgbClr val="12201D"/>
          </a:solidFill>
          <a:ln w="12700">
            <a:solidFill>
              <a:srgbClr val="E3A83A"/>
            </a:solidFill>
            <a:prstDash val="solid"/>
          </a:ln>
        </p:spPr>
      </p:sp>
      <p:sp>
        <p:nvSpPr>
          <p:cNvPr id="25" name="Text 21"/>
          <p:cNvSpPr txBox="1"/>
          <p:nvPr/>
        </p:nvSpPr>
        <p:spPr>
          <a:xfrm>
            <a:off x="4443984" y="5522976"/>
            <a:ext cx="3291840" cy="329184"/>
          </a:xfrm>
          <a:prstGeom prst="rect">
            <a:avLst/>
          </a:prstGeom>
          <a:noFill/>
          <a:ln/>
        </p:spPr>
        <p:txBody>
          <a:bodyPr wrap="square" lIns="0" tIns="0" rIns="0" bIns="0" rtlCol="0" anchor="ctr"/>
          <a:lstStyle/>
          <a:p>
            <a:pPr indent="0" marL="0">
              <a:buNone/>
            </a:pPr>
            <a:r>
              <a:rPr lang="en-US" sz="1400" b="1" dirty="0">
                <a:solidFill>
                  <a:srgbClr val="E3A83A"/>
                </a:solidFill>
                <a:latin typeface="Arial" pitchFamily="34" charset="0"/>
                <a:ea typeface="Arial" pitchFamily="34" charset="-122"/>
                <a:cs typeface="Arial" pitchFamily="34" charset="-120"/>
              </a:rPr>
              <a:t>A person approves</a:t>
            </a:r>
            <a:endParaRPr lang="en-US" sz="1400" dirty="0"/>
          </a:p>
        </p:txBody>
      </p:sp>
      <p:sp>
        <p:nvSpPr>
          <p:cNvPr id="26" name="Text 22"/>
          <p:cNvSpPr txBox="1"/>
          <p:nvPr/>
        </p:nvSpPr>
        <p:spPr>
          <a:xfrm>
            <a:off x="4443984" y="5852160"/>
            <a:ext cx="3337560" cy="347472"/>
          </a:xfrm>
          <a:prstGeom prst="rect">
            <a:avLst/>
          </a:prstGeom>
          <a:noFill/>
          <a:ln/>
        </p:spPr>
        <p:txBody>
          <a:bodyPr wrap="square" lIns="0" tIns="0" rIns="0" bIns="0" rtlCol="0" anchor="ctr"/>
          <a:lstStyle/>
          <a:p>
            <a:pPr indent="0" marL="0">
              <a:buNone/>
            </a:pPr>
            <a:r>
              <a:rPr lang="en-US" sz="1050" dirty="0">
                <a:solidFill>
                  <a:srgbClr val="A9BDB7"/>
                </a:solidFill>
                <a:latin typeface="Calibri" pitchFamily="34" charset="0"/>
                <a:ea typeface="Calibri" pitchFamily="34" charset="-122"/>
                <a:cs typeface="Calibri" pitchFamily="34" charset="-120"/>
              </a:rPr>
              <a:t>admin wallet signs one approval, four-eyes rule on chain</a:t>
            </a:r>
            <a:endParaRPr lang="en-US" sz="1050" dirty="0"/>
          </a:p>
        </p:txBody>
      </p:sp>
      <p:sp>
        <p:nvSpPr>
          <p:cNvPr id="27" name="Text 23"/>
          <p:cNvSpPr txBox="1"/>
          <p:nvPr/>
        </p:nvSpPr>
        <p:spPr>
          <a:xfrm>
            <a:off x="7872984" y="5486400"/>
            <a:ext cx="201168" cy="749808"/>
          </a:xfrm>
          <a:prstGeom prst="rect">
            <a:avLst/>
          </a:prstGeom>
          <a:noFill/>
          <a:ln/>
        </p:spPr>
        <p:txBody>
          <a:bodyPr wrap="square" lIns="0" tIns="0" rIns="0" bIns="0" rtlCol="0" anchor="ctr"/>
          <a:lstStyle/>
          <a:p>
            <a:pPr algn="ctr" indent="0" marL="0">
              <a:buNone/>
            </a:pPr>
            <a:r>
              <a:rPr lang="en-US" sz="1600" b="1" dirty="0">
                <a:solidFill>
                  <a:srgbClr val="A9BDB7"/>
                </a:solidFill>
                <a:latin typeface="Calibri" pitchFamily="34" charset="0"/>
                <a:ea typeface="Calibri" pitchFamily="34" charset="-122"/>
                <a:cs typeface="Calibri" pitchFamily="34" charset="-120"/>
              </a:rPr>
              <a:t>→</a:t>
            </a:r>
            <a:endParaRPr lang="en-US" sz="1600" dirty="0"/>
          </a:p>
        </p:txBody>
      </p:sp>
      <p:sp>
        <p:nvSpPr>
          <p:cNvPr id="28" name="Shape 24"/>
          <p:cNvSpPr/>
          <p:nvPr/>
        </p:nvSpPr>
        <p:spPr>
          <a:xfrm>
            <a:off x="8055864" y="5486400"/>
            <a:ext cx="3611880" cy="749808"/>
          </a:xfrm>
          <a:prstGeom prst="roundRect">
            <a:avLst>
              <a:gd name="adj" fmla="val 14634"/>
            </a:avLst>
          </a:prstGeom>
          <a:solidFill>
            <a:srgbClr val="12201D"/>
          </a:solidFill>
          <a:ln w="12700">
            <a:solidFill>
              <a:srgbClr val="9B7BD4"/>
            </a:solidFill>
            <a:prstDash val="solid"/>
          </a:ln>
        </p:spPr>
      </p:sp>
      <p:sp>
        <p:nvSpPr>
          <p:cNvPr id="29" name="Text 25"/>
          <p:cNvSpPr txBox="1"/>
          <p:nvPr/>
        </p:nvSpPr>
        <p:spPr>
          <a:xfrm>
            <a:off x="8220456" y="5522976"/>
            <a:ext cx="3291840" cy="329184"/>
          </a:xfrm>
          <a:prstGeom prst="rect">
            <a:avLst/>
          </a:prstGeom>
          <a:noFill/>
          <a:ln/>
        </p:spPr>
        <p:txBody>
          <a:bodyPr wrap="square" lIns="0" tIns="0" rIns="0" bIns="0" rtlCol="0" anchor="ctr"/>
          <a:lstStyle/>
          <a:p>
            <a:pPr indent="0" marL="0">
              <a:buNone/>
            </a:pPr>
            <a:r>
              <a:rPr lang="en-US" sz="1400" b="1" dirty="0">
                <a:solidFill>
                  <a:srgbClr val="9B7BD4"/>
                </a:solidFill>
                <a:latin typeface="Arial" pitchFamily="34" charset="0"/>
                <a:ea typeface="Arial" pitchFamily="34" charset="-122"/>
                <a:cs typeface="Arial" pitchFamily="34" charset="-120"/>
              </a:rPr>
              <a:t>Isolated issuer acts</a:t>
            </a:r>
            <a:endParaRPr lang="en-US" sz="1400" dirty="0"/>
          </a:p>
        </p:txBody>
      </p:sp>
      <p:sp>
        <p:nvSpPr>
          <p:cNvPr id="30" name="Text 26"/>
          <p:cNvSpPr txBox="1"/>
          <p:nvPr/>
        </p:nvSpPr>
        <p:spPr>
          <a:xfrm>
            <a:off x="8220456" y="5852160"/>
            <a:ext cx="3337560" cy="347472"/>
          </a:xfrm>
          <a:prstGeom prst="rect">
            <a:avLst/>
          </a:prstGeom>
          <a:noFill/>
          <a:ln/>
        </p:spPr>
        <p:txBody>
          <a:bodyPr wrap="square" lIns="0" tIns="0" rIns="0" bIns="0" rtlCol="0" anchor="ctr"/>
          <a:lstStyle/>
          <a:p>
            <a:pPr indent="0" marL="0">
              <a:buNone/>
            </a:pPr>
            <a:r>
              <a:rPr lang="en-US" sz="1050" dirty="0">
                <a:solidFill>
                  <a:srgbClr val="A9BDB7"/>
                </a:solidFill>
                <a:latin typeface="Calibri" pitchFamily="34" charset="0"/>
                <a:ea typeface="Calibri" pitchFamily="34" charset="-122"/>
                <a:cs typeface="Calibri" pitchFamily="34" charset="-120"/>
              </a:rPr>
              <a:t>only key holder; writes BlockID Chain, mirrors Ethereum + HashKey</a:t>
            </a:r>
            <a:endParaRPr lang="en-US" sz="1050" dirty="0"/>
          </a:p>
        </p:txBody>
      </p:sp>
      <p:sp>
        <p:nvSpPr>
          <p:cNvPr id="31" name="Text 27"/>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7FE0C2"/>
                </a:solidFill>
                <a:latin typeface="Calibri" pitchFamily="34" charset="0"/>
                <a:ea typeface="Calibri" pitchFamily="34" charset="-122"/>
                <a:cs typeface="Calibri" pitchFamily="34" charset="-120"/>
              </a:rPr>
              <a:t>12 / 13   ·   THE TEAM</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Built by founders who have run tech at scale.</a:t>
            </a:r>
            <a:endParaRPr lang="en-US" sz="3000" dirty="0"/>
          </a:p>
        </p:txBody>
      </p:sp>
      <p:sp>
        <p:nvSpPr>
          <p:cNvPr id="4" name="Shape 2"/>
          <p:cNvSpPr/>
          <p:nvPr/>
        </p:nvSpPr>
        <p:spPr>
          <a:xfrm>
            <a:off x="502920" y="1554480"/>
            <a:ext cx="5532120" cy="2926080"/>
          </a:xfrm>
          <a:prstGeom prst="roundRect">
            <a:avLst>
              <a:gd name="adj" fmla="val 3750"/>
            </a:avLst>
          </a:prstGeom>
          <a:solidFill>
            <a:srgbClr val="12201D"/>
          </a:solidFill>
          <a:ln w="12700">
            <a:solidFill>
              <a:srgbClr val="22A07F"/>
            </a:solidFill>
            <a:prstDash val="solid"/>
          </a:ln>
        </p:spPr>
      </p:sp>
      <p:sp>
        <p:nvSpPr>
          <p:cNvPr id="5" name="Shape 3"/>
          <p:cNvSpPr/>
          <p:nvPr/>
        </p:nvSpPr>
        <p:spPr>
          <a:xfrm>
            <a:off x="777240" y="1783080"/>
            <a:ext cx="868680" cy="868680"/>
          </a:xfrm>
          <a:prstGeom prst="ellipse">
            <a:avLst/>
          </a:prstGeom>
          <a:solidFill>
            <a:srgbClr val="22A07F"/>
          </a:solidFill>
          <a:ln w="12700">
            <a:solidFill>
              <a:srgbClr val="22A07F"/>
            </a:solidFill>
            <a:prstDash val="solid"/>
          </a:ln>
        </p:spPr>
      </p:sp>
      <p:sp>
        <p:nvSpPr>
          <p:cNvPr id="6" name="Text 4"/>
          <p:cNvSpPr txBox="1"/>
          <p:nvPr/>
        </p:nvSpPr>
        <p:spPr>
          <a:xfrm>
            <a:off x="777240" y="1783080"/>
            <a:ext cx="868680" cy="868680"/>
          </a:xfrm>
          <a:prstGeom prst="rect">
            <a:avLst/>
          </a:prstGeom>
          <a:noFill/>
          <a:ln/>
        </p:spPr>
        <p:txBody>
          <a:bodyPr wrap="square" lIns="0" tIns="0" rIns="0" bIns="0" rtlCol="0" anchor="ctr"/>
          <a:lstStyle/>
          <a:p>
            <a:pPr algn="ctr" indent="0" marL="0">
              <a:buNone/>
            </a:pPr>
            <a:r>
              <a:rPr lang="en-US" sz="2400" b="1" dirty="0">
                <a:solidFill>
                  <a:srgbClr val="0A1311"/>
                </a:solidFill>
                <a:latin typeface="Arial" pitchFamily="34" charset="0"/>
                <a:ea typeface="Arial" pitchFamily="34" charset="-122"/>
                <a:cs typeface="Arial" pitchFamily="34" charset="-120"/>
              </a:rPr>
              <a:t>DL</a:t>
            </a:r>
            <a:endParaRPr lang="en-US" sz="2400" dirty="0"/>
          </a:p>
        </p:txBody>
      </p:sp>
      <p:sp>
        <p:nvSpPr>
          <p:cNvPr id="7" name="Text 5"/>
          <p:cNvSpPr txBox="1"/>
          <p:nvPr/>
        </p:nvSpPr>
        <p:spPr>
          <a:xfrm>
            <a:off x="1828800" y="1783080"/>
            <a:ext cx="4023360" cy="411480"/>
          </a:xfrm>
          <a:prstGeom prst="rect">
            <a:avLst/>
          </a:prstGeom>
          <a:noFill/>
          <a:ln/>
        </p:spPr>
        <p:txBody>
          <a:bodyPr wrap="square" lIns="0" tIns="0" rIns="0" bIns="0" rtlCol="0" anchor="ctr"/>
          <a:lstStyle/>
          <a:p>
            <a:pPr indent="0" marL="0">
              <a:buNone/>
            </a:pPr>
            <a:r>
              <a:rPr lang="en-US" sz="2100" b="1" dirty="0">
                <a:solidFill>
                  <a:srgbClr val="F2F7F5"/>
                </a:solidFill>
                <a:latin typeface="Arial" pitchFamily="34" charset="0"/>
                <a:ea typeface="Arial" pitchFamily="34" charset="-122"/>
                <a:cs typeface="Arial" pitchFamily="34" charset="-120"/>
              </a:rPr>
              <a:t>Do Van Long</a:t>
            </a:r>
            <a:endParaRPr lang="en-US" sz="2100" dirty="0"/>
          </a:p>
        </p:txBody>
      </p:sp>
      <p:sp>
        <p:nvSpPr>
          <p:cNvPr id="8" name="Text 6"/>
          <p:cNvSpPr txBox="1"/>
          <p:nvPr/>
        </p:nvSpPr>
        <p:spPr>
          <a:xfrm>
            <a:off x="1828800" y="2212848"/>
            <a:ext cx="4023360" cy="320040"/>
          </a:xfrm>
          <a:prstGeom prst="rect">
            <a:avLst/>
          </a:prstGeom>
          <a:noFill/>
          <a:ln/>
        </p:spPr>
        <p:txBody>
          <a:bodyPr wrap="square" lIns="0" tIns="0" rIns="0" bIns="0" rtlCol="0" anchor="ctr"/>
          <a:lstStyle/>
          <a:p>
            <a:pPr indent="0" marL="0">
              <a:buNone/>
            </a:pPr>
            <a:r>
              <a:rPr lang="en-US" sz="1400" b="1" dirty="0">
                <a:solidFill>
                  <a:srgbClr val="22A07F"/>
                </a:solidFill>
                <a:latin typeface="Calibri" pitchFamily="34" charset="0"/>
                <a:ea typeface="Calibri" pitchFamily="34" charset="-122"/>
                <a:cs typeface="Calibri" pitchFamily="34" charset="-120"/>
              </a:rPr>
              <a:t>Founder &amp; CEO</a:t>
            </a:r>
            <a:endParaRPr lang="en-US" sz="1400" dirty="0"/>
          </a:p>
        </p:txBody>
      </p:sp>
      <p:sp>
        <p:nvSpPr>
          <p:cNvPr id="9" name="Shape 7"/>
          <p:cNvSpPr/>
          <p:nvPr/>
        </p:nvSpPr>
        <p:spPr>
          <a:xfrm>
            <a:off x="777240" y="2926080"/>
            <a:ext cx="146304" cy="146304"/>
          </a:xfrm>
          <a:prstGeom prst="ellipse">
            <a:avLst/>
          </a:prstGeom>
          <a:solidFill>
            <a:srgbClr val="22A07F"/>
          </a:solidFill>
          <a:ln w="12700">
            <a:solidFill>
              <a:srgbClr val="22A07F"/>
            </a:solidFill>
            <a:prstDash val="solid"/>
          </a:ln>
        </p:spPr>
      </p:sp>
      <p:sp>
        <p:nvSpPr>
          <p:cNvPr id="10" name="Text 8"/>
          <p:cNvSpPr txBox="1"/>
          <p:nvPr/>
        </p:nvSpPr>
        <p:spPr>
          <a:xfrm>
            <a:off x="1069848" y="2834640"/>
            <a:ext cx="482803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Former CTO of major Vietnamese corporations</a:t>
            </a:r>
            <a:endParaRPr lang="en-US" sz="1300" dirty="0"/>
          </a:p>
        </p:txBody>
      </p:sp>
      <p:sp>
        <p:nvSpPr>
          <p:cNvPr id="11" name="Shape 9"/>
          <p:cNvSpPr/>
          <p:nvPr/>
        </p:nvSpPr>
        <p:spPr>
          <a:xfrm>
            <a:off x="777240" y="3310128"/>
            <a:ext cx="146304" cy="146304"/>
          </a:xfrm>
          <a:prstGeom prst="ellipse">
            <a:avLst/>
          </a:prstGeom>
          <a:solidFill>
            <a:srgbClr val="22A07F"/>
          </a:solidFill>
          <a:ln w="12700">
            <a:solidFill>
              <a:srgbClr val="22A07F"/>
            </a:solidFill>
            <a:prstDash val="solid"/>
          </a:ln>
        </p:spPr>
      </p:sp>
      <p:sp>
        <p:nvSpPr>
          <p:cNvPr id="12" name="Text 10"/>
          <p:cNvSpPr txBox="1"/>
          <p:nvPr/>
        </p:nvSpPr>
        <p:spPr>
          <a:xfrm>
            <a:off x="1069848" y="3218688"/>
            <a:ext cx="482803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Founded Vietnam Blockchain Corporation (2016) and Auschain (Sydney)</a:t>
            </a:r>
            <a:endParaRPr lang="en-US" sz="1300" dirty="0"/>
          </a:p>
        </p:txBody>
      </p:sp>
      <p:sp>
        <p:nvSpPr>
          <p:cNvPr id="13" name="Shape 11"/>
          <p:cNvSpPr/>
          <p:nvPr/>
        </p:nvSpPr>
        <p:spPr>
          <a:xfrm>
            <a:off x="777240" y="3694176"/>
            <a:ext cx="146304" cy="146304"/>
          </a:xfrm>
          <a:prstGeom prst="ellipse">
            <a:avLst/>
          </a:prstGeom>
          <a:solidFill>
            <a:srgbClr val="22A07F"/>
          </a:solidFill>
          <a:ln w="12700">
            <a:solidFill>
              <a:srgbClr val="22A07F"/>
            </a:solidFill>
            <a:prstDash val="solid"/>
          </a:ln>
        </p:spPr>
      </p:sp>
      <p:sp>
        <p:nvSpPr>
          <p:cNvPr id="14" name="Text 12"/>
          <p:cNvSpPr txBox="1"/>
          <p:nvPr/>
        </p:nvSpPr>
        <p:spPr>
          <a:xfrm>
            <a:off x="1069848" y="3602736"/>
            <a:ext cx="482803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Built Agridential, national-scale blockchain traceability</a:t>
            </a:r>
            <a:endParaRPr lang="en-US" sz="1300" dirty="0"/>
          </a:p>
        </p:txBody>
      </p:sp>
      <p:sp>
        <p:nvSpPr>
          <p:cNvPr id="15" name="Shape 13"/>
          <p:cNvSpPr/>
          <p:nvPr/>
        </p:nvSpPr>
        <p:spPr>
          <a:xfrm>
            <a:off x="777240" y="3977640"/>
            <a:ext cx="4983480" cy="347472"/>
          </a:xfrm>
          <a:prstGeom prst="roundRect">
            <a:avLst>
              <a:gd name="adj" fmla="val 21053"/>
            </a:avLst>
          </a:prstGeom>
          <a:solidFill>
            <a:srgbClr val="172A26"/>
          </a:solidFill>
          <a:ln w="12700">
            <a:solidFill>
              <a:srgbClr val="22A07F"/>
            </a:solidFill>
            <a:prstDash val="solid"/>
          </a:ln>
        </p:spPr>
      </p:sp>
      <p:sp>
        <p:nvSpPr>
          <p:cNvPr id="16" name="Text 14"/>
          <p:cNvSpPr txBox="1"/>
          <p:nvPr/>
        </p:nvSpPr>
        <p:spPr>
          <a:xfrm>
            <a:off x="777240" y="3977640"/>
            <a:ext cx="4983480" cy="347472"/>
          </a:xfrm>
          <a:prstGeom prst="rect">
            <a:avLst/>
          </a:prstGeom>
          <a:noFill/>
          <a:ln/>
        </p:spPr>
        <p:txBody>
          <a:bodyPr wrap="square" lIns="0" tIns="0" rIns="0" bIns="0" rtlCol="0" anchor="ctr"/>
          <a:lstStyle/>
          <a:p>
            <a:pPr algn="ctr" indent="0" marL="0">
              <a:buNone/>
            </a:pPr>
            <a:r>
              <a:rPr lang="en-US" sz="1250" b="1" dirty="0">
                <a:solidFill>
                  <a:srgbClr val="F2F7F5"/>
                </a:solidFill>
                <a:latin typeface="Calibri" pitchFamily="34" charset="0"/>
                <a:ea typeface="Calibri" pitchFamily="34" charset="-122"/>
                <a:cs typeface="Calibri" pitchFamily="34" charset="-120"/>
              </a:rPr>
              <a:t>Australia Global Talent visa (subclass 858)</a:t>
            </a:r>
            <a:endParaRPr lang="en-US" sz="1250" dirty="0"/>
          </a:p>
        </p:txBody>
      </p:sp>
      <p:sp>
        <p:nvSpPr>
          <p:cNvPr id="17" name="Shape 15"/>
          <p:cNvSpPr/>
          <p:nvPr/>
        </p:nvSpPr>
        <p:spPr>
          <a:xfrm>
            <a:off x="6172200" y="1554480"/>
            <a:ext cx="5532120" cy="2926080"/>
          </a:xfrm>
          <a:prstGeom prst="roundRect">
            <a:avLst>
              <a:gd name="adj" fmla="val 3750"/>
            </a:avLst>
          </a:prstGeom>
          <a:solidFill>
            <a:srgbClr val="12201D"/>
          </a:solidFill>
          <a:ln w="12700">
            <a:solidFill>
              <a:srgbClr val="E3A83A"/>
            </a:solidFill>
            <a:prstDash val="solid"/>
          </a:ln>
        </p:spPr>
      </p:sp>
      <p:sp>
        <p:nvSpPr>
          <p:cNvPr id="18" name="Shape 16"/>
          <p:cNvSpPr/>
          <p:nvPr/>
        </p:nvSpPr>
        <p:spPr>
          <a:xfrm>
            <a:off x="6446520" y="1783080"/>
            <a:ext cx="868680" cy="868680"/>
          </a:xfrm>
          <a:prstGeom prst="ellipse">
            <a:avLst/>
          </a:prstGeom>
          <a:solidFill>
            <a:srgbClr val="E3A83A"/>
          </a:solidFill>
          <a:ln w="12700">
            <a:solidFill>
              <a:srgbClr val="E3A83A"/>
            </a:solidFill>
            <a:prstDash val="solid"/>
          </a:ln>
        </p:spPr>
      </p:sp>
      <p:sp>
        <p:nvSpPr>
          <p:cNvPr id="19" name="Text 17"/>
          <p:cNvSpPr txBox="1"/>
          <p:nvPr/>
        </p:nvSpPr>
        <p:spPr>
          <a:xfrm>
            <a:off x="6446520" y="1783080"/>
            <a:ext cx="868680" cy="868680"/>
          </a:xfrm>
          <a:prstGeom prst="rect">
            <a:avLst/>
          </a:prstGeom>
          <a:noFill/>
          <a:ln/>
        </p:spPr>
        <p:txBody>
          <a:bodyPr wrap="square" lIns="0" tIns="0" rIns="0" bIns="0" rtlCol="0" anchor="ctr"/>
          <a:lstStyle/>
          <a:p>
            <a:pPr algn="ctr" indent="0" marL="0">
              <a:buNone/>
            </a:pPr>
            <a:r>
              <a:rPr lang="en-US" sz="2400" b="1" dirty="0">
                <a:solidFill>
                  <a:srgbClr val="0A1311"/>
                </a:solidFill>
                <a:latin typeface="Arial" pitchFamily="34" charset="0"/>
                <a:ea typeface="Arial" pitchFamily="34" charset="-122"/>
                <a:cs typeface="Arial" pitchFamily="34" charset="-120"/>
              </a:rPr>
              <a:t>TT</a:t>
            </a:r>
            <a:endParaRPr lang="en-US" sz="2400" dirty="0"/>
          </a:p>
        </p:txBody>
      </p:sp>
      <p:sp>
        <p:nvSpPr>
          <p:cNvPr id="20" name="Text 18"/>
          <p:cNvSpPr txBox="1"/>
          <p:nvPr/>
        </p:nvSpPr>
        <p:spPr>
          <a:xfrm>
            <a:off x="7498080" y="1783080"/>
            <a:ext cx="4023360" cy="411480"/>
          </a:xfrm>
          <a:prstGeom prst="rect">
            <a:avLst/>
          </a:prstGeom>
          <a:noFill/>
          <a:ln/>
        </p:spPr>
        <p:txBody>
          <a:bodyPr wrap="square" lIns="0" tIns="0" rIns="0" bIns="0" rtlCol="0" anchor="ctr"/>
          <a:lstStyle/>
          <a:p>
            <a:pPr indent="0" marL="0">
              <a:buNone/>
            </a:pPr>
            <a:r>
              <a:rPr lang="en-US" sz="2100" b="1" dirty="0">
                <a:solidFill>
                  <a:srgbClr val="F2F7F5"/>
                </a:solidFill>
                <a:latin typeface="Arial" pitchFamily="34" charset="0"/>
                <a:ea typeface="Arial" pitchFamily="34" charset="-122"/>
                <a:cs typeface="Arial" pitchFamily="34" charset="-120"/>
              </a:rPr>
              <a:t>Truong Quoc Tuan</a:t>
            </a:r>
            <a:endParaRPr lang="en-US" sz="2100" dirty="0"/>
          </a:p>
        </p:txBody>
      </p:sp>
      <p:sp>
        <p:nvSpPr>
          <p:cNvPr id="21" name="Text 19"/>
          <p:cNvSpPr txBox="1"/>
          <p:nvPr/>
        </p:nvSpPr>
        <p:spPr>
          <a:xfrm>
            <a:off x="7498080" y="2212848"/>
            <a:ext cx="4023360" cy="320040"/>
          </a:xfrm>
          <a:prstGeom prst="rect">
            <a:avLst/>
          </a:prstGeom>
          <a:noFill/>
          <a:ln/>
        </p:spPr>
        <p:txBody>
          <a:bodyPr wrap="square" lIns="0" tIns="0" rIns="0" bIns="0" rtlCol="0" anchor="ctr"/>
          <a:lstStyle/>
          <a:p>
            <a:pPr indent="0" marL="0">
              <a:buNone/>
            </a:pPr>
            <a:r>
              <a:rPr lang="en-US" sz="1400" b="1" dirty="0">
                <a:solidFill>
                  <a:srgbClr val="E3A83A"/>
                </a:solidFill>
                <a:latin typeface="Calibri" pitchFamily="34" charset="0"/>
                <a:ea typeface="Calibri" pitchFamily="34" charset="-122"/>
                <a:cs typeface="Calibri" pitchFamily="34" charset="-120"/>
              </a:rPr>
              <a:t>Co-founder</a:t>
            </a:r>
            <a:endParaRPr lang="en-US" sz="1400" dirty="0"/>
          </a:p>
        </p:txBody>
      </p:sp>
      <p:sp>
        <p:nvSpPr>
          <p:cNvPr id="22" name="Shape 20"/>
          <p:cNvSpPr/>
          <p:nvPr/>
        </p:nvSpPr>
        <p:spPr>
          <a:xfrm>
            <a:off x="6446520" y="2926080"/>
            <a:ext cx="146304" cy="146304"/>
          </a:xfrm>
          <a:prstGeom prst="ellipse">
            <a:avLst/>
          </a:prstGeom>
          <a:solidFill>
            <a:srgbClr val="E3A83A"/>
          </a:solidFill>
          <a:ln w="12700">
            <a:solidFill>
              <a:srgbClr val="E3A83A"/>
            </a:solidFill>
            <a:prstDash val="solid"/>
          </a:ln>
        </p:spPr>
      </p:sp>
      <p:sp>
        <p:nvSpPr>
          <p:cNvPr id="23" name="Text 21"/>
          <p:cNvSpPr txBox="1"/>
          <p:nvPr/>
        </p:nvSpPr>
        <p:spPr>
          <a:xfrm>
            <a:off x="6739128" y="2834640"/>
            <a:ext cx="482803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Former CTO of major Vietnamese corporations</a:t>
            </a:r>
            <a:endParaRPr lang="en-US" sz="1300" dirty="0"/>
          </a:p>
        </p:txBody>
      </p:sp>
      <p:sp>
        <p:nvSpPr>
          <p:cNvPr id="24" name="Shape 22"/>
          <p:cNvSpPr/>
          <p:nvPr/>
        </p:nvSpPr>
        <p:spPr>
          <a:xfrm>
            <a:off x="6446520" y="3310128"/>
            <a:ext cx="146304" cy="146304"/>
          </a:xfrm>
          <a:prstGeom prst="ellipse">
            <a:avLst/>
          </a:prstGeom>
          <a:solidFill>
            <a:srgbClr val="E3A83A"/>
          </a:solidFill>
          <a:ln w="12700">
            <a:solidFill>
              <a:srgbClr val="E3A83A"/>
            </a:solidFill>
            <a:prstDash val="solid"/>
          </a:ln>
        </p:spPr>
      </p:sp>
      <p:sp>
        <p:nvSpPr>
          <p:cNvPr id="25" name="Text 23"/>
          <p:cNvSpPr txBox="1"/>
          <p:nvPr/>
        </p:nvSpPr>
        <p:spPr>
          <a:xfrm>
            <a:off x="6739128" y="3218688"/>
            <a:ext cx="482803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Capital-markets experience (Dragon Capital Group)</a:t>
            </a:r>
            <a:endParaRPr lang="en-US" sz="1300" dirty="0"/>
          </a:p>
        </p:txBody>
      </p:sp>
      <p:sp>
        <p:nvSpPr>
          <p:cNvPr id="26" name="Shape 24"/>
          <p:cNvSpPr/>
          <p:nvPr/>
        </p:nvSpPr>
        <p:spPr>
          <a:xfrm>
            <a:off x="6446520" y="3694176"/>
            <a:ext cx="146304" cy="146304"/>
          </a:xfrm>
          <a:prstGeom prst="ellipse">
            <a:avLst/>
          </a:prstGeom>
          <a:solidFill>
            <a:srgbClr val="E3A83A"/>
          </a:solidFill>
          <a:ln w="12700">
            <a:solidFill>
              <a:srgbClr val="E3A83A"/>
            </a:solidFill>
            <a:prstDash val="solid"/>
          </a:ln>
        </p:spPr>
      </p:sp>
      <p:sp>
        <p:nvSpPr>
          <p:cNvPr id="27" name="Text 25"/>
          <p:cNvSpPr txBox="1"/>
          <p:nvPr/>
        </p:nvSpPr>
        <p:spPr>
          <a:xfrm>
            <a:off x="6739128" y="3602736"/>
            <a:ext cx="4828032" cy="640080"/>
          </a:xfrm>
          <a:prstGeom prst="rect">
            <a:avLst/>
          </a:prstGeom>
          <a:noFill/>
          <a:ln/>
        </p:spPr>
        <p:txBody>
          <a:bodyPr wrap="square" lIns="0" tIns="0" rIns="0" bIns="0" rtlCol="0" anchor="t"/>
          <a:lstStyle/>
          <a:p>
            <a:pPr indent="0" marL="0">
              <a:buNone/>
            </a:pPr>
            <a:r>
              <a:rPr lang="en-US" sz="1300" dirty="0">
                <a:solidFill>
                  <a:srgbClr val="F2F7F5"/>
                </a:solidFill>
                <a:latin typeface="Calibri" pitchFamily="34" charset="0"/>
                <a:ea typeface="Calibri" pitchFamily="34" charset="-122"/>
                <a:cs typeface="Calibri" pitchFamily="34" charset="-120"/>
              </a:rPr>
              <a:t>Investor, partner and finance side of BlockID</a:t>
            </a:r>
            <a:endParaRPr lang="en-US" sz="1300" dirty="0"/>
          </a:p>
        </p:txBody>
      </p:sp>
      <p:sp>
        <p:nvSpPr>
          <p:cNvPr id="28" name="Shape 26"/>
          <p:cNvSpPr/>
          <p:nvPr/>
        </p:nvSpPr>
        <p:spPr>
          <a:xfrm>
            <a:off x="6446520" y="3977640"/>
            <a:ext cx="4983480" cy="347472"/>
          </a:xfrm>
          <a:prstGeom prst="roundRect">
            <a:avLst>
              <a:gd name="adj" fmla="val 21053"/>
            </a:avLst>
          </a:prstGeom>
          <a:solidFill>
            <a:srgbClr val="172A26"/>
          </a:solidFill>
          <a:ln w="12700">
            <a:solidFill>
              <a:srgbClr val="E3A83A"/>
            </a:solidFill>
            <a:prstDash val="solid"/>
          </a:ln>
        </p:spPr>
      </p:sp>
      <p:sp>
        <p:nvSpPr>
          <p:cNvPr id="29" name="Text 27"/>
          <p:cNvSpPr txBox="1"/>
          <p:nvPr/>
        </p:nvSpPr>
        <p:spPr>
          <a:xfrm>
            <a:off x="6446520" y="3977640"/>
            <a:ext cx="4983480" cy="347472"/>
          </a:xfrm>
          <a:prstGeom prst="rect">
            <a:avLst/>
          </a:prstGeom>
          <a:noFill/>
          <a:ln/>
        </p:spPr>
        <p:txBody>
          <a:bodyPr wrap="square" lIns="0" tIns="0" rIns="0" bIns="0" rtlCol="0" anchor="ctr"/>
          <a:lstStyle/>
          <a:p>
            <a:pPr algn="ctr" indent="0" marL="0">
              <a:buNone/>
            </a:pPr>
            <a:r>
              <a:rPr lang="en-US" sz="1250" b="1" dirty="0">
                <a:solidFill>
                  <a:srgbClr val="F2F7F5"/>
                </a:solidFill>
                <a:latin typeface="Calibri" pitchFamily="34" charset="0"/>
                <a:ea typeface="Calibri" pitchFamily="34" charset="-122"/>
                <a:cs typeface="Calibri" pitchFamily="34" charset="-120"/>
              </a:rPr>
              <a:t>Australia Global Talent visa (subclass 858)</a:t>
            </a:r>
            <a:endParaRPr lang="en-US" sz="1250" dirty="0"/>
          </a:p>
        </p:txBody>
      </p:sp>
      <p:sp>
        <p:nvSpPr>
          <p:cNvPr id="30" name="Shape 28"/>
          <p:cNvSpPr/>
          <p:nvPr/>
        </p:nvSpPr>
        <p:spPr>
          <a:xfrm>
            <a:off x="502920" y="4663440"/>
            <a:ext cx="3611880" cy="1463040"/>
          </a:xfrm>
          <a:prstGeom prst="roundRect">
            <a:avLst>
              <a:gd name="adj" fmla="val 7500"/>
            </a:avLst>
          </a:prstGeom>
          <a:solidFill>
            <a:srgbClr val="12201D"/>
          </a:solidFill>
          <a:ln w="12700">
            <a:solidFill>
              <a:srgbClr val="25403A"/>
            </a:solidFill>
            <a:prstDash val="solid"/>
          </a:ln>
        </p:spPr>
      </p:sp>
      <p:sp>
        <p:nvSpPr>
          <p:cNvPr id="31" name="Shape 29"/>
          <p:cNvSpPr/>
          <p:nvPr/>
        </p:nvSpPr>
        <p:spPr>
          <a:xfrm>
            <a:off x="685800" y="4828032"/>
            <a:ext cx="548640" cy="548640"/>
          </a:xfrm>
          <a:prstGeom prst="ellipse">
            <a:avLst/>
          </a:prstGeom>
          <a:solidFill>
            <a:srgbClr val="5D8AD6"/>
          </a:solidFill>
          <a:ln w="12700">
            <a:solidFill>
              <a:srgbClr val="5D8AD6"/>
            </a:solidFill>
            <a:prstDash val="solid"/>
          </a:ln>
        </p:spPr>
      </p:sp>
      <p:pic>
        <p:nvPicPr>
          <p:cNvPr id="32" name="Image 0" descr="preencoded.png">    </p:cNvPr>
          <p:cNvPicPr>
            <a:picLocks noChangeAspect="1"/>
          </p:cNvPicPr>
          <p:nvPr/>
        </p:nvPicPr>
        <p:blipFill>
          <a:blip r:embed="rId1"/>
          <a:stretch>
            <a:fillRect/>
          </a:stretch>
        </p:blipFill>
        <p:spPr>
          <a:xfrm>
            <a:off x="822960" y="4965192"/>
            <a:ext cx="274320" cy="274320"/>
          </a:xfrm>
          <a:prstGeom prst="rect">
            <a:avLst/>
          </a:prstGeom>
        </p:spPr>
      </p:pic>
      <p:sp>
        <p:nvSpPr>
          <p:cNvPr id="33" name="Text 30"/>
          <p:cNvSpPr txBox="1"/>
          <p:nvPr/>
        </p:nvSpPr>
        <p:spPr>
          <a:xfrm>
            <a:off x="1371600" y="4800600"/>
            <a:ext cx="2651760" cy="384048"/>
          </a:xfrm>
          <a:prstGeom prst="rect">
            <a:avLst/>
          </a:prstGeom>
          <a:noFill/>
          <a:ln/>
        </p:spPr>
        <p:txBody>
          <a:bodyPr wrap="square" lIns="0" tIns="0" rIns="0" bIns="0" rtlCol="0" anchor="ctr"/>
          <a:lstStyle/>
          <a:p>
            <a:pPr indent="0" marL="0">
              <a:buNone/>
            </a:pPr>
            <a:r>
              <a:rPr lang="en-US" sz="1400" b="1" dirty="0">
                <a:solidFill>
                  <a:srgbClr val="5D8AD6"/>
                </a:solidFill>
                <a:latin typeface="Arial" pitchFamily="34" charset="0"/>
                <a:ea typeface="Arial" pitchFamily="34" charset="-122"/>
                <a:cs typeface="Arial" pitchFamily="34" charset="-120"/>
              </a:rPr>
              <a:t>Tech team in Vietnam</a:t>
            </a:r>
            <a:endParaRPr lang="en-US" sz="1400" dirty="0"/>
          </a:p>
        </p:txBody>
      </p:sp>
      <p:sp>
        <p:nvSpPr>
          <p:cNvPr id="34" name="Text 31"/>
          <p:cNvSpPr txBox="1"/>
          <p:nvPr/>
        </p:nvSpPr>
        <p:spPr>
          <a:xfrm>
            <a:off x="1371600" y="5193792"/>
            <a:ext cx="2651760" cy="868680"/>
          </a:xfrm>
          <a:prstGeom prst="rect">
            <a:avLst/>
          </a:prstGeom>
          <a:noFill/>
          <a:ln/>
        </p:spPr>
        <p:txBody>
          <a:bodyPr wrap="square" lIns="0" tIns="0" rIns="0" bIns="0" rtlCol="0" anchor="t"/>
          <a:lstStyle/>
          <a:p>
            <a:pPr indent="0" marL="0">
              <a:buNone/>
            </a:pPr>
            <a:r>
              <a:rPr lang="en-US" sz="1150" dirty="0">
                <a:solidFill>
                  <a:srgbClr val="A9BDB7"/>
                </a:solidFill>
                <a:latin typeface="Calibri" pitchFamily="34" charset="0"/>
                <a:ea typeface="Calibri" pitchFamily="34" charset="-122"/>
                <a:cs typeface="Calibri" pitchFamily="34" charset="-120"/>
              </a:rPr>
              <a:t>Blockchain, AI and fintech engineers (Vietnam Blockchain Corporation, since 2016)</a:t>
            </a:r>
            <a:endParaRPr lang="en-US" sz="1150" dirty="0"/>
          </a:p>
        </p:txBody>
      </p:sp>
      <p:sp>
        <p:nvSpPr>
          <p:cNvPr id="35" name="Shape 32"/>
          <p:cNvSpPr/>
          <p:nvPr/>
        </p:nvSpPr>
        <p:spPr>
          <a:xfrm>
            <a:off x="4279392" y="4663440"/>
            <a:ext cx="3611880" cy="1463040"/>
          </a:xfrm>
          <a:prstGeom prst="roundRect">
            <a:avLst>
              <a:gd name="adj" fmla="val 7500"/>
            </a:avLst>
          </a:prstGeom>
          <a:solidFill>
            <a:srgbClr val="12201D"/>
          </a:solidFill>
          <a:ln w="12700">
            <a:solidFill>
              <a:srgbClr val="25403A"/>
            </a:solidFill>
            <a:prstDash val="solid"/>
          </a:ln>
        </p:spPr>
      </p:sp>
      <p:sp>
        <p:nvSpPr>
          <p:cNvPr id="36" name="Shape 33"/>
          <p:cNvSpPr/>
          <p:nvPr/>
        </p:nvSpPr>
        <p:spPr>
          <a:xfrm>
            <a:off x="4462272" y="4828032"/>
            <a:ext cx="548640" cy="548640"/>
          </a:xfrm>
          <a:prstGeom prst="ellipse">
            <a:avLst/>
          </a:prstGeom>
          <a:solidFill>
            <a:srgbClr val="E3A83A"/>
          </a:solidFill>
          <a:ln w="12700">
            <a:solidFill>
              <a:srgbClr val="E3A83A"/>
            </a:solidFill>
            <a:prstDash val="solid"/>
          </a:ln>
        </p:spPr>
      </p:sp>
      <p:pic>
        <p:nvPicPr>
          <p:cNvPr id="37" name="Image 1" descr="preencoded.png">    </p:cNvPr>
          <p:cNvPicPr>
            <a:picLocks noChangeAspect="1"/>
          </p:cNvPicPr>
          <p:nvPr/>
        </p:nvPicPr>
        <p:blipFill>
          <a:blip r:embed="rId2"/>
          <a:stretch>
            <a:fillRect/>
          </a:stretch>
        </p:blipFill>
        <p:spPr>
          <a:xfrm>
            <a:off x="4599432" y="4965192"/>
            <a:ext cx="274320" cy="274320"/>
          </a:xfrm>
          <a:prstGeom prst="rect">
            <a:avLst/>
          </a:prstGeom>
        </p:spPr>
      </p:pic>
      <p:sp>
        <p:nvSpPr>
          <p:cNvPr id="38" name="Text 34"/>
          <p:cNvSpPr txBox="1"/>
          <p:nvPr/>
        </p:nvSpPr>
        <p:spPr>
          <a:xfrm>
            <a:off x="5148072" y="4800600"/>
            <a:ext cx="2651760" cy="384048"/>
          </a:xfrm>
          <a:prstGeom prst="rect">
            <a:avLst/>
          </a:prstGeom>
          <a:noFill/>
          <a:ln/>
        </p:spPr>
        <p:txBody>
          <a:bodyPr wrap="square" lIns="0" tIns="0" rIns="0" bIns="0" rtlCol="0" anchor="ctr"/>
          <a:lstStyle/>
          <a:p>
            <a:pPr indent="0" marL="0">
              <a:buNone/>
            </a:pPr>
            <a:r>
              <a:rPr lang="en-US" sz="1400" b="1" dirty="0">
                <a:solidFill>
                  <a:srgbClr val="E3A83A"/>
                </a:solidFill>
                <a:latin typeface="Arial" pitchFamily="34" charset="0"/>
                <a:ea typeface="Arial" pitchFamily="34" charset="-122"/>
                <a:cs typeface="Arial" pitchFamily="34" charset="-120"/>
              </a:rPr>
              <a:t>Business team in Sydney</a:t>
            </a:r>
            <a:endParaRPr lang="en-US" sz="1400" dirty="0"/>
          </a:p>
        </p:txBody>
      </p:sp>
      <p:sp>
        <p:nvSpPr>
          <p:cNvPr id="39" name="Text 35"/>
          <p:cNvSpPr txBox="1"/>
          <p:nvPr/>
        </p:nvSpPr>
        <p:spPr>
          <a:xfrm>
            <a:off x="5148072" y="5193792"/>
            <a:ext cx="2651760" cy="868680"/>
          </a:xfrm>
          <a:prstGeom prst="rect">
            <a:avLst/>
          </a:prstGeom>
          <a:noFill/>
          <a:ln/>
        </p:spPr>
        <p:txBody>
          <a:bodyPr wrap="square" lIns="0" tIns="0" rIns="0" bIns="0" rtlCol="0" anchor="t"/>
          <a:lstStyle/>
          <a:p>
            <a:pPr indent="0" marL="0">
              <a:buNone/>
            </a:pPr>
            <a:r>
              <a:rPr lang="en-US" sz="1150" dirty="0">
                <a:solidFill>
                  <a:srgbClr val="A9BDB7"/>
                </a:solidFill>
                <a:latin typeface="Calibri" pitchFamily="34" charset="0"/>
                <a:ea typeface="Calibri" pitchFamily="34" charset="-122"/>
                <a:cs typeface="Calibri" pitchFamily="34" charset="-120"/>
              </a:rPr>
              <a:t>Pilots, partners and licensing in Australia (Auschain)</a:t>
            </a:r>
            <a:endParaRPr lang="en-US" sz="1150" dirty="0"/>
          </a:p>
        </p:txBody>
      </p:sp>
      <p:sp>
        <p:nvSpPr>
          <p:cNvPr id="40" name="Shape 36"/>
          <p:cNvSpPr/>
          <p:nvPr/>
        </p:nvSpPr>
        <p:spPr>
          <a:xfrm>
            <a:off x="8055864" y="4663440"/>
            <a:ext cx="3611880" cy="1463040"/>
          </a:xfrm>
          <a:prstGeom prst="roundRect">
            <a:avLst>
              <a:gd name="adj" fmla="val 7500"/>
            </a:avLst>
          </a:prstGeom>
          <a:solidFill>
            <a:srgbClr val="12201D"/>
          </a:solidFill>
          <a:ln w="12700">
            <a:solidFill>
              <a:srgbClr val="25403A"/>
            </a:solidFill>
            <a:prstDash val="solid"/>
          </a:ln>
        </p:spPr>
      </p:sp>
      <p:sp>
        <p:nvSpPr>
          <p:cNvPr id="41" name="Shape 37"/>
          <p:cNvSpPr/>
          <p:nvPr/>
        </p:nvSpPr>
        <p:spPr>
          <a:xfrm>
            <a:off x="8238744" y="4828032"/>
            <a:ext cx="548640" cy="548640"/>
          </a:xfrm>
          <a:prstGeom prst="ellipse">
            <a:avLst/>
          </a:prstGeom>
          <a:solidFill>
            <a:srgbClr val="22A07F"/>
          </a:solidFill>
          <a:ln w="12700">
            <a:solidFill>
              <a:srgbClr val="22A07F"/>
            </a:solidFill>
            <a:prstDash val="solid"/>
          </a:ln>
        </p:spPr>
      </p:sp>
      <p:pic>
        <p:nvPicPr>
          <p:cNvPr id="42" name="Image 2" descr="preencoded.png">    </p:cNvPr>
          <p:cNvPicPr>
            <a:picLocks noChangeAspect="1"/>
          </p:cNvPicPr>
          <p:nvPr/>
        </p:nvPicPr>
        <p:blipFill>
          <a:blip r:embed="rId3"/>
          <a:stretch>
            <a:fillRect/>
          </a:stretch>
        </p:blipFill>
        <p:spPr>
          <a:xfrm>
            <a:off x="8375904" y="4965192"/>
            <a:ext cx="274320" cy="274320"/>
          </a:xfrm>
          <a:prstGeom prst="rect">
            <a:avLst/>
          </a:prstGeom>
        </p:spPr>
      </p:pic>
      <p:sp>
        <p:nvSpPr>
          <p:cNvPr id="43" name="Text 38"/>
          <p:cNvSpPr txBox="1"/>
          <p:nvPr/>
        </p:nvSpPr>
        <p:spPr>
          <a:xfrm>
            <a:off x="8924544" y="4800600"/>
            <a:ext cx="2651760" cy="384048"/>
          </a:xfrm>
          <a:prstGeom prst="rect">
            <a:avLst/>
          </a:prstGeom>
          <a:noFill/>
          <a:ln/>
        </p:spPr>
        <p:txBody>
          <a:bodyPr wrap="square" lIns="0" tIns="0" rIns="0" bIns="0" rtlCol="0" anchor="ctr"/>
          <a:lstStyle/>
          <a:p>
            <a:pPr indent="0" marL="0">
              <a:buNone/>
            </a:pPr>
            <a:r>
              <a:rPr lang="en-US" sz="1400" b="1" dirty="0">
                <a:solidFill>
                  <a:srgbClr val="22A07F"/>
                </a:solidFill>
                <a:latin typeface="Arial" pitchFamily="34" charset="0"/>
                <a:ea typeface="Arial" pitchFamily="34" charset="-122"/>
                <a:cs typeface="Arial" pitchFamily="34" charset="-120"/>
              </a:rPr>
              <a:t>Built end to end, in house</a:t>
            </a:r>
            <a:endParaRPr lang="en-US" sz="1400" dirty="0"/>
          </a:p>
        </p:txBody>
      </p:sp>
      <p:sp>
        <p:nvSpPr>
          <p:cNvPr id="44" name="Text 39"/>
          <p:cNvSpPr txBox="1"/>
          <p:nvPr/>
        </p:nvSpPr>
        <p:spPr>
          <a:xfrm>
            <a:off x="8924544" y="5193792"/>
            <a:ext cx="2651760" cy="868680"/>
          </a:xfrm>
          <a:prstGeom prst="rect">
            <a:avLst/>
          </a:prstGeom>
          <a:noFill/>
          <a:ln/>
        </p:spPr>
        <p:txBody>
          <a:bodyPr wrap="square" lIns="0" tIns="0" rIns="0" bIns="0" rtlCol="0" anchor="t"/>
          <a:lstStyle/>
          <a:p>
            <a:pPr indent="0" marL="0">
              <a:buNone/>
            </a:pPr>
            <a:r>
              <a:rPr lang="en-US" sz="1150" dirty="0">
                <a:solidFill>
                  <a:srgbClr val="A9BDB7"/>
                </a:solidFill>
                <a:latin typeface="Calibri" pitchFamily="34" charset="0"/>
                <a:ea typeface="Calibri" pitchFamily="34" charset="-122"/>
                <a:cs typeface="Calibri" pitchFamily="34" charset="-120"/>
              </a:rPr>
              <a:t>Smart contracts, AI agents, key-holding issuer, web app, 3 chains</a:t>
            </a:r>
            <a:endParaRPr lang="en-US" sz="1150" dirty="0"/>
          </a:p>
        </p:txBody>
      </p:sp>
      <p:sp>
        <p:nvSpPr>
          <p:cNvPr id="45" name="Text 40"/>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13 / 13   ·   WORKING TODAY · THE ASK</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Working on testnet. Looking for our first pilot businesses.</a:t>
            </a:r>
            <a:endParaRPr lang="en-US" sz="3000" dirty="0"/>
          </a:p>
        </p:txBody>
      </p:sp>
      <p:sp>
        <p:nvSpPr>
          <p:cNvPr id="4" name="Shape 2"/>
          <p:cNvSpPr/>
          <p:nvPr/>
        </p:nvSpPr>
        <p:spPr>
          <a:xfrm>
            <a:off x="502920" y="1600200"/>
            <a:ext cx="1737360" cy="1325880"/>
          </a:xfrm>
          <a:prstGeom prst="roundRect">
            <a:avLst>
              <a:gd name="adj" fmla="val 8276"/>
            </a:avLst>
          </a:prstGeom>
          <a:solidFill>
            <a:srgbClr val="12201D"/>
          </a:solidFill>
          <a:ln w="12700">
            <a:solidFill>
              <a:srgbClr val="25403A"/>
            </a:solidFill>
            <a:prstDash val="solid"/>
          </a:ln>
        </p:spPr>
      </p:sp>
      <p:sp>
        <p:nvSpPr>
          <p:cNvPr id="5" name="Text 3"/>
          <p:cNvSpPr txBox="1"/>
          <p:nvPr/>
        </p:nvSpPr>
        <p:spPr>
          <a:xfrm>
            <a:off x="640080" y="1673352"/>
            <a:ext cx="1508760" cy="640080"/>
          </a:xfrm>
          <a:prstGeom prst="rect">
            <a:avLst/>
          </a:prstGeom>
          <a:noFill/>
          <a:ln/>
        </p:spPr>
        <p:txBody>
          <a:bodyPr wrap="square" lIns="0" tIns="0" rIns="0" bIns="0" rtlCol="0" anchor="ctr"/>
          <a:lstStyle/>
          <a:p>
            <a:pPr indent="0" marL="0">
              <a:buNone/>
            </a:pPr>
            <a:r>
              <a:rPr lang="en-US" sz="2800" b="1" dirty="0">
                <a:solidFill>
                  <a:srgbClr val="22A07F"/>
                </a:solidFill>
                <a:latin typeface="Arial" pitchFamily="34" charset="0"/>
                <a:ea typeface="Arial" pitchFamily="34" charset="-122"/>
                <a:cs typeface="Arial" pitchFamily="34" charset="-120"/>
              </a:rPr>
              <a:t>14</a:t>
            </a:r>
            <a:endParaRPr lang="en-US" sz="2800" dirty="0"/>
          </a:p>
        </p:txBody>
      </p:sp>
      <p:sp>
        <p:nvSpPr>
          <p:cNvPr id="6" name="Text 4"/>
          <p:cNvSpPr txBox="1"/>
          <p:nvPr/>
        </p:nvSpPr>
        <p:spPr>
          <a:xfrm>
            <a:off x="64008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sample listings built from public data</a:t>
            </a:r>
            <a:endParaRPr lang="en-US" sz="1150" dirty="0"/>
          </a:p>
        </p:txBody>
      </p:sp>
      <p:sp>
        <p:nvSpPr>
          <p:cNvPr id="7" name="Shape 5"/>
          <p:cNvSpPr/>
          <p:nvPr/>
        </p:nvSpPr>
        <p:spPr>
          <a:xfrm>
            <a:off x="2377440" y="1600200"/>
            <a:ext cx="1737360" cy="1325880"/>
          </a:xfrm>
          <a:prstGeom prst="roundRect">
            <a:avLst>
              <a:gd name="adj" fmla="val 8276"/>
            </a:avLst>
          </a:prstGeom>
          <a:solidFill>
            <a:srgbClr val="12201D"/>
          </a:solidFill>
          <a:ln w="12700">
            <a:solidFill>
              <a:srgbClr val="25403A"/>
            </a:solidFill>
            <a:prstDash val="solid"/>
          </a:ln>
        </p:spPr>
      </p:sp>
      <p:sp>
        <p:nvSpPr>
          <p:cNvPr id="8" name="Text 6"/>
          <p:cNvSpPr txBox="1"/>
          <p:nvPr/>
        </p:nvSpPr>
        <p:spPr>
          <a:xfrm>
            <a:off x="2514600" y="1673352"/>
            <a:ext cx="1508760" cy="640080"/>
          </a:xfrm>
          <a:prstGeom prst="rect">
            <a:avLst/>
          </a:prstGeom>
          <a:noFill/>
          <a:ln/>
        </p:spPr>
        <p:txBody>
          <a:bodyPr wrap="square" lIns="0" tIns="0" rIns="0" bIns="0" rtlCol="0" anchor="ctr"/>
          <a:lstStyle/>
          <a:p>
            <a:pPr indent="0" marL="0">
              <a:buNone/>
            </a:pPr>
            <a:r>
              <a:rPr lang="en-US" sz="2800" b="1" dirty="0">
                <a:solidFill>
                  <a:srgbClr val="E3A83A"/>
                </a:solidFill>
                <a:latin typeface="Arial" pitchFamily="34" charset="0"/>
                <a:ea typeface="Arial" pitchFamily="34" charset="-122"/>
                <a:cs typeface="Arial" pitchFamily="34" charset="-120"/>
              </a:rPr>
              <a:t>42</a:t>
            </a:r>
            <a:endParaRPr lang="en-US" sz="2800" dirty="0"/>
          </a:p>
        </p:txBody>
      </p:sp>
      <p:sp>
        <p:nvSpPr>
          <p:cNvPr id="9" name="Text 7"/>
          <p:cNvSpPr txBox="1"/>
          <p:nvPr/>
        </p:nvSpPr>
        <p:spPr>
          <a:xfrm>
            <a:off x="251460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share records on blockchain</a:t>
            </a:r>
            <a:endParaRPr lang="en-US" sz="1150" dirty="0"/>
          </a:p>
        </p:txBody>
      </p:sp>
      <p:sp>
        <p:nvSpPr>
          <p:cNvPr id="10" name="Shape 8"/>
          <p:cNvSpPr/>
          <p:nvPr/>
        </p:nvSpPr>
        <p:spPr>
          <a:xfrm>
            <a:off x="4251960" y="1600200"/>
            <a:ext cx="1737360" cy="1325880"/>
          </a:xfrm>
          <a:prstGeom prst="roundRect">
            <a:avLst>
              <a:gd name="adj" fmla="val 8276"/>
            </a:avLst>
          </a:prstGeom>
          <a:solidFill>
            <a:srgbClr val="12201D"/>
          </a:solidFill>
          <a:ln w="12700">
            <a:solidFill>
              <a:srgbClr val="25403A"/>
            </a:solidFill>
            <a:prstDash val="solid"/>
          </a:ln>
        </p:spPr>
      </p:sp>
      <p:sp>
        <p:nvSpPr>
          <p:cNvPr id="11" name="Text 9"/>
          <p:cNvSpPr txBox="1"/>
          <p:nvPr/>
        </p:nvSpPr>
        <p:spPr>
          <a:xfrm>
            <a:off x="4389120" y="1673352"/>
            <a:ext cx="1508760" cy="640080"/>
          </a:xfrm>
          <a:prstGeom prst="rect">
            <a:avLst/>
          </a:prstGeom>
          <a:noFill/>
          <a:ln/>
        </p:spPr>
        <p:txBody>
          <a:bodyPr wrap="square" lIns="0" tIns="0" rIns="0" bIns="0" rtlCol="0" anchor="ctr"/>
          <a:lstStyle/>
          <a:p>
            <a:pPr indent="0" marL="0">
              <a:buNone/>
            </a:pPr>
            <a:r>
              <a:rPr lang="en-US" sz="2800" b="1" dirty="0">
                <a:solidFill>
                  <a:srgbClr val="22A07F"/>
                </a:solidFill>
                <a:latin typeface="Arial" pitchFamily="34" charset="0"/>
                <a:ea typeface="Arial" pitchFamily="34" charset="-122"/>
                <a:cs typeface="Arial" pitchFamily="34" charset="-120"/>
              </a:rPr>
              <a:t>3</a:t>
            </a:r>
            <a:endParaRPr lang="en-US" sz="2800" dirty="0"/>
          </a:p>
        </p:txBody>
      </p:sp>
      <p:sp>
        <p:nvSpPr>
          <p:cNvPr id="12" name="Text 10"/>
          <p:cNvSpPr txBox="1"/>
          <p:nvPr/>
        </p:nvSpPr>
        <p:spPr>
          <a:xfrm>
            <a:off x="438912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blockchains, every record checkable</a:t>
            </a:r>
            <a:endParaRPr lang="en-US" sz="1150" dirty="0"/>
          </a:p>
        </p:txBody>
      </p:sp>
      <p:sp>
        <p:nvSpPr>
          <p:cNvPr id="13" name="Shape 11"/>
          <p:cNvSpPr/>
          <p:nvPr/>
        </p:nvSpPr>
        <p:spPr>
          <a:xfrm>
            <a:off x="6126480" y="1600200"/>
            <a:ext cx="1737360" cy="1325880"/>
          </a:xfrm>
          <a:prstGeom prst="roundRect">
            <a:avLst>
              <a:gd name="adj" fmla="val 8276"/>
            </a:avLst>
          </a:prstGeom>
          <a:solidFill>
            <a:srgbClr val="12201D"/>
          </a:solidFill>
          <a:ln w="12700">
            <a:solidFill>
              <a:srgbClr val="25403A"/>
            </a:solidFill>
            <a:prstDash val="solid"/>
          </a:ln>
        </p:spPr>
      </p:sp>
      <p:sp>
        <p:nvSpPr>
          <p:cNvPr id="14" name="Text 12"/>
          <p:cNvSpPr txBox="1"/>
          <p:nvPr/>
        </p:nvSpPr>
        <p:spPr>
          <a:xfrm>
            <a:off x="6263640" y="1673352"/>
            <a:ext cx="1508760" cy="640080"/>
          </a:xfrm>
          <a:prstGeom prst="rect">
            <a:avLst/>
          </a:prstGeom>
          <a:noFill/>
          <a:ln/>
        </p:spPr>
        <p:txBody>
          <a:bodyPr wrap="square" lIns="0" tIns="0" rIns="0" bIns="0" rtlCol="0" anchor="ctr"/>
          <a:lstStyle/>
          <a:p>
            <a:pPr indent="0" marL="0">
              <a:buNone/>
            </a:pPr>
            <a:r>
              <a:rPr lang="en-US" sz="2800" b="1" dirty="0">
                <a:solidFill>
                  <a:srgbClr val="E3A83A"/>
                </a:solidFill>
                <a:latin typeface="Arial" pitchFamily="34" charset="0"/>
                <a:ea typeface="Arial" pitchFamily="34" charset="-122"/>
                <a:cs typeface="Arial" pitchFamily="34" charset="-120"/>
              </a:rPr>
              <a:t>Next</a:t>
            </a:r>
            <a:endParaRPr lang="en-US" sz="2800" dirty="0"/>
          </a:p>
        </p:txBody>
      </p:sp>
      <p:sp>
        <p:nvSpPr>
          <p:cNvPr id="15" name="Text 13"/>
          <p:cNvSpPr txBox="1"/>
          <p:nvPr/>
        </p:nvSpPr>
        <p:spPr>
          <a:xfrm>
            <a:off x="626364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first real pilots in AU · VN</a:t>
            </a:r>
            <a:endParaRPr lang="en-US" sz="1150" dirty="0"/>
          </a:p>
        </p:txBody>
      </p:sp>
      <p:sp>
        <p:nvSpPr>
          <p:cNvPr id="16" name="Shape 14"/>
          <p:cNvSpPr/>
          <p:nvPr/>
        </p:nvSpPr>
        <p:spPr>
          <a:xfrm>
            <a:off x="502920" y="3108960"/>
            <a:ext cx="3611880" cy="3063240"/>
          </a:xfrm>
          <a:prstGeom prst="roundRect">
            <a:avLst>
              <a:gd name="adj" fmla="val 3582"/>
            </a:avLst>
          </a:prstGeom>
          <a:solidFill>
            <a:srgbClr val="12201D"/>
          </a:solidFill>
          <a:ln w="12700">
            <a:solidFill>
              <a:srgbClr val="25403A"/>
            </a:solidFill>
            <a:prstDash val="solid"/>
          </a:ln>
        </p:spPr>
      </p:sp>
      <p:sp>
        <p:nvSpPr>
          <p:cNvPr id="17" name="Text 15"/>
          <p:cNvSpPr txBox="1"/>
          <p:nvPr/>
        </p:nvSpPr>
        <p:spPr>
          <a:xfrm>
            <a:off x="731520" y="3246120"/>
            <a:ext cx="32004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WHO PAYS</a:t>
            </a:r>
            <a:endParaRPr lang="en-US" sz="1150" dirty="0"/>
          </a:p>
        </p:txBody>
      </p:sp>
      <p:sp>
        <p:nvSpPr>
          <p:cNvPr id="18" name="Shape 16"/>
          <p:cNvSpPr/>
          <p:nvPr/>
        </p:nvSpPr>
        <p:spPr>
          <a:xfrm>
            <a:off x="731520" y="3703320"/>
            <a:ext cx="146304" cy="146304"/>
          </a:xfrm>
          <a:prstGeom prst="ellipse">
            <a:avLst/>
          </a:prstGeom>
          <a:solidFill>
            <a:srgbClr val="E3A83A"/>
          </a:solidFill>
          <a:ln w="12700">
            <a:solidFill>
              <a:srgbClr val="E3A83A"/>
            </a:solidFill>
            <a:prstDash val="solid"/>
          </a:ln>
        </p:spPr>
      </p:sp>
      <p:sp>
        <p:nvSpPr>
          <p:cNvPr id="19" name="Text 17"/>
          <p:cNvSpPr txBox="1"/>
          <p:nvPr/>
        </p:nvSpPr>
        <p:spPr>
          <a:xfrm>
            <a:off x="1024128" y="3611880"/>
            <a:ext cx="295351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Businesses: listing fee + share-register subscription</a:t>
            </a:r>
            <a:endParaRPr lang="en-US" sz="1350" dirty="0"/>
          </a:p>
        </p:txBody>
      </p:sp>
      <p:sp>
        <p:nvSpPr>
          <p:cNvPr id="20" name="Shape 18"/>
          <p:cNvSpPr/>
          <p:nvPr/>
        </p:nvSpPr>
        <p:spPr>
          <a:xfrm>
            <a:off x="731520" y="4361688"/>
            <a:ext cx="146304" cy="146304"/>
          </a:xfrm>
          <a:prstGeom prst="ellipse">
            <a:avLst/>
          </a:prstGeom>
          <a:solidFill>
            <a:srgbClr val="E3A83A"/>
          </a:solidFill>
          <a:ln w="12700">
            <a:solidFill>
              <a:srgbClr val="E3A83A"/>
            </a:solidFill>
            <a:prstDash val="solid"/>
          </a:ln>
        </p:spPr>
      </p:sp>
      <p:sp>
        <p:nvSpPr>
          <p:cNvPr id="21" name="Text 19"/>
          <p:cNvSpPr txBox="1"/>
          <p:nvPr/>
        </p:nvSpPr>
        <p:spPr>
          <a:xfrm>
            <a:off x="1024128" y="4270248"/>
            <a:ext cx="295351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Per share transfer fee</a:t>
            </a:r>
            <a:endParaRPr lang="en-US" sz="1350" dirty="0"/>
          </a:p>
        </p:txBody>
      </p:sp>
      <p:sp>
        <p:nvSpPr>
          <p:cNvPr id="22" name="Shape 20"/>
          <p:cNvSpPr/>
          <p:nvPr/>
        </p:nvSpPr>
        <p:spPr>
          <a:xfrm>
            <a:off x="731520" y="5020056"/>
            <a:ext cx="146304" cy="146304"/>
          </a:xfrm>
          <a:prstGeom prst="ellipse">
            <a:avLst/>
          </a:prstGeom>
          <a:solidFill>
            <a:srgbClr val="E3A83A"/>
          </a:solidFill>
          <a:ln w="12700">
            <a:solidFill>
              <a:srgbClr val="E3A83A"/>
            </a:solidFill>
            <a:prstDash val="solid"/>
          </a:ln>
        </p:spPr>
      </p:sp>
      <p:sp>
        <p:nvSpPr>
          <p:cNvPr id="23" name="Text 21"/>
          <p:cNvSpPr txBox="1"/>
          <p:nvPr/>
        </p:nvSpPr>
        <p:spPr>
          <a:xfrm>
            <a:off x="1024128" y="4928616"/>
            <a:ext cx="295351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0.5–1% of each dividend round</a:t>
            </a:r>
            <a:endParaRPr lang="en-US" sz="1350" dirty="0"/>
          </a:p>
        </p:txBody>
      </p:sp>
      <p:sp>
        <p:nvSpPr>
          <p:cNvPr id="24" name="Shape 22"/>
          <p:cNvSpPr/>
          <p:nvPr/>
        </p:nvSpPr>
        <p:spPr>
          <a:xfrm>
            <a:off x="4251960" y="3108960"/>
            <a:ext cx="3520440" cy="3063240"/>
          </a:xfrm>
          <a:prstGeom prst="roundRect">
            <a:avLst>
              <a:gd name="adj" fmla="val 3582"/>
            </a:avLst>
          </a:prstGeom>
          <a:solidFill>
            <a:srgbClr val="12201D"/>
          </a:solidFill>
          <a:ln w="12700">
            <a:solidFill>
              <a:srgbClr val="25403A"/>
            </a:solidFill>
            <a:prstDash val="solid"/>
          </a:ln>
        </p:spPr>
      </p:sp>
      <p:sp>
        <p:nvSpPr>
          <p:cNvPr id="25" name="Text 23"/>
          <p:cNvSpPr txBox="1"/>
          <p:nvPr/>
        </p:nvSpPr>
        <p:spPr>
          <a:xfrm>
            <a:off x="4480560" y="3246120"/>
            <a:ext cx="32004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WHO IT'S FOR</a:t>
            </a:r>
            <a:endParaRPr lang="en-US" sz="1150" dirty="0"/>
          </a:p>
        </p:txBody>
      </p:sp>
      <p:sp>
        <p:nvSpPr>
          <p:cNvPr id="26" name="Shape 24"/>
          <p:cNvSpPr/>
          <p:nvPr/>
        </p:nvSpPr>
        <p:spPr>
          <a:xfrm>
            <a:off x="4480560" y="3703320"/>
            <a:ext cx="146304" cy="146304"/>
          </a:xfrm>
          <a:prstGeom prst="ellipse">
            <a:avLst/>
          </a:prstGeom>
          <a:solidFill>
            <a:srgbClr val="22A07F"/>
          </a:solidFill>
          <a:ln w="12700">
            <a:solidFill>
              <a:srgbClr val="22A07F"/>
            </a:solidFill>
            <a:prstDash val="solid"/>
          </a:ln>
        </p:spPr>
      </p:sp>
      <p:sp>
        <p:nvSpPr>
          <p:cNvPr id="27" name="Text 25"/>
          <p:cNvSpPr txBox="1"/>
          <p:nvPr/>
        </p:nvSpPr>
        <p:spPr>
          <a:xfrm>
            <a:off x="4773168" y="3611880"/>
            <a:ext cx="286207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Investors, retail and professional</a:t>
            </a:r>
            <a:endParaRPr lang="en-US" sz="1350" dirty="0"/>
          </a:p>
        </p:txBody>
      </p:sp>
      <p:sp>
        <p:nvSpPr>
          <p:cNvPr id="28" name="Shape 26"/>
          <p:cNvSpPr/>
          <p:nvPr/>
        </p:nvSpPr>
        <p:spPr>
          <a:xfrm>
            <a:off x="4480560" y="4361688"/>
            <a:ext cx="146304" cy="146304"/>
          </a:xfrm>
          <a:prstGeom prst="ellipse">
            <a:avLst/>
          </a:prstGeom>
          <a:solidFill>
            <a:srgbClr val="22A07F"/>
          </a:solidFill>
          <a:ln w="12700">
            <a:solidFill>
              <a:srgbClr val="22A07F"/>
            </a:solidFill>
            <a:prstDash val="solid"/>
          </a:ln>
        </p:spPr>
      </p:sp>
      <p:sp>
        <p:nvSpPr>
          <p:cNvPr id="29" name="Text 27"/>
          <p:cNvSpPr txBox="1"/>
          <p:nvPr/>
        </p:nvSpPr>
        <p:spPr>
          <a:xfrm>
            <a:off x="4773168" y="4270248"/>
            <a:ext cx="286207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Businesses raising from them (AU · VN)</a:t>
            </a:r>
            <a:endParaRPr lang="en-US" sz="1350" dirty="0"/>
          </a:p>
        </p:txBody>
      </p:sp>
      <p:sp>
        <p:nvSpPr>
          <p:cNvPr id="30" name="Shape 28"/>
          <p:cNvSpPr/>
          <p:nvPr/>
        </p:nvSpPr>
        <p:spPr>
          <a:xfrm>
            <a:off x="4480560" y="5020056"/>
            <a:ext cx="146304" cy="146304"/>
          </a:xfrm>
          <a:prstGeom prst="ellipse">
            <a:avLst/>
          </a:prstGeom>
          <a:solidFill>
            <a:srgbClr val="22A07F"/>
          </a:solidFill>
          <a:ln w="12700">
            <a:solidFill>
              <a:srgbClr val="22A07F"/>
            </a:solidFill>
            <a:prstDash val="solid"/>
          </a:ln>
        </p:spPr>
      </p:sp>
      <p:sp>
        <p:nvSpPr>
          <p:cNvPr id="31" name="Text 29"/>
          <p:cNvSpPr txBox="1"/>
          <p:nvPr/>
        </p:nvSpPr>
        <p:spPr>
          <a:xfrm>
            <a:off x="4773168" y="4928616"/>
            <a:ext cx="286207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Accelerators, VCs, licensed partners</a:t>
            </a:r>
            <a:endParaRPr lang="en-US" sz="1350" dirty="0"/>
          </a:p>
        </p:txBody>
      </p:sp>
      <p:sp>
        <p:nvSpPr>
          <p:cNvPr id="32" name="Shape 30"/>
          <p:cNvSpPr/>
          <p:nvPr/>
        </p:nvSpPr>
        <p:spPr>
          <a:xfrm>
            <a:off x="7955280" y="1600200"/>
            <a:ext cx="3749040" cy="4572000"/>
          </a:xfrm>
          <a:prstGeom prst="roundRect">
            <a:avLst>
              <a:gd name="adj" fmla="val 2927"/>
            </a:avLst>
          </a:prstGeom>
          <a:solidFill>
            <a:srgbClr val="172A26"/>
          </a:solidFill>
          <a:ln w="12700">
            <a:solidFill>
              <a:srgbClr val="22A07F"/>
            </a:solidFill>
            <a:prstDash val="solid"/>
          </a:ln>
        </p:spPr>
      </p:sp>
      <p:pic>
        <p:nvPicPr>
          <p:cNvPr id="33" name="Image 0" descr="img/founder-qr.jpg">    </p:cNvPr>
          <p:cNvPicPr>
            <a:picLocks noChangeAspect="1"/>
          </p:cNvPicPr>
          <p:nvPr/>
        </p:nvPicPr>
        <p:blipFill>
          <a:blip r:embed="rId1"/>
          <a:stretch>
            <a:fillRect/>
          </a:stretch>
        </p:blipFill>
        <p:spPr>
          <a:xfrm>
            <a:off x="8092440" y="1737360"/>
            <a:ext cx="2514600" cy="2141339"/>
          </a:xfrm>
          <a:prstGeom prst="rect">
            <a:avLst/>
          </a:prstGeom>
        </p:spPr>
      </p:pic>
      <p:sp>
        <p:nvSpPr>
          <p:cNvPr id="34" name="Text 31"/>
          <p:cNvSpPr txBox="1"/>
          <p:nvPr/>
        </p:nvSpPr>
        <p:spPr>
          <a:xfrm>
            <a:off x="8092440" y="3915275"/>
            <a:ext cx="2514600" cy="256032"/>
          </a:xfrm>
          <a:prstGeom prst="rect">
            <a:avLst/>
          </a:prstGeom>
          <a:noFill/>
          <a:ln/>
        </p:spPr>
        <p:txBody>
          <a:bodyPr wrap="square" lIns="0" tIns="0" rIns="0" bIns="0" rtlCol="0" anchor="ctr"/>
          <a:lstStyle/>
          <a:p>
            <a:pPr algn="ctr" indent="0" marL="0">
              <a:buNone/>
            </a:pPr>
            <a:r>
              <a:rPr lang="en-US" sz="1100" b="1" dirty="0">
                <a:solidFill>
                  <a:srgbClr val="F2F7F5"/>
                </a:solidFill>
                <a:latin typeface="Calibri" pitchFamily="34" charset="0"/>
                <a:ea typeface="Calibri" pitchFamily="34" charset="-122"/>
                <a:cs typeface="Calibri" pitchFamily="34" charset="-120"/>
              </a:rPr>
              <a:t>Connect with the founder</a:t>
            </a:r>
            <a:endParaRPr lang="en-US" sz="1100" dirty="0"/>
          </a:p>
        </p:txBody>
      </p:sp>
      <p:pic>
        <p:nvPicPr>
          <p:cNvPr id="35" name="Image 1" descr="preencoded.png">    </p:cNvPr>
          <p:cNvPicPr>
            <a:picLocks noChangeAspect="1"/>
          </p:cNvPicPr>
          <p:nvPr/>
        </p:nvPicPr>
        <p:blipFill>
          <a:blip r:embed="rId2"/>
          <a:stretch>
            <a:fillRect/>
          </a:stretch>
        </p:blipFill>
        <p:spPr>
          <a:xfrm>
            <a:off x="10716768" y="1783080"/>
            <a:ext cx="868680" cy="868680"/>
          </a:xfrm>
          <a:prstGeom prst="rect">
            <a:avLst/>
          </a:prstGeom>
        </p:spPr>
      </p:pic>
      <p:sp>
        <p:nvSpPr>
          <p:cNvPr id="36" name="Text 32"/>
          <p:cNvSpPr txBox="1"/>
          <p:nvPr/>
        </p:nvSpPr>
        <p:spPr>
          <a:xfrm>
            <a:off x="10625328" y="2679192"/>
            <a:ext cx="1051560" cy="237744"/>
          </a:xfrm>
          <a:prstGeom prst="rect">
            <a:avLst/>
          </a:prstGeom>
          <a:noFill/>
          <a:ln/>
        </p:spPr>
        <p:txBody>
          <a:bodyPr wrap="square" lIns="0" tIns="0" rIns="0" bIns="0" rtlCol="0" anchor="ctr"/>
          <a:lstStyle/>
          <a:p>
            <a:pPr algn="ctr" indent="0" marL="0">
              <a:buNone/>
            </a:pPr>
            <a:r>
              <a:rPr lang="en-US" sz="1050" b="1" dirty="0">
                <a:solidFill>
                  <a:srgbClr val="F2F7F5"/>
                </a:solidFill>
                <a:latin typeface="Calibri" pitchFamily="34" charset="0"/>
                <a:ea typeface="Calibri" pitchFamily="34" charset="-122"/>
                <a:cs typeface="Calibri" pitchFamily="34" charset="-120"/>
              </a:rPr>
              <a:t>Try it now</a:t>
            </a:r>
            <a:endParaRPr lang="en-US" sz="1050" dirty="0"/>
          </a:p>
        </p:txBody>
      </p:sp>
      <p:sp>
        <p:nvSpPr>
          <p:cNvPr id="37" name="Text 33"/>
          <p:cNvSpPr txBox="1"/>
          <p:nvPr/>
        </p:nvSpPr>
        <p:spPr>
          <a:xfrm>
            <a:off x="10625328" y="2898648"/>
            <a:ext cx="1051560" cy="219456"/>
          </a:xfrm>
          <a:prstGeom prst="rect">
            <a:avLst/>
          </a:prstGeom>
          <a:noFill/>
          <a:ln/>
        </p:spPr>
        <p:txBody>
          <a:bodyPr wrap="square" lIns="0" tIns="0" rIns="0" bIns="0" rtlCol="0" anchor="ctr"/>
          <a:lstStyle/>
          <a:p>
            <a:pPr algn="ctr" indent="0" marL="0">
              <a:buNone/>
            </a:pPr>
            <a:r>
              <a:rPr lang="en-US" sz="900" dirty="0">
                <a:solidFill>
                  <a:srgbClr val="22A07F"/>
                </a:solidFill>
                <a:latin typeface="Calibri" pitchFamily="34" charset="0"/>
                <a:ea typeface="Calibri" pitchFamily="34" charset="-122"/>
                <a:cs typeface="Calibri" pitchFamily="34" charset="-120"/>
              </a:rPr>
              <a:t>eth.blockid.au</a:t>
            </a:r>
            <a:endParaRPr lang="en-US" sz="900" dirty="0"/>
          </a:p>
        </p:txBody>
      </p:sp>
      <p:sp>
        <p:nvSpPr>
          <p:cNvPr id="38" name="Text 34"/>
          <p:cNvSpPr txBox="1"/>
          <p:nvPr/>
        </p:nvSpPr>
        <p:spPr>
          <a:xfrm>
            <a:off x="8183880" y="4315968"/>
            <a:ext cx="3291840" cy="320040"/>
          </a:xfrm>
          <a:prstGeom prst="rect">
            <a:avLst/>
          </a:prstGeom>
          <a:noFill/>
          <a:ln/>
        </p:spPr>
        <p:txBody>
          <a:bodyPr wrap="square" lIns="0" tIns="0" rIns="0" bIns="0" rtlCol="0" anchor="ctr"/>
          <a:lstStyle/>
          <a:p>
            <a:pPr indent="0" marL="0">
              <a:buNone/>
            </a:pPr>
            <a:r>
              <a:rPr lang="en-US" sz="1600" b="1" dirty="0">
                <a:solidFill>
                  <a:srgbClr val="7FE0C2"/>
                </a:solidFill>
                <a:latin typeface="Arial" pitchFamily="34" charset="0"/>
                <a:ea typeface="Arial" pitchFamily="34" charset="-122"/>
                <a:cs typeface="Arial" pitchFamily="34" charset="-120"/>
              </a:rPr>
              <a:t>We're looking for</a:t>
            </a:r>
            <a:endParaRPr lang="en-US" sz="1600" dirty="0"/>
          </a:p>
        </p:txBody>
      </p:sp>
      <p:sp>
        <p:nvSpPr>
          <p:cNvPr id="39" name="Text 35"/>
          <p:cNvSpPr txBox="1"/>
          <p:nvPr/>
        </p:nvSpPr>
        <p:spPr>
          <a:xfrm>
            <a:off x="8183880" y="4636008"/>
            <a:ext cx="3291840" cy="64008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Pilot businesses · investor communities · licensed partners</a:t>
            </a:r>
            <a:endParaRPr lang="en-US" sz="1350" dirty="0"/>
          </a:p>
        </p:txBody>
      </p:sp>
      <p:sp>
        <p:nvSpPr>
          <p:cNvPr id="40" name="Text 36"/>
          <p:cNvSpPr txBox="1"/>
          <p:nvPr/>
        </p:nvSpPr>
        <p:spPr>
          <a:xfrm>
            <a:off x="8183880" y="5349240"/>
            <a:ext cx="3291840" cy="320040"/>
          </a:xfrm>
          <a:prstGeom prst="rect">
            <a:avLst/>
          </a:prstGeom>
          <a:noFill/>
          <a:ln/>
        </p:spPr>
        <p:txBody>
          <a:bodyPr wrap="square" lIns="0" tIns="0" rIns="0" bIns="0" rtlCol="0" anchor="ctr"/>
          <a:lstStyle/>
          <a:p>
            <a:pPr indent="0" marL="0">
              <a:buNone/>
            </a:pPr>
            <a:r>
              <a:rPr lang="en-US" sz="1300" dirty="0">
                <a:solidFill>
                  <a:srgbClr val="A9BDB7"/>
                </a:solidFill>
                <a:latin typeface="Calibri" pitchFamily="34" charset="0"/>
                <a:ea typeface="Calibri" pitchFamily="34" charset="-122"/>
                <a:cs typeface="Calibri" pitchFamily="34" charset="-120"/>
              </a:rPr>
              <a:t>Long Do · admin@blockid.au</a:t>
            </a:r>
            <a:endParaRPr lang="en-US" sz="1300" dirty="0"/>
          </a:p>
        </p:txBody>
      </p:sp>
      <p:sp>
        <p:nvSpPr>
          <p:cNvPr id="41" name="Text 37"/>
          <p:cNvSpPr txBox="1"/>
          <p:nvPr/>
        </p:nvSpPr>
        <p:spPr>
          <a:xfrm>
            <a:off x="8183880" y="5641848"/>
            <a:ext cx="3291840" cy="320040"/>
          </a:xfrm>
          <a:prstGeom prst="rect">
            <a:avLst/>
          </a:prstGeom>
          <a:noFill/>
          <a:ln/>
        </p:spPr>
        <p:txBody>
          <a:bodyPr wrap="square" lIns="0" tIns="0" rIns="0" bIns="0" rtlCol="0" anchor="ctr"/>
          <a:lstStyle/>
          <a:p>
            <a:pPr indent="0" marL="0">
              <a:buNone/>
            </a:pPr>
            <a:r>
              <a:rPr lang="en-US" sz="1150" dirty="0">
                <a:solidFill>
                  <a:srgbClr val="7E948F"/>
                </a:solidFill>
                <a:latin typeface="Calibri" pitchFamily="34" charset="0"/>
                <a:ea typeface="Calibri" pitchFamily="34" charset="-122"/>
                <a:cs typeface="Calibri" pitchFamily="34" charset="-120"/>
              </a:rPr>
              <a:t>linkedin.com/in/dovanlong</a:t>
            </a:r>
            <a:endParaRPr lang="en-US" sz="1150" dirty="0"/>
          </a:p>
        </p:txBody>
      </p:sp>
      <p:sp>
        <p:nvSpPr>
          <p:cNvPr id="42" name="Text 38"/>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BlockID Business Passport — 3-minute pitch</dc:title>
  <dc:subject>PptxGenJS Presentation</dc:subject>
  <dc:creator>Long Do — Auschain Pty Ltd</dc:creator>
  <cp:lastModifiedBy>Long Do — Auschain Pty Ltd</cp:lastModifiedBy>
  <cp:revision>1</cp:revision>
  <dcterms:created xsi:type="dcterms:W3CDTF">2026-10-01T12:57:03Z</dcterms:created>
  <dcterms:modified xsi:type="dcterms:W3CDTF">2026-10-01T12:57:03Z</dcterms:modified>
</cp:coreProperties>
</file>